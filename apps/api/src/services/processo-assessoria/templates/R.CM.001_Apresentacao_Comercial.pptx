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x="18288000" cy="10287000"/>
  <p:notesSz cx="6858000" cy="9144000"/>
  <p:embeddedFontLst>
    <p:embeddedFont>
      <p:font typeface="Montserrat Bold" charset="1" panose="00000800000000000000"/>
      <p:regular r:id="rId19"/>
    </p:embeddedFont>
    <p:embeddedFont>
      <p:font typeface="Montserrat" charset="1" panose="00000500000000000000"/>
      <p:regular r:id="rId20"/>
    </p:embeddedFont>
    <p:embeddedFont>
      <p:font typeface="Montserrat Medium" charset="1" panose="00000600000000000000"/>
      <p:regular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svg" Type="http://schemas.openxmlformats.org/officeDocument/2006/relationships/image"/><Relationship Id="rId12" Target="../media/image11.pn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media/image7.png" Type="http://schemas.openxmlformats.org/officeDocument/2006/relationships/image"/><Relationship Id="rId9" Target="../media/image8.jpe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jpeg" Type="http://schemas.openxmlformats.org/officeDocument/2006/relationships/image"/><Relationship Id="rId3" Target="../media/image13.jpeg" Type="http://schemas.openxmlformats.org/officeDocument/2006/relationships/image"/><Relationship Id="rId4" Target="../media/image14.png" Type="http://schemas.openxmlformats.org/officeDocument/2006/relationships/image"/><Relationship Id="rId5" Target="../media/image15.svg" Type="http://schemas.openxmlformats.org/officeDocument/2006/relationships/image"/><Relationship Id="rId6" Target="../media/image16.png" Type="http://schemas.openxmlformats.org/officeDocument/2006/relationships/image"/><Relationship Id="rId7" Target="../media/image17.svg" Type="http://schemas.openxmlformats.org/officeDocument/2006/relationships/image"/><Relationship Id="rId8" Target="../media/image11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8.jpeg" Type="http://schemas.openxmlformats.org/officeDocument/2006/relationships/image"/><Relationship Id="rId3" Target="../media/image19.png" Type="http://schemas.openxmlformats.org/officeDocument/2006/relationships/image"/><Relationship Id="rId4" Target="../media/image20.svg" Type="http://schemas.openxmlformats.org/officeDocument/2006/relationships/image"/><Relationship Id="rId5" Target="../media/image21.png" Type="http://schemas.openxmlformats.org/officeDocument/2006/relationships/image"/><Relationship Id="rId6" Target="../media/image22.svg" Type="http://schemas.openxmlformats.org/officeDocument/2006/relationships/image"/><Relationship Id="rId7" Target="../media/image11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3.jpeg" Type="http://schemas.openxmlformats.org/officeDocument/2006/relationships/image"/><Relationship Id="rId3" Target="../media/image24.jpeg" Type="http://schemas.openxmlformats.org/officeDocument/2006/relationships/image"/><Relationship Id="rId4" Target="../media/image25.png" Type="http://schemas.openxmlformats.org/officeDocument/2006/relationships/image"/><Relationship Id="rId5" Target="../media/image26.svg" Type="http://schemas.openxmlformats.org/officeDocument/2006/relationships/image"/><Relationship Id="rId6" Target="../media/image27.png" Type="http://schemas.openxmlformats.org/officeDocument/2006/relationships/image"/><Relationship Id="rId7" Target="../media/image28.svg" Type="http://schemas.openxmlformats.org/officeDocument/2006/relationships/image"/><Relationship Id="rId8" Target="../media/image11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21.png" Type="http://schemas.openxmlformats.org/officeDocument/2006/relationships/image"/><Relationship Id="rId5" Target="../media/image22.svg" Type="http://schemas.openxmlformats.org/officeDocument/2006/relationships/image"/><Relationship Id="rId6" Target="../media/image11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21.png" Type="http://schemas.openxmlformats.org/officeDocument/2006/relationships/image"/><Relationship Id="rId5" Target="../media/image22.svg" Type="http://schemas.openxmlformats.org/officeDocument/2006/relationships/image"/><Relationship Id="rId6" Target="../media/image11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1.png" Type="http://schemas.openxmlformats.org/officeDocument/2006/relationships/image"/><Relationship Id="rId3" Target="../media/image32.svg" Type="http://schemas.openxmlformats.org/officeDocument/2006/relationships/image"/><Relationship Id="rId4" Target="../media/image33.png" Type="http://schemas.openxmlformats.org/officeDocument/2006/relationships/image"/><Relationship Id="rId5" Target="../media/image34.svg" Type="http://schemas.openxmlformats.org/officeDocument/2006/relationships/image"/><Relationship Id="rId6" Target="../media/image35.png" Type="http://schemas.openxmlformats.org/officeDocument/2006/relationships/image"/><Relationship Id="rId7" Target="../media/image36.svg" Type="http://schemas.openxmlformats.org/officeDocument/2006/relationships/image"/><Relationship Id="rId8" Target="../media/image11.png" Type="http://schemas.openxmlformats.org/officeDocument/2006/relationships/image"/><Relationship Id="rId9" Target="../media/image37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8.jpeg" Type="http://schemas.openxmlformats.org/officeDocument/2006/relationships/image"/><Relationship Id="rId3" Target="../media/image39.jpeg" Type="http://schemas.openxmlformats.org/officeDocument/2006/relationships/image"/><Relationship Id="rId4" Target="../media/image40.png" Type="http://schemas.openxmlformats.org/officeDocument/2006/relationships/image"/><Relationship Id="rId5" Target="../media/image41.svg" Type="http://schemas.openxmlformats.org/officeDocument/2006/relationships/image"/><Relationship Id="rId6" Target="../media/image21.png" Type="http://schemas.openxmlformats.org/officeDocument/2006/relationships/image"/><Relationship Id="rId7" Target="../media/image22.svg" Type="http://schemas.openxmlformats.org/officeDocument/2006/relationships/image"/><Relationship Id="rId8" Target="../media/image42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3.png" Type="http://schemas.openxmlformats.org/officeDocument/2006/relationships/image"/><Relationship Id="rId3" Target="../media/image44.jpeg" Type="http://schemas.openxmlformats.org/officeDocument/2006/relationships/image"/><Relationship Id="rId4" Target="../media/image45.jpeg" Type="http://schemas.openxmlformats.org/officeDocument/2006/relationships/image"/><Relationship Id="rId5" Target="../media/image46.png" Type="http://schemas.openxmlformats.org/officeDocument/2006/relationships/image"/><Relationship Id="rId6" Target="../media/image47.svg" Type="http://schemas.openxmlformats.org/officeDocument/2006/relationships/image"/><Relationship Id="rId7" Target="../media/image48.png" Type="http://schemas.openxmlformats.org/officeDocument/2006/relationships/image"/><Relationship Id="rId8" Target="../media/image49.svg" Type="http://schemas.openxmlformats.org/officeDocument/2006/relationships/image"/><Relationship Id="rId9" Target="../media/image11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4.jpeg" Type="http://schemas.openxmlformats.org/officeDocument/2006/relationships/image"/><Relationship Id="rId11" Target="../media/image45.jpeg" Type="http://schemas.openxmlformats.org/officeDocument/2006/relationships/image"/><Relationship Id="rId2" Target="../media/image43.png" Type="http://schemas.openxmlformats.org/officeDocument/2006/relationships/image"/><Relationship Id="rId3" Target="../media/image50.jpeg" Type="http://schemas.openxmlformats.org/officeDocument/2006/relationships/image"/><Relationship Id="rId4" Target="../media/image51.jpeg" Type="http://schemas.openxmlformats.org/officeDocument/2006/relationships/image"/><Relationship Id="rId5" Target="../media/image46.png" Type="http://schemas.openxmlformats.org/officeDocument/2006/relationships/image"/><Relationship Id="rId6" Target="../media/image47.svg" Type="http://schemas.openxmlformats.org/officeDocument/2006/relationships/image"/><Relationship Id="rId7" Target="../media/image48.png" Type="http://schemas.openxmlformats.org/officeDocument/2006/relationships/image"/><Relationship Id="rId8" Target="../media/image49.svg" Type="http://schemas.openxmlformats.org/officeDocument/2006/relationships/image"/><Relationship Id="rId9" Target="../media/image11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png" Type="http://schemas.openxmlformats.org/officeDocument/2006/relationships/image"/><Relationship Id="rId11" Target="../media/image36.svg" Type="http://schemas.openxmlformats.org/officeDocument/2006/relationships/image"/><Relationship Id="rId2" Target="../media/image52.jpeg" Type="http://schemas.openxmlformats.org/officeDocument/2006/relationships/image"/><Relationship Id="rId3" Target="../media/image19.png" Type="http://schemas.openxmlformats.org/officeDocument/2006/relationships/image"/><Relationship Id="rId4" Target="../media/image20.svg" Type="http://schemas.openxmlformats.org/officeDocument/2006/relationships/image"/><Relationship Id="rId5" Target="../media/image53.png" Type="http://schemas.openxmlformats.org/officeDocument/2006/relationships/image"/><Relationship Id="rId6" Target="../media/image54.svg" Type="http://schemas.openxmlformats.org/officeDocument/2006/relationships/image"/><Relationship Id="rId7" Target="../media/image21.png" Type="http://schemas.openxmlformats.org/officeDocument/2006/relationships/image"/><Relationship Id="rId8" Target="../media/image22.svg" Type="http://schemas.openxmlformats.org/officeDocument/2006/relationships/image"/><Relationship Id="rId9" Target="../media/image11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21.png" Type="http://schemas.openxmlformats.org/officeDocument/2006/relationships/image"/><Relationship Id="rId5" Target="../media/image22.svg" Type="http://schemas.openxmlformats.org/officeDocument/2006/relationships/image"/><Relationship Id="rId6" Target="../media/image11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60.png" Type="http://schemas.openxmlformats.org/officeDocument/2006/relationships/image"/><Relationship Id="rId11" Target="../media/image61.svg" Type="http://schemas.openxmlformats.org/officeDocument/2006/relationships/image"/><Relationship Id="rId12" Target="../media/image62.png" Type="http://schemas.openxmlformats.org/officeDocument/2006/relationships/image"/><Relationship Id="rId13" Target="../media/image63.svg" Type="http://schemas.openxmlformats.org/officeDocument/2006/relationships/image"/><Relationship Id="rId2" Target="../media/image55.jpeg" Type="http://schemas.openxmlformats.org/officeDocument/2006/relationships/image"/><Relationship Id="rId3" Target="../media/image56.png" Type="http://schemas.openxmlformats.org/officeDocument/2006/relationships/image"/><Relationship Id="rId4" Target="../media/image57.svg" Type="http://schemas.openxmlformats.org/officeDocument/2006/relationships/image"/><Relationship Id="rId5" Target="../media/image58.png" Type="http://schemas.openxmlformats.org/officeDocument/2006/relationships/image"/><Relationship Id="rId6" Target="../media/image59.svg" Type="http://schemas.openxmlformats.org/officeDocument/2006/relationships/image"/><Relationship Id="rId7" Target="../media/image21.png" Type="http://schemas.openxmlformats.org/officeDocument/2006/relationships/image"/><Relationship Id="rId8" Target="../media/image22.svg" Type="http://schemas.openxmlformats.org/officeDocument/2006/relationships/image"/><Relationship Id="rId9" Target="../media/image42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998307" y="10095022"/>
            <a:ext cx="14667402" cy="755608"/>
            <a:chOff x="0" y="0"/>
            <a:chExt cx="3863019" cy="19900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863020" cy="199008"/>
            </a:xfrm>
            <a:custGeom>
              <a:avLst/>
              <a:gdLst/>
              <a:ahLst/>
              <a:cxnLst/>
              <a:rect r="r" b="b" t="t" l="l"/>
              <a:pathLst>
                <a:path h="199008" w="3863020">
                  <a:moveTo>
                    <a:pt x="0" y="0"/>
                  </a:moveTo>
                  <a:lnTo>
                    <a:pt x="3863020" y="0"/>
                  </a:lnTo>
                  <a:lnTo>
                    <a:pt x="3863020" y="199008"/>
                  </a:lnTo>
                  <a:lnTo>
                    <a:pt x="0" y="199008"/>
                  </a:lnTo>
                  <a:close/>
                </a:path>
              </a:pathLst>
            </a:custGeom>
            <a:solidFill>
              <a:srgbClr val="99BF81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85725"/>
              <a:ext cx="3863019" cy="28473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64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-342458" y="-563629"/>
            <a:ext cx="14667402" cy="755608"/>
            <a:chOff x="0" y="0"/>
            <a:chExt cx="3863019" cy="19900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863020" cy="199008"/>
            </a:xfrm>
            <a:custGeom>
              <a:avLst/>
              <a:gdLst/>
              <a:ahLst/>
              <a:cxnLst/>
              <a:rect r="r" b="b" t="t" l="l"/>
              <a:pathLst>
                <a:path h="199008" w="3863020">
                  <a:moveTo>
                    <a:pt x="0" y="0"/>
                  </a:moveTo>
                  <a:lnTo>
                    <a:pt x="3863020" y="0"/>
                  </a:lnTo>
                  <a:lnTo>
                    <a:pt x="3863020" y="199008"/>
                  </a:lnTo>
                  <a:lnTo>
                    <a:pt x="0" y="199008"/>
                  </a:lnTo>
                  <a:close/>
                </a:path>
              </a:pathLst>
            </a:custGeom>
            <a:solidFill>
              <a:srgbClr val="99BF81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85725"/>
              <a:ext cx="3863019" cy="28473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64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500841" y="7820013"/>
            <a:ext cx="591092" cy="591092"/>
            <a:chOff x="0" y="0"/>
            <a:chExt cx="152847" cy="15284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52847" cy="152847"/>
            </a:xfrm>
            <a:custGeom>
              <a:avLst/>
              <a:gdLst/>
              <a:ahLst/>
              <a:cxnLst/>
              <a:rect r="r" b="b" t="t" l="l"/>
              <a:pathLst>
                <a:path h="152847" w="152847">
                  <a:moveTo>
                    <a:pt x="76423" y="0"/>
                  </a:moveTo>
                  <a:lnTo>
                    <a:pt x="76423" y="0"/>
                  </a:lnTo>
                  <a:cubicBezTo>
                    <a:pt x="118631" y="0"/>
                    <a:pt x="152847" y="34216"/>
                    <a:pt x="152847" y="76423"/>
                  </a:cubicBezTo>
                  <a:lnTo>
                    <a:pt x="152847" y="76423"/>
                  </a:lnTo>
                  <a:cubicBezTo>
                    <a:pt x="152847" y="96692"/>
                    <a:pt x="144795" y="116131"/>
                    <a:pt x="130463" y="130463"/>
                  </a:cubicBezTo>
                  <a:cubicBezTo>
                    <a:pt x="116131" y="144795"/>
                    <a:pt x="96692" y="152847"/>
                    <a:pt x="76423" y="152847"/>
                  </a:cubicBezTo>
                  <a:lnTo>
                    <a:pt x="76423" y="152847"/>
                  </a:lnTo>
                  <a:cubicBezTo>
                    <a:pt x="56155" y="152847"/>
                    <a:pt x="36716" y="144795"/>
                    <a:pt x="22384" y="130463"/>
                  </a:cubicBezTo>
                  <a:cubicBezTo>
                    <a:pt x="8052" y="116131"/>
                    <a:pt x="0" y="96692"/>
                    <a:pt x="0" y="76423"/>
                  </a:cubicBezTo>
                  <a:lnTo>
                    <a:pt x="0" y="76423"/>
                  </a:lnTo>
                  <a:cubicBezTo>
                    <a:pt x="0" y="56155"/>
                    <a:pt x="8052" y="36716"/>
                    <a:pt x="22384" y="22384"/>
                  </a:cubicBezTo>
                  <a:cubicBezTo>
                    <a:pt x="36716" y="8052"/>
                    <a:pt x="56155" y="0"/>
                    <a:pt x="76423" y="0"/>
                  </a:cubicBezTo>
                  <a:close/>
                </a:path>
              </a:pathLst>
            </a:custGeom>
            <a:solidFill>
              <a:srgbClr val="369936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0"/>
              <a:ext cx="152847" cy="152847"/>
            </a:xfrm>
            <a:prstGeom prst="rect">
              <a:avLst/>
            </a:prstGeom>
          </p:spPr>
          <p:txBody>
            <a:bodyPr anchor="ctr" rtlCol="false" tIns="1239" lIns="1239" bIns="1239" rIns="1239"/>
            <a:lstStyle/>
            <a:p>
              <a:pPr algn="ctr">
                <a:lnSpc>
                  <a:spcPts val="54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9500841" y="8657507"/>
            <a:ext cx="591092" cy="591092"/>
            <a:chOff x="0" y="0"/>
            <a:chExt cx="152847" cy="152847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52847" cy="152847"/>
            </a:xfrm>
            <a:custGeom>
              <a:avLst/>
              <a:gdLst/>
              <a:ahLst/>
              <a:cxnLst/>
              <a:rect r="r" b="b" t="t" l="l"/>
              <a:pathLst>
                <a:path h="152847" w="152847">
                  <a:moveTo>
                    <a:pt x="76423" y="0"/>
                  </a:moveTo>
                  <a:lnTo>
                    <a:pt x="76423" y="0"/>
                  </a:lnTo>
                  <a:cubicBezTo>
                    <a:pt x="118631" y="0"/>
                    <a:pt x="152847" y="34216"/>
                    <a:pt x="152847" y="76423"/>
                  </a:cubicBezTo>
                  <a:lnTo>
                    <a:pt x="152847" y="76423"/>
                  </a:lnTo>
                  <a:cubicBezTo>
                    <a:pt x="152847" y="96692"/>
                    <a:pt x="144795" y="116131"/>
                    <a:pt x="130463" y="130463"/>
                  </a:cubicBezTo>
                  <a:cubicBezTo>
                    <a:pt x="116131" y="144795"/>
                    <a:pt x="96692" y="152847"/>
                    <a:pt x="76423" y="152847"/>
                  </a:cubicBezTo>
                  <a:lnTo>
                    <a:pt x="76423" y="152847"/>
                  </a:lnTo>
                  <a:cubicBezTo>
                    <a:pt x="56155" y="152847"/>
                    <a:pt x="36716" y="144795"/>
                    <a:pt x="22384" y="130463"/>
                  </a:cubicBezTo>
                  <a:cubicBezTo>
                    <a:pt x="8052" y="116131"/>
                    <a:pt x="0" y="96692"/>
                    <a:pt x="0" y="76423"/>
                  </a:cubicBezTo>
                  <a:lnTo>
                    <a:pt x="0" y="76423"/>
                  </a:lnTo>
                  <a:cubicBezTo>
                    <a:pt x="0" y="56155"/>
                    <a:pt x="8052" y="36716"/>
                    <a:pt x="22384" y="22384"/>
                  </a:cubicBezTo>
                  <a:cubicBezTo>
                    <a:pt x="36716" y="8052"/>
                    <a:pt x="56155" y="0"/>
                    <a:pt x="76423" y="0"/>
                  </a:cubicBezTo>
                  <a:close/>
                </a:path>
              </a:pathLst>
            </a:custGeom>
            <a:solidFill>
              <a:srgbClr val="369936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0"/>
              <a:ext cx="152847" cy="152847"/>
            </a:xfrm>
            <a:prstGeom prst="rect">
              <a:avLst/>
            </a:prstGeom>
          </p:spPr>
          <p:txBody>
            <a:bodyPr anchor="ctr" rtlCol="false" tIns="1239" lIns="1239" bIns="1239" rIns="1239"/>
            <a:lstStyle/>
            <a:p>
              <a:pPr algn="ctr">
                <a:lnSpc>
                  <a:spcPts val="54"/>
                </a:lnSpc>
              </a:pPr>
            </a:p>
          </p:txBody>
        </p:sp>
      </p:grpSp>
      <p:sp>
        <p:nvSpPr>
          <p:cNvPr name="Freeform 14" id="14"/>
          <p:cNvSpPr/>
          <p:nvPr/>
        </p:nvSpPr>
        <p:spPr>
          <a:xfrm flipH="false" flipV="false" rot="0">
            <a:off x="9609366" y="8757540"/>
            <a:ext cx="374043" cy="374043"/>
          </a:xfrm>
          <a:custGeom>
            <a:avLst/>
            <a:gdLst/>
            <a:ahLst/>
            <a:cxnLst/>
            <a:rect r="r" b="b" t="t" l="l"/>
            <a:pathLst>
              <a:path h="374043" w="374043">
                <a:moveTo>
                  <a:pt x="0" y="0"/>
                </a:moveTo>
                <a:lnTo>
                  <a:pt x="374042" y="0"/>
                </a:lnTo>
                <a:lnTo>
                  <a:pt x="374042" y="374043"/>
                </a:lnTo>
                <a:lnTo>
                  <a:pt x="0" y="37404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9646735" y="7912983"/>
            <a:ext cx="299305" cy="405151"/>
          </a:xfrm>
          <a:custGeom>
            <a:avLst/>
            <a:gdLst/>
            <a:ahLst/>
            <a:cxnLst/>
            <a:rect r="r" b="b" t="t" l="l"/>
            <a:pathLst>
              <a:path h="405151" w="299305">
                <a:moveTo>
                  <a:pt x="0" y="0"/>
                </a:moveTo>
                <a:lnTo>
                  <a:pt x="299305" y="0"/>
                </a:lnTo>
                <a:lnTo>
                  <a:pt x="299305" y="405151"/>
                </a:lnTo>
                <a:lnTo>
                  <a:pt x="0" y="40515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6" id="16"/>
          <p:cNvGrpSpPr/>
          <p:nvPr/>
        </p:nvGrpSpPr>
        <p:grpSpPr>
          <a:xfrm rot="0">
            <a:off x="1412593" y="1708926"/>
            <a:ext cx="6869148" cy="6869148"/>
            <a:chOff x="0" y="0"/>
            <a:chExt cx="812800" cy="8128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69936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76200" y="-9525"/>
              <a:ext cx="6604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64"/>
                </a:lnSpc>
              </a:pPr>
            </a:p>
          </p:txBody>
        </p:sp>
      </p:grpSp>
      <p:sp>
        <p:nvSpPr>
          <p:cNvPr name="Freeform 19" id="19"/>
          <p:cNvSpPr/>
          <p:nvPr/>
        </p:nvSpPr>
        <p:spPr>
          <a:xfrm flipH="false" flipV="false" rot="2194841">
            <a:off x="-1157454" y="3642667"/>
            <a:ext cx="7435791" cy="7898205"/>
          </a:xfrm>
          <a:custGeom>
            <a:avLst/>
            <a:gdLst/>
            <a:ahLst/>
            <a:cxnLst/>
            <a:rect r="r" b="b" t="t" l="l"/>
            <a:pathLst>
              <a:path h="7898205" w="7435791">
                <a:moveTo>
                  <a:pt x="0" y="0"/>
                </a:moveTo>
                <a:lnTo>
                  <a:pt x="7435792" y="0"/>
                </a:lnTo>
                <a:lnTo>
                  <a:pt x="7435792" y="7898204"/>
                </a:lnTo>
                <a:lnTo>
                  <a:pt x="0" y="789820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32424" t="0" r="-91193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-8841186">
            <a:off x="11971146" y="-1323774"/>
            <a:ext cx="7435791" cy="7898205"/>
          </a:xfrm>
          <a:custGeom>
            <a:avLst/>
            <a:gdLst/>
            <a:ahLst/>
            <a:cxnLst/>
            <a:rect r="r" b="b" t="t" l="l"/>
            <a:pathLst>
              <a:path h="7898205" w="7435791">
                <a:moveTo>
                  <a:pt x="0" y="0"/>
                </a:moveTo>
                <a:lnTo>
                  <a:pt x="7435792" y="0"/>
                </a:lnTo>
                <a:lnTo>
                  <a:pt x="7435792" y="7898205"/>
                </a:lnTo>
                <a:lnTo>
                  <a:pt x="0" y="789820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32424" t="0" r="-91193" b="0"/>
            </a:stretch>
          </a:blipFill>
        </p:spPr>
      </p:sp>
      <p:grpSp>
        <p:nvGrpSpPr>
          <p:cNvPr name="Group 21" id="21"/>
          <p:cNvGrpSpPr/>
          <p:nvPr/>
        </p:nvGrpSpPr>
        <p:grpSpPr>
          <a:xfrm rot="0">
            <a:off x="1624152" y="1920486"/>
            <a:ext cx="6446029" cy="6446029"/>
            <a:chOff x="0" y="0"/>
            <a:chExt cx="812800" cy="8128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8"/>
              <a:stretch>
                <a:fillRect l="-3786" t="0" r="-3786" b="0"/>
              </a:stretch>
            </a:blip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1030317" y="1028700"/>
            <a:ext cx="3511855" cy="3511855"/>
            <a:chOff x="0" y="0"/>
            <a:chExt cx="812800" cy="8128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69936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76200" y="-9525"/>
              <a:ext cx="6604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64"/>
                </a:lnSpc>
              </a:pP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223101" y="1221484"/>
            <a:ext cx="3126288" cy="3126288"/>
            <a:chOff x="0" y="0"/>
            <a:chExt cx="812800" cy="8128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9"/>
              <a:stretch>
                <a:fillRect l="-25163" t="0" r="-24929" b="0"/>
              </a:stretch>
            </a:blipFill>
          </p:spPr>
        </p:sp>
      </p:grpSp>
      <p:sp>
        <p:nvSpPr>
          <p:cNvPr name="Freeform 28" id="28"/>
          <p:cNvSpPr/>
          <p:nvPr/>
        </p:nvSpPr>
        <p:spPr>
          <a:xfrm flipH="false" flipV="false" rot="0">
            <a:off x="673745" y="9455432"/>
            <a:ext cx="954994" cy="172116"/>
          </a:xfrm>
          <a:custGeom>
            <a:avLst/>
            <a:gdLst/>
            <a:ahLst/>
            <a:cxnLst/>
            <a:rect r="r" b="b" t="t" l="l"/>
            <a:pathLst>
              <a:path h="172116" w="954994">
                <a:moveTo>
                  <a:pt x="0" y="0"/>
                </a:moveTo>
                <a:lnTo>
                  <a:pt x="954994" y="0"/>
                </a:lnTo>
                <a:lnTo>
                  <a:pt x="954994" y="172116"/>
                </a:lnTo>
                <a:lnTo>
                  <a:pt x="0" y="172116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-277995"/>
            </a:stretch>
          </a:blipFill>
        </p:spPr>
      </p:sp>
      <p:sp>
        <p:nvSpPr>
          <p:cNvPr name="Freeform 29" id="29"/>
          <p:cNvSpPr/>
          <p:nvPr/>
        </p:nvSpPr>
        <p:spPr>
          <a:xfrm flipH="false" flipV="false" rot="0">
            <a:off x="16659261" y="659452"/>
            <a:ext cx="954994" cy="172116"/>
          </a:xfrm>
          <a:custGeom>
            <a:avLst/>
            <a:gdLst/>
            <a:ahLst/>
            <a:cxnLst/>
            <a:rect r="r" b="b" t="t" l="l"/>
            <a:pathLst>
              <a:path h="172116" w="954994">
                <a:moveTo>
                  <a:pt x="0" y="0"/>
                </a:moveTo>
                <a:lnTo>
                  <a:pt x="954994" y="0"/>
                </a:lnTo>
                <a:lnTo>
                  <a:pt x="954994" y="172116"/>
                </a:lnTo>
                <a:lnTo>
                  <a:pt x="0" y="172116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-277995"/>
            </a:stretch>
          </a:blipFill>
        </p:spPr>
      </p:sp>
      <p:sp>
        <p:nvSpPr>
          <p:cNvPr name="Freeform 30" id="30"/>
          <p:cNvSpPr/>
          <p:nvPr/>
        </p:nvSpPr>
        <p:spPr>
          <a:xfrm flipH="false" flipV="false" rot="0">
            <a:off x="9609366" y="542925"/>
            <a:ext cx="1120069" cy="1571876"/>
          </a:xfrm>
          <a:custGeom>
            <a:avLst/>
            <a:gdLst/>
            <a:ahLst/>
            <a:cxnLst/>
            <a:rect r="r" b="b" t="t" l="l"/>
            <a:pathLst>
              <a:path h="1571876" w="1120069">
                <a:moveTo>
                  <a:pt x="0" y="0"/>
                </a:moveTo>
                <a:lnTo>
                  <a:pt x="1120069" y="0"/>
                </a:lnTo>
                <a:lnTo>
                  <a:pt x="1120069" y="1571876"/>
                </a:lnTo>
                <a:lnTo>
                  <a:pt x="0" y="157187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TextBox 31" id="31"/>
          <p:cNvSpPr txBox="true"/>
          <p:nvPr/>
        </p:nvSpPr>
        <p:spPr>
          <a:xfrm rot="0">
            <a:off x="9500841" y="3391151"/>
            <a:ext cx="7787034" cy="23537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165"/>
              </a:lnSpc>
            </a:pPr>
            <a:r>
              <a:rPr lang="en-US" sz="8332" b="true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TEX</a:t>
            </a:r>
          </a:p>
          <a:p>
            <a:pPr algn="l">
              <a:lnSpc>
                <a:spcPts val="9165"/>
              </a:lnSpc>
            </a:pPr>
            <a:r>
              <a:rPr lang="en-US" sz="8332" b="true">
                <a:solidFill>
                  <a:srgbClr val="3B3B3A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CAPITAL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9500841" y="5875901"/>
            <a:ext cx="8518346" cy="4235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sz="2653" b="true">
                <a:solidFill>
                  <a:srgbClr val="3B3B3A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 parte financeira do agronegócio brasileiro.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0258260" y="8084315"/>
            <a:ext cx="3289032" cy="3267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64"/>
              </a:lnSpc>
            </a:pPr>
            <a:r>
              <a:rPr lang="en-US" sz="2114" b="true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+55 (45) 99143-3790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0258260" y="8921810"/>
            <a:ext cx="3821834" cy="3267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64"/>
              </a:lnSpc>
            </a:pPr>
            <a:r>
              <a:rPr lang="en-US" sz="2114" b="true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www.texcapital.com.br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0258260" y="7847081"/>
            <a:ext cx="1691337" cy="2086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22"/>
              </a:lnSpc>
            </a:pPr>
            <a:r>
              <a:rPr lang="en-US" sz="1366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Telefone: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0258260" y="8686834"/>
            <a:ext cx="1691337" cy="2086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22"/>
              </a:lnSpc>
            </a:pPr>
            <a:r>
              <a:rPr lang="en-US" sz="1366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Website: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6576576"/>
            <a:ext cx="19387943" cy="3920307"/>
            <a:chOff x="0" y="0"/>
            <a:chExt cx="5106290" cy="103250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106289" cy="1032509"/>
            </a:xfrm>
            <a:custGeom>
              <a:avLst/>
              <a:gdLst/>
              <a:ahLst/>
              <a:cxnLst/>
              <a:rect r="r" b="b" t="t" l="l"/>
              <a:pathLst>
                <a:path h="1032509" w="5106289">
                  <a:moveTo>
                    <a:pt x="0" y="0"/>
                  </a:moveTo>
                  <a:lnTo>
                    <a:pt x="5106289" y="0"/>
                  </a:lnTo>
                  <a:lnTo>
                    <a:pt x="5106289" y="1032509"/>
                  </a:lnTo>
                  <a:lnTo>
                    <a:pt x="0" y="1032509"/>
                  </a:lnTo>
                  <a:close/>
                </a:path>
              </a:pathLst>
            </a:custGeom>
            <a:solidFill>
              <a:srgbClr val="369936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85725"/>
              <a:ext cx="5106290" cy="111823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64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3653900" y="-1626742"/>
            <a:ext cx="8734234" cy="10163472"/>
            <a:chOff x="0" y="0"/>
            <a:chExt cx="698500" cy="812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98500" cy="812800"/>
            </a:xfrm>
            <a:custGeom>
              <a:avLst/>
              <a:gdLst/>
              <a:ahLst/>
              <a:cxnLst/>
              <a:rect r="r" b="b" t="t" l="l"/>
              <a:pathLst>
                <a:path h="812800" w="698500">
                  <a:moveTo>
                    <a:pt x="349250" y="0"/>
                  </a:moveTo>
                  <a:lnTo>
                    <a:pt x="698500" y="203200"/>
                  </a:lnTo>
                  <a:lnTo>
                    <a:pt x="698500" y="609600"/>
                  </a:lnTo>
                  <a:lnTo>
                    <a:pt x="349250" y="812800"/>
                  </a:lnTo>
                  <a:lnTo>
                    <a:pt x="0" y="609600"/>
                  </a:lnTo>
                  <a:lnTo>
                    <a:pt x="0" y="203200"/>
                  </a:lnTo>
                  <a:lnTo>
                    <a:pt x="349250" y="0"/>
                  </a:lnTo>
                  <a:close/>
                </a:path>
              </a:pathLst>
            </a:custGeom>
            <a:solidFill>
              <a:srgbClr val="6EAB57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53975"/>
              <a:ext cx="698500" cy="619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64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3921775" y="-1315033"/>
            <a:ext cx="8198484" cy="9540054"/>
            <a:chOff x="0" y="0"/>
            <a:chExt cx="6985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98500" cy="812800"/>
            </a:xfrm>
            <a:custGeom>
              <a:avLst/>
              <a:gdLst/>
              <a:ahLst/>
              <a:cxnLst/>
              <a:rect r="r" b="b" t="t" l="l"/>
              <a:pathLst>
                <a:path h="812800" w="698500">
                  <a:moveTo>
                    <a:pt x="349250" y="0"/>
                  </a:moveTo>
                  <a:lnTo>
                    <a:pt x="698500" y="203200"/>
                  </a:lnTo>
                  <a:lnTo>
                    <a:pt x="698500" y="609600"/>
                  </a:lnTo>
                  <a:lnTo>
                    <a:pt x="349250" y="812800"/>
                  </a:lnTo>
                  <a:lnTo>
                    <a:pt x="0" y="609600"/>
                  </a:lnTo>
                  <a:lnTo>
                    <a:pt x="0" y="203200"/>
                  </a:lnTo>
                  <a:lnTo>
                    <a:pt x="349250" y="0"/>
                  </a:lnTo>
                  <a:close/>
                </a:path>
              </a:pathLst>
            </a:custGeom>
            <a:blipFill>
              <a:blip r:embed="rId2"/>
              <a:stretch>
                <a:fillRect l="-27812" t="0" r="-46842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1306874" y="3137725"/>
            <a:ext cx="4912422" cy="5716273"/>
            <a:chOff x="0" y="0"/>
            <a:chExt cx="698500" cy="8128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98500" cy="812800"/>
            </a:xfrm>
            <a:custGeom>
              <a:avLst/>
              <a:gdLst/>
              <a:ahLst/>
              <a:cxnLst/>
              <a:rect r="r" b="b" t="t" l="l"/>
              <a:pathLst>
                <a:path h="812800" w="698500">
                  <a:moveTo>
                    <a:pt x="349250" y="0"/>
                  </a:moveTo>
                  <a:lnTo>
                    <a:pt x="698500" y="203200"/>
                  </a:lnTo>
                  <a:lnTo>
                    <a:pt x="698500" y="609600"/>
                  </a:lnTo>
                  <a:lnTo>
                    <a:pt x="349250" y="812800"/>
                  </a:lnTo>
                  <a:lnTo>
                    <a:pt x="0" y="609600"/>
                  </a:lnTo>
                  <a:lnTo>
                    <a:pt x="0" y="203200"/>
                  </a:lnTo>
                  <a:lnTo>
                    <a:pt x="349250" y="0"/>
                  </a:lnTo>
                  <a:close/>
                </a:path>
              </a:pathLst>
            </a:custGeom>
            <a:solidFill>
              <a:srgbClr val="6EAB57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53975"/>
              <a:ext cx="698500" cy="619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64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1579527" y="3454994"/>
            <a:ext cx="4367117" cy="5081736"/>
            <a:chOff x="0" y="0"/>
            <a:chExt cx="698500" cy="8128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698500" cy="812800"/>
            </a:xfrm>
            <a:custGeom>
              <a:avLst/>
              <a:gdLst/>
              <a:ahLst/>
              <a:cxnLst/>
              <a:rect r="r" b="b" t="t" l="l"/>
              <a:pathLst>
                <a:path h="812800" w="698500">
                  <a:moveTo>
                    <a:pt x="349250" y="0"/>
                  </a:moveTo>
                  <a:lnTo>
                    <a:pt x="698500" y="203200"/>
                  </a:lnTo>
                  <a:lnTo>
                    <a:pt x="698500" y="609600"/>
                  </a:lnTo>
                  <a:lnTo>
                    <a:pt x="349250" y="812800"/>
                  </a:lnTo>
                  <a:lnTo>
                    <a:pt x="0" y="609600"/>
                  </a:lnTo>
                  <a:lnTo>
                    <a:pt x="0" y="203200"/>
                  </a:lnTo>
                  <a:lnTo>
                    <a:pt x="349250" y="0"/>
                  </a:lnTo>
                  <a:close/>
                </a:path>
              </a:pathLst>
            </a:custGeom>
            <a:blipFill>
              <a:blip r:embed="rId3"/>
              <a:stretch>
                <a:fillRect l="-6608" t="-15932" r="0" b="-21578"/>
              </a:stretch>
            </a:blipFill>
          </p:spPr>
        </p:sp>
      </p:grpSp>
      <p:sp>
        <p:nvSpPr>
          <p:cNvPr name="Freeform 15" id="15"/>
          <p:cNvSpPr/>
          <p:nvPr/>
        </p:nvSpPr>
        <p:spPr>
          <a:xfrm flipH="false" flipV="false" rot="0">
            <a:off x="15779059" y="8404647"/>
            <a:ext cx="880475" cy="449352"/>
          </a:xfrm>
          <a:custGeom>
            <a:avLst/>
            <a:gdLst/>
            <a:ahLst/>
            <a:cxnLst/>
            <a:rect r="r" b="b" t="t" l="l"/>
            <a:pathLst>
              <a:path h="449352" w="880475">
                <a:moveTo>
                  <a:pt x="0" y="0"/>
                </a:moveTo>
                <a:lnTo>
                  <a:pt x="880475" y="0"/>
                </a:lnTo>
                <a:lnTo>
                  <a:pt x="880475" y="449351"/>
                </a:lnTo>
                <a:lnTo>
                  <a:pt x="0" y="44935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-96289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1205422" y="3030412"/>
            <a:ext cx="8664609" cy="2965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000"/>
              </a:lnSpc>
            </a:pPr>
            <a:r>
              <a:rPr lang="en-US" sz="5000" b="true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 solução para seus </a:t>
            </a:r>
            <a:r>
              <a:rPr lang="en-US" b="true" sz="5000" u="sng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desafios financeiros</a:t>
            </a:r>
            <a:r>
              <a:rPr lang="en-US" sz="5000" b="true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está ao seu alcance.</a:t>
            </a:r>
          </a:p>
        </p:txBody>
      </p:sp>
      <p:sp>
        <p:nvSpPr>
          <p:cNvPr name="Freeform 17" id="17"/>
          <p:cNvSpPr/>
          <p:nvPr/>
        </p:nvSpPr>
        <p:spPr>
          <a:xfrm flipH="false" flipV="false" rot="0">
            <a:off x="12172932" y="2347395"/>
            <a:ext cx="949366" cy="192614"/>
          </a:xfrm>
          <a:custGeom>
            <a:avLst/>
            <a:gdLst/>
            <a:ahLst/>
            <a:cxnLst/>
            <a:rect r="r" b="b" t="t" l="l"/>
            <a:pathLst>
              <a:path h="192614" w="949366">
                <a:moveTo>
                  <a:pt x="0" y="0"/>
                </a:moveTo>
                <a:lnTo>
                  <a:pt x="949366" y="0"/>
                </a:lnTo>
                <a:lnTo>
                  <a:pt x="949366" y="192614"/>
                </a:lnTo>
                <a:lnTo>
                  <a:pt x="0" y="19261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-95553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12172932" y="2799770"/>
            <a:ext cx="949366" cy="192614"/>
          </a:xfrm>
          <a:custGeom>
            <a:avLst/>
            <a:gdLst/>
            <a:ahLst/>
            <a:cxnLst/>
            <a:rect r="r" b="b" t="t" l="l"/>
            <a:pathLst>
              <a:path h="192614" w="949366">
                <a:moveTo>
                  <a:pt x="0" y="0"/>
                </a:moveTo>
                <a:lnTo>
                  <a:pt x="949366" y="0"/>
                </a:lnTo>
                <a:lnTo>
                  <a:pt x="949366" y="192614"/>
                </a:lnTo>
                <a:lnTo>
                  <a:pt x="0" y="19261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-95553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063165" y="1307914"/>
            <a:ext cx="949122" cy="1331973"/>
          </a:xfrm>
          <a:custGeom>
            <a:avLst/>
            <a:gdLst/>
            <a:ahLst/>
            <a:cxnLst/>
            <a:rect r="r" b="b" t="t" l="l"/>
            <a:pathLst>
              <a:path h="1331973" w="949122">
                <a:moveTo>
                  <a:pt x="0" y="0"/>
                </a:moveTo>
                <a:lnTo>
                  <a:pt x="949122" y="0"/>
                </a:lnTo>
                <a:lnTo>
                  <a:pt x="949122" y="1331973"/>
                </a:lnTo>
                <a:lnTo>
                  <a:pt x="0" y="13319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1205422" y="6747297"/>
            <a:ext cx="8664609" cy="1657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600"/>
              </a:lnSpc>
            </a:pPr>
            <a:r>
              <a:rPr lang="en-US" sz="5000" b="tru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Descubra como a </a:t>
            </a:r>
            <a:r>
              <a:rPr lang="en-US" b="true" sz="5000" u="sng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ALETIS</a:t>
            </a:r>
            <a:r>
              <a:rPr lang="en-US" sz="5000" b="tru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pode ajudar!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1021633" y="0"/>
            <a:ext cx="7266367" cy="10287000"/>
            <a:chOff x="0" y="0"/>
            <a:chExt cx="9688489" cy="13716000"/>
          </a:xfrm>
        </p:grpSpPr>
        <p:pic>
          <p:nvPicPr>
            <p:cNvPr name="Picture 3" id="3"/>
            <p:cNvPicPr>
              <a:picLocks noChangeAspect="true"/>
            </p:cNvPicPr>
            <p:nvPr/>
          </p:nvPicPr>
          <p:blipFill>
            <a:blip r:embed="rId2"/>
            <a:srcRect l="31323" t="0" r="20820" b="0"/>
            <a:stretch>
              <a:fillRect/>
            </a:stretch>
          </p:blipFill>
          <p:spPr>
            <a:xfrm flipH="false" flipV="false">
              <a:off x="0" y="0"/>
              <a:ext cx="9688489" cy="13716000"/>
            </a:xfrm>
            <a:prstGeom prst="rect">
              <a:avLst/>
            </a:prstGeom>
          </p:spPr>
        </p:pic>
      </p:grpSp>
      <p:sp>
        <p:nvSpPr>
          <p:cNvPr name="Freeform 4" id="4"/>
          <p:cNvSpPr/>
          <p:nvPr/>
        </p:nvSpPr>
        <p:spPr>
          <a:xfrm flipH="false" flipV="false" rot="5400000">
            <a:off x="7340829" y="3217725"/>
            <a:ext cx="11029774" cy="4214584"/>
          </a:xfrm>
          <a:custGeom>
            <a:avLst/>
            <a:gdLst/>
            <a:ahLst/>
            <a:cxnLst/>
            <a:rect r="r" b="b" t="t" l="l"/>
            <a:pathLst>
              <a:path h="4214584" w="11029774">
                <a:moveTo>
                  <a:pt x="0" y="0"/>
                </a:moveTo>
                <a:lnTo>
                  <a:pt x="11029774" y="0"/>
                </a:lnTo>
                <a:lnTo>
                  <a:pt x="11029774" y="4214584"/>
                </a:lnTo>
                <a:lnTo>
                  <a:pt x="0" y="421458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-9261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1426197" y="777220"/>
            <a:ext cx="870603" cy="331509"/>
          </a:xfrm>
          <a:custGeom>
            <a:avLst/>
            <a:gdLst/>
            <a:ahLst/>
            <a:cxnLst/>
            <a:rect r="r" b="b" t="t" l="l"/>
            <a:pathLst>
              <a:path h="331509" w="870603">
                <a:moveTo>
                  <a:pt x="0" y="0"/>
                </a:moveTo>
                <a:lnTo>
                  <a:pt x="870603" y="0"/>
                </a:lnTo>
                <a:lnTo>
                  <a:pt x="870603" y="331510"/>
                </a:lnTo>
                <a:lnTo>
                  <a:pt x="0" y="33151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-46454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028700" y="512369"/>
            <a:ext cx="949122" cy="1331973"/>
          </a:xfrm>
          <a:custGeom>
            <a:avLst/>
            <a:gdLst/>
            <a:ahLst/>
            <a:cxnLst/>
            <a:rect r="r" b="b" t="t" l="l"/>
            <a:pathLst>
              <a:path h="1331973" w="949122">
                <a:moveTo>
                  <a:pt x="0" y="0"/>
                </a:moveTo>
                <a:lnTo>
                  <a:pt x="949122" y="0"/>
                </a:lnTo>
                <a:lnTo>
                  <a:pt x="949122" y="1331974"/>
                </a:lnTo>
                <a:lnTo>
                  <a:pt x="0" y="133197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028700" y="2325781"/>
            <a:ext cx="7666027" cy="993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699"/>
              </a:lnSpc>
            </a:pPr>
            <a:r>
              <a:rPr lang="en-US" sz="6999" b="true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Foco no Cliente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65420" y="3715269"/>
            <a:ext cx="2716918" cy="4145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90"/>
              </a:lnSpc>
            </a:pPr>
            <a:r>
              <a:rPr lang="en-US" sz="2608" b="true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CONEXÃO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65420" y="4369014"/>
            <a:ext cx="8707935" cy="6826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</a:pPr>
            <a:r>
              <a:rPr lang="en-US" sz="1999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A TEX Capital ajuda seus clientes através de soluções inovadoras, priorizando o </a:t>
            </a:r>
            <a:r>
              <a:rPr lang="en-US" sz="1999" b="true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atendimento individualizado e personalizado.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65420" y="5585045"/>
            <a:ext cx="2716918" cy="4145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90"/>
              </a:lnSpc>
            </a:pPr>
            <a:r>
              <a:rPr lang="en-US" sz="2608" b="true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EFICIÊNCIA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65420" y="6238790"/>
            <a:ext cx="8707935" cy="10350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</a:pPr>
            <a:r>
              <a:rPr lang="en-US" sz="1999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Com agilidade, nossa equipe é formada por especialistas financeiros com </a:t>
            </a:r>
            <a:r>
              <a:rPr lang="en-US" sz="1999" b="true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vasta experiência no mercado do agronegócio</a:t>
            </a:r>
            <a:r>
              <a:rPr lang="en-US" sz="1999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, capazes de processar e analisar a situação de cada cliente.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28700" y="7807246"/>
            <a:ext cx="2716918" cy="4145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90"/>
              </a:lnSpc>
            </a:pPr>
            <a:r>
              <a:rPr lang="en-US" sz="2608" b="true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GESTÃO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028700" y="8460991"/>
            <a:ext cx="8707935" cy="10350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</a:pPr>
            <a:r>
              <a:rPr lang="en-US" sz="1999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Aprimoramos a estrutura financeira de negócios com </a:t>
            </a:r>
            <a:r>
              <a:rPr lang="en-US" sz="1999" b="true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serviços de gestão e fluxo de caixa</a:t>
            </a:r>
            <a:r>
              <a:rPr lang="en-US" sz="1999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, capacitando nossos clientes a gerir recursos de forma eficaz e otimizada.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2671831"/>
            <a:ext cx="7666027" cy="2384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349"/>
              </a:lnSpc>
            </a:pPr>
            <a:r>
              <a:rPr lang="en-US" sz="8499" b="true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Assessoria</a:t>
            </a:r>
          </a:p>
          <a:p>
            <a:pPr algn="l">
              <a:lnSpc>
                <a:spcPts val="9349"/>
              </a:lnSpc>
            </a:pPr>
            <a:r>
              <a:rPr lang="en-US" sz="8499" b="true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Financeira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1774624" y="-917913"/>
            <a:ext cx="8345549" cy="8345549"/>
            <a:chOff x="0" y="0"/>
            <a:chExt cx="812800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6EAB5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76200" y="-9525"/>
              <a:ext cx="6604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64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2007111" y="-685426"/>
            <a:ext cx="7880574" cy="7880574"/>
            <a:chOff x="0" y="0"/>
            <a:chExt cx="812800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2"/>
              <a:stretch>
                <a:fillRect l="-71999" t="0" r="-38455" b="-40303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8943445" y="2748380"/>
            <a:ext cx="4679255" cy="4679255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6EAB57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76200" y="-9525"/>
              <a:ext cx="6604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64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9179333" y="2984269"/>
            <a:ext cx="4207478" cy="4207478"/>
            <a:chOff x="0" y="0"/>
            <a:chExt cx="812800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tretch>
                <a:fillRect l="-17166" t="0" r="-64017" b="-20789"/>
              </a:stretch>
            </a:blipFill>
          </p:spPr>
        </p:sp>
      </p:grpSp>
      <p:sp>
        <p:nvSpPr>
          <p:cNvPr name="TextBox 13" id="13"/>
          <p:cNvSpPr txBox="true"/>
          <p:nvPr/>
        </p:nvSpPr>
        <p:spPr>
          <a:xfrm rot="0">
            <a:off x="1013763" y="5608706"/>
            <a:ext cx="7680964" cy="38500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39"/>
              </a:lnSpc>
            </a:pPr>
            <a:r>
              <a:rPr lang="en-US" sz="2399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Nossa </a:t>
            </a:r>
            <a:r>
              <a:rPr lang="en-US" sz="2399" b="true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Assessoria Financeira</a:t>
            </a:r>
            <a:r>
              <a:rPr lang="en-US" sz="2399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utiliza engenharia financeira para oferecer soluções personalizadas e análises contínuas que otimizam seu fluxo de caixa.</a:t>
            </a:r>
          </a:p>
          <a:p>
            <a:pPr algn="l">
              <a:lnSpc>
                <a:spcPts val="3839"/>
              </a:lnSpc>
            </a:pPr>
          </a:p>
          <a:p>
            <a:pPr algn="l">
              <a:lnSpc>
                <a:spcPts val="3839"/>
              </a:lnSpc>
            </a:pPr>
            <a:r>
              <a:rPr lang="en-US" sz="2399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Apoiamos o planejamento estratégico e capacitamos seu negócio a tomar decisões mais assertivas, promovendo crescimento sustentável.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8943445" y="340646"/>
            <a:ext cx="1123219" cy="272381"/>
          </a:xfrm>
          <a:custGeom>
            <a:avLst/>
            <a:gdLst/>
            <a:ahLst/>
            <a:cxnLst/>
            <a:rect r="r" b="b" t="t" l="l"/>
            <a:pathLst>
              <a:path h="272381" w="1123219">
                <a:moveTo>
                  <a:pt x="0" y="0"/>
                </a:moveTo>
                <a:lnTo>
                  <a:pt x="1123219" y="0"/>
                </a:lnTo>
                <a:lnTo>
                  <a:pt x="1123219" y="272381"/>
                </a:lnTo>
                <a:lnTo>
                  <a:pt x="0" y="27238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17415577" y="5056256"/>
            <a:ext cx="1395907" cy="174488"/>
          </a:xfrm>
          <a:custGeom>
            <a:avLst/>
            <a:gdLst/>
            <a:ahLst/>
            <a:cxnLst/>
            <a:rect r="r" b="b" t="t" l="l"/>
            <a:pathLst>
              <a:path h="174488" w="1395907">
                <a:moveTo>
                  <a:pt x="0" y="0"/>
                </a:moveTo>
                <a:lnTo>
                  <a:pt x="1395908" y="0"/>
                </a:lnTo>
                <a:lnTo>
                  <a:pt x="1395908" y="174488"/>
                </a:lnTo>
                <a:lnTo>
                  <a:pt x="0" y="17448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028700" y="613027"/>
            <a:ext cx="949122" cy="1331973"/>
          </a:xfrm>
          <a:custGeom>
            <a:avLst/>
            <a:gdLst/>
            <a:ahLst/>
            <a:cxnLst/>
            <a:rect r="r" b="b" t="t" l="l"/>
            <a:pathLst>
              <a:path h="1331973" w="949122">
                <a:moveTo>
                  <a:pt x="0" y="0"/>
                </a:moveTo>
                <a:lnTo>
                  <a:pt x="949122" y="0"/>
                </a:lnTo>
                <a:lnTo>
                  <a:pt x="949122" y="1331973"/>
                </a:lnTo>
                <a:lnTo>
                  <a:pt x="0" y="13319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-149961">
            <a:off x="-30578" y="8445560"/>
            <a:ext cx="867930" cy="2999683"/>
            <a:chOff x="0" y="0"/>
            <a:chExt cx="228591" cy="7900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28591" cy="790040"/>
            </a:xfrm>
            <a:custGeom>
              <a:avLst/>
              <a:gdLst/>
              <a:ahLst/>
              <a:cxnLst/>
              <a:rect r="r" b="b" t="t" l="l"/>
              <a:pathLst>
                <a:path h="790040" w="228591">
                  <a:moveTo>
                    <a:pt x="0" y="0"/>
                  </a:moveTo>
                  <a:lnTo>
                    <a:pt x="228591" y="0"/>
                  </a:lnTo>
                  <a:lnTo>
                    <a:pt x="228591" y="790040"/>
                  </a:lnTo>
                  <a:lnTo>
                    <a:pt x="0" y="790040"/>
                  </a:lnTo>
                  <a:close/>
                </a:path>
              </a:pathLst>
            </a:custGeom>
            <a:solidFill>
              <a:srgbClr val="369936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85725"/>
              <a:ext cx="228591" cy="87576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64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4025804">
            <a:off x="-2464705" y="7225431"/>
            <a:ext cx="10691222" cy="4610589"/>
          </a:xfrm>
          <a:custGeom>
            <a:avLst/>
            <a:gdLst/>
            <a:ahLst/>
            <a:cxnLst/>
            <a:rect r="r" b="b" t="t" l="l"/>
            <a:pathLst>
              <a:path h="4610589" w="10691222">
                <a:moveTo>
                  <a:pt x="0" y="0"/>
                </a:moveTo>
                <a:lnTo>
                  <a:pt x="10691221" y="0"/>
                </a:lnTo>
                <a:lnTo>
                  <a:pt x="10691221" y="4610589"/>
                </a:lnTo>
                <a:lnTo>
                  <a:pt x="0" y="461058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1028700" y="5105437"/>
            <a:ext cx="4896634" cy="4209137"/>
            <a:chOff x="0" y="0"/>
            <a:chExt cx="1289649" cy="110857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289649" cy="1108579"/>
            </a:xfrm>
            <a:custGeom>
              <a:avLst/>
              <a:gdLst/>
              <a:ahLst/>
              <a:cxnLst/>
              <a:rect r="r" b="b" t="t" l="l"/>
              <a:pathLst>
                <a:path h="1108579" w="1289649">
                  <a:moveTo>
                    <a:pt x="41108" y="0"/>
                  </a:moveTo>
                  <a:lnTo>
                    <a:pt x="1248541" y="0"/>
                  </a:lnTo>
                  <a:cubicBezTo>
                    <a:pt x="1259443" y="0"/>
                    <a:pt x="1269899" y="4331"/>
                    <a:pt x="1277608" y="12040"/>
                  </a:cubicBezTo>
                  <a:cubicBezTo>
                    <a:pt x="1285318" y="19749"/>
                    <a:pt x="1289649" y="30205"/>
                    <a:pt x="1289649" y="41108"/>
                  </a:cubicBezTo>
                  <a:lnTo>
                    <a:pt x="1289649" y="1067471"/>
                  </a:lnTo>
                  <a:cubicBezTo>
                    <a:pt x="1289649" y="1078374"/>
                    <a:pt x="1285318" y="1088830"/>
                    <a:pt x="1277608" y="1096539"/>
                  </a:cubicBezTo>
                  <a:cubicBezTo>
                    <a:pt x="1269899" y="1104248"/>
                    <a:pt x="1259443" y="1108579"/>
                    <a:pt x="1248541" y="1108579"/>
                  </a:cubicBezTo>
                  <a:lnTo>
                    <a:pt x="41108" y="1108579"/>
                  </a:lnTo>
                  <a:cubicBezTo>
                    <a:pt x="18405" y="1108579"/>
                    <a:pt x="0" y="1090175"/>
                    <a:pt x="0" y="1067471"/>
                  </a:cubicBezTo>
                  <a:lnTo>
                    <a:pt x="0" y="41108"/>
                  </a:lnTo>
                  <a:cubicBezTo>
                    <a:pt x="0" y="30205"/>
                    <a:pt x="4331" y="19749"/>
                    <a:pt x="12040" y="12040"/>
                  </a:cubicBezTo>
                  <a:cubicBezTo>
                    <a:pt x="19749" y="4331"/>
                    <a:pt x="30205" y="0"/>
                    <a:pt x="41108" y="0"/>
                  </a:cubicBezTo>
                  <a:close/>
                </a:path>
              </a:pathLst>
            </a:custGeom>
            <a:solidFill>
              <a:srgbClr val="369936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85725"/>
              <a:ext cx="1289649" cy="119430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64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6695683" y="5105437"/>
            <a:ext cx="4896634" cy="4209137"/>
            <a:chOff x="0" y="0"/>
            <a:chExt cx="1289649" cy="1108579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289649" cy="1108579"/>
            </a:xfrm>
            <a:custGeom>
              <a:avLst/>
              <a:gdLst/>
              <a:ahLst/>
              <a:cxnLst/>
              <a:rect r="r" b="b" t="t" l="l"/>
              <a:pathLst>
                <a:path h="1108579" w="1289649">
                  <a:moveTo>
                    <a:pt x="41108" y="0"/>
                  </a:moveTo>
                  <a:lnTo>
                    <a:pt x="1248541" y="0"/>
                  </a:lnTo>
                  <a:cubicBezTo>
                    <a:pt x="1259443" y="0"/>
                    <a:pt x="1269899" y="4331"/>
                    <a:pt x="1277608" y="12040"/>
                  </a:cubicBezTo>
                  <a:cubicBezTo>
                    <a:pt x="1285318" y="19749"/>
                    <a:pt x="1289649" y="30205"/>
                    <a:pt x="1289649" y="41108"/>
                  </a:cubicBezTo>
                  <a:lnTo>
                    <a:pt x="1289649" y="1067471"/>
                  </a:lnTo>
                  <a:cubicBezTo>
                    <a:pt x="1289649" y="1078374"/>
                    <a:pt x="1285318" y="1088830"/>
                    <a:pt x="1277608" y="1096539"/>
                  </a:cubicBezTo>
                  <a:cubicBezTo>
                    <a:pt x="1269899" y="1104248"/>
                    <a:pt x="1259443" y="1108579"/>
                    <a:pt x="1248541" y="1108579"/>
                  </a:cubicBezTo>
                  <a:lnTo>
                    <a:pt x="41108" y="1108579"/>
                  </a:lnTo>
                  <a:cubicBezTo>
                    <a:pt x="18405" y="1108579"/>
                    <a:pt x="0" y="1090175"/>
                    <a:pt x="0" y="1067471"/>
                  </a:cubicBezTo>
                  <a:lnTo>
                    <a:pt x="0" y="41108"/>
                  </a:lnTo>
                  <a:cubicBezTo>
                    <a:pt x="0" y="30205"/>
                    <a:pt x="4331" y="19749"/>
                    <a:pt x="12040" y="12040"/>
                  </a:cubicBezTo>
                  <a:cubicBezTo>
                    <a:pt x="19749" y="4331"/>
                    <a:pt x="30205" y="0"/>
                    <a:pt x="41108" y="0"/>
                  </a:cubicBezTo>
                  <a:close/>
                </a:path>
              </a:pathLst>
            </a:custGeom>
            <a:solidFill>
              <a:srgbClr val="369936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85725"/>
              <a:ext cx="1289649" cy="119430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64"/>
                </a:lnSpc>
              </a:pPr>
            </a:p>
          </p:txBody>
        </p:sp>
      </p:grpSp>
      <p:sp>
        <p:nvSpPr>
          <p:cNvPr name="Freeform 12" id="12"/>
          <p:cNvSpPr/>
          <p:nvPr/>
        </p:nvSpPr>
        <p:spPr>
          <a:xfrm flipH="false" flipV="false" rot="-5833167">
            <a:off x="11349455" y="1793292"/>
            <a:ext cx="10691222" cy="4610589"/>
          </a:xfrm>
          <a:custGeom>
            <a:avLst/>
            <a:gdLst/>
            <a:ahLst/>
            <a:cxnLst/>
            <a:rect r="r" b="b" t="t" l="l"/>
            <a:pathLst>
              <a:path h="4610589" w="10691222">
                <a:moveTo>
                  <a:pt x="0" y="0"/>
                </a:moveTo>
                <a:lnTo>
                  <a:pt x="10691221" y="0"/>
                </a:lnTo>
                <a:lnTo>
                  <a:pt x="10691221" y="4610589"/>
                </a:lnTo>
                <a:lnTo>
                  <a:pt x="0" y="461058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3" id="13"/>
          <p:cNvGrpSpPr/>
          <p:nvPr/>
        </p:nvGrpSpPr>
        <p:grpSpPr>
          <a:xfrm rot="0">
            <a:off x="12362666" y="5105437"/>
            <a:ext cx="4896634" cy="4209137"/>
            <a:chOff x="0" y="0"/>
            <a:chExt cx="1289649" cy="1108579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289649" cy="1108579"/>
            </a:xfrm>
            <a:custGeom>
              <a:avLst/>
              <a:gdLst/>
              <a:ahLst/>
              <a:cxnLst/>
              <a:rect r="r" b="b" t="t" l="l"/>
              <a:pathLst>
                <a:path h="1108579" w="1289649">
                  <a:moveTo>
                    <a:pt x="41108" y="0"/>
                  </a:moveTo>
                  <a:lnTo>
                    <a:pt x="1248541" y="0"/>
                  </a:lnTo>
                  <a:cubicBezTo>
                    <a:pt x="1259443" y="0"/>
                    <a:pt x="1269899" y="4331"/>
                    <a:pt x="1277608" y="12040"/>
                  </a:cubicBezTo>
                  <a:cubicBezTo>
                    <a:pt x="1285318" y="19749"/>
                    <a:pt x="1289649" y="30205"/>
                    <a:pt x="1289649" y="41108"/>
                  </a:cubicBezTo>
                  <a:lnTo>
                    <a:pt x="1289649" y="1067471"/>
                  </a:lnTo>
                  <a:cubicBezTo>
                    <a:pt x="1289649" y="1078374"/>
                    <a:pt x="1285318" y="1088830"/>
                    <a:pt x="1277608" y="1096539"/>
                  </a:cubicBezTo>
                  <a:cubicBezTo>
                    <a:pt x="1269899" y="1104248"/>
                    <a:pt x="1259443" y="1108579"/>
                    <a:pt x="1248541" y="1108579"/>
                  </a:cubicBezTo>
                  <a:lnTo>
                    <a:pt x="41108" y="1108579"/>
                  </a:lnTo>
                  <a:cubicBezTo>
                    <a:pt x="18405" y="1108579"/>
                    <a:pt x="0" y="1090175"/>
                    <a:pt x="0" y="1067471"/>
                  </a:cubicBezTo>
                  <a:lnTo>
                    <a:pt x="0" y="41108"/>
                  </a:lnTo>
                  <a:cubicBezTo>
                    <a:pt x="0" y="30205"/>
                    <a:pt x="4331" y="19749"/>
                    <a:pt x="12040" y="12040"/>
                  </a:cubicBezTo>
                  <a:cubicBezTo>
                    <a:pt x="19749" y="4331"/>
                    <a:pt x="30205" y="0"/>
                    <a:pt x="41108" y="0"/>
                  </a:cubicBezTo>
                  <a:close/>
                </a:path>
              </a:pathLst>
            </a:custGeom>
            <a:solidFill>
              <a:srgbClr val="369936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85725"/>
              <a:ext cx="1289649" cy="119430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64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7277515" y="4276169"/>
            <a:ext cx="3732970" cy="3890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76"/>
              </a:lnSpc>
            </a:pPr>
            <a:r>
              <a:rPr lang="en-US" sz="2366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Foto Anual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028700" y="631518"/>
            <a:ext cx="10642061" cy="3003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899"/>
              </a:lnSpc>
            </a:pPr>
            <a:r>
              <a:rPr lang="en-US" sz="9999" b="true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Como </a:t>
            </a:r>
          </a:p>
          <a:p>
            <a:pPr algn="l">
              <a:lnSpc>
                <a:spcPts val="11899"/>
              </a:lnSpc>
            </a:pPr>
            <a:r>
              <a:rPr lang="en-US" sz="9999" b="true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Funciona?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675357" y="4276169"/>
            <a:ext cx="3603320" cy="3890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76"/>
              </a:lnSpc>
            </a:pPr>
            <a:r>
              <a:rPr lang="en-US" sz="2366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Diagnóstico Estrutural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3009323" y="4276169"/>
            <a:ext cx="3603320" cy="3890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76"/>
              </a:lnSpc>
            </a:pPr>
            <a:r>
              <a:rPr lang="en-US" sz="2366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Foto Mensal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560953" y="5535319"/>
            <a:ext cx="3832129" cy="33299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399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Compreensão das necessidades do cliente e elaborar um diagnóstico a partir dos dados fornecidos para avaliar sua situação financeira de forma geral.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7227935" y="5535319"/>
            <a:ext cx="3832129" cy="29108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399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A foto anual do cliente é uma análise baseada em dados estimados, oferecendo uma visão abrangente de sua situação financeira ao longo dos anos.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2894918" y="5535319"/>
            <a:ext cx="3832129" cy="29108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399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A foto mensal, detalhada e também baseada em dados estimados, valida os diagnósticos anteriores e oferece visualizações mensais precisas.</a:t>
            </a:r>
          </a:p>
        </p:txBody>
      </p:sp>
      <p:sp>
        <p:nvSpPr>
          <p:cNvPr name="Freeform 23" id="23"/>
          <p:cNvSpPr/>
          <p:nvPr/>
        </p:nvSpPr>
        <p:spPr>
          <a:xfrm flipH="false" flipV="false" rot="0">
            <a:off x="16914213" y="619639"/>
            <a:ext cx="859394" cy="492537"/>
          </a:xfrm>
          <a:custGeom>
            <a:avLst/>
            <a:gdLst/>
            <a:ahLst/>
            <a:cxnLst/>
            <a:rect r="r" b="b" t="t" l="l"/>
            <a:pathLst>
              <a:path h="492537" w="859394">
                <a:moveTo>
                  <a:pt x="0" y="0"/>
                </a:moveTo>
                <a:lnTo>
                  <a:pt x="859394" y="0"/>
                </a:lnTo>
                <a:lnTo>
                  <a:pt x="859394" y="492537"/>
                </a:lnTo>
                <a:lnTo>
                  <a:pt x="0" y="49253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-120431" b="0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0">
            <a:off x="14336422" y="619639"/>
            <a:ext cx="949122" cy="1331973"/>
          </a:xfrm>
          <a:custGeom>
            <a:avLst/>
            <a:gdLst/>
            <a:ahLst/>
            <a:cxnLst/>
            <a:rect r="r" b="b" t="t" l="l"/>
            <a:pathLst>
              <a:path h="1331973" w="949122">
                <a:moveTo>
                  <a:pt x="0" y="0"/>
                </a:moveTo>
                <a:lnTo>
                  <a:pt x="949122" y="0"/>
                </a:lnTo>
                <a:lnTo>
                  <a:pt x="949122" y="1331973"/>
                </a:lnTo>
                <a:lnTo>
                  <a:pt x="0" y="133197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-149961">
            <a:off x="-30578" y="8445560"/>
            <a:ext cx="867930" cy="2999683"/>
            <a:chOff x="0" y="0"/>
            <a:chExt cx="228591" cy="7900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28591" cy="790040"/>
            </a:xfrm>
            <a:custGeom>
              <a:avLst/>
              <a:gdLst/>
              <a:ahLst/>
              <a:cxnLst/>
              <a:rect r="r" b="b" t="t" l="l"/>
              <a:pathLst>
                <a:path h="790040" w="228591">
                  <a:moveTo>
                    <a:pt x="0" y="0"/>
                  </a:moveTo>
                  <a:lnTo>
                    <a:pt x="228591" y="0"/>
                  </a:lnTo>
                  <a:lnTo>
                    <a:pt x="228591" y="790040"/>
                  </a:lnTo>
                  <a:lnTo>
                    <a:pt x="0" y="790040"/>
                  </a:lnTo>
                  <a:close/>
                </a:path>
              </a:pathLst>
            </a:custGeom>
            <a:solidFill>
              <a:srgbClr val="369936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85725"/>
              <a:ext cx="228591" cy="87576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64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4025804">
            <a:off x="-2464705" y="7225431"/>
            <a:ext cx="10691222" cy="4610589"/>
          </a:xfrm>
          <a:custGeom>
            <a:avLst/>
            <a:gdLst/>
            <a:ahLst/>
            <a:cxnLst/>
            <a:rect r="r" b="b" t="t" l="l"/>
            <a:pathLst>
              <a:path h="4610589" w="10691222">
                <a:moveTo>
                  <a:pt x="0" y="0"/>
                </a:moveTo>
                <a:lnTo>
                  <a:pt x="10691221" y="0"/>
                </a:lnTo>
                <a:lnTo>
                  <a:pt x="10691221" y="4610589"/>
                </a:lnTo>
                <a:lnTo>
                  <a:pt x="0" y="461058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1028700" y="5105437"/>
            <a:ext cx="4896634" cy="4209137"/>
            <a:chOff x="0" y="0"/>
            <a:chExt cx="1289649" cy="110857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289649" cy="1108579"/>
            </a:xfrm>
            <a:custGeom>
              <a:avLst/>
              <a:gdLst/>
              <a:ahLst/>
              <a:cxnLst/>
              <a:rect r="r" b="b" t="t" l="l"/>
              <a:pathLst>
                <a:path h="1108579" w="1289649">
                  <a:moveTo>
                    <a:pt x="41108" y="0"/>
                  </a:moveTo>
                  <a:lnTo>
                    <a:pt x="1248541" y="0"/>
                  </a:lnTo>
                  <a:cubicBezTo>
                    <a:pt x="1259443" y="0"/>
                    <a:pt x="1269899" y="4331"/>
                    <a:pt x="1277608" y="12040"/>
                  </a:cubicBezTo>
                  <a:cubicBezTo>
                    <a:pt x="1285318" y="19749"/>
                    <a:pt x="1289649" y="30205"/>
                    <a:pt x="1289649" y="41108"/>
                  </a:cubicBezTo>
                  <a:lnTo>
                    <a:pt x="1289649" y="1067471"/>
                  </a:lnTo>
                  <a:cubicBezTo>
                    <a:pt x="1289649" y="1078374"/>
                    <a:pt x="1285318" y="1088830"/>
                    <a:pt x="1277608" y="1096539"/>
                  </a:cubicBezTo>
                  <a:cubicBezTo>
                    <a:pt x="1269899" y="1104248"/>
                    <a:pt x="1259443" y="1108579"/>
                    <a:pt x="1248541" y="1108579"/>
                  </a:cubicBezTo>
                  <a:lnTo>
                    <a:pt x="41108" y="1108579"/>
                  </a:lnTo>
                  <a:cubicBezTo>
                    <a:pt x="18405" y="1108579"/>
                    <a:pt x="0" y="1090175"/>
                    <a:pt x="0" y="1067471"/>
                  </a:cubicBezTo>
                  <a:lnTo>
                    <a:pt x="0" y="41108"/>
                  </a:lnTo>
                  <a:cubicBezTo>
                    <a:pt x="0" y="30205"/>
                    <a:pt x="4331" y="19749"/>
                    <a:pt x="12040" y="12040"/>
                  </a:cubicBezTo>
                  <a:cubicBezTo>
                    <a:pt x="19749" y="4331"/>
                    <a:pt x="30205" y="0"/>
                    <a:pt x="41108" y="0"/>
                  </a:cubicBezTo>
                  <a:close/>
                </a:path>
              </a:pathLst>
            </a:custGeom>
            <a:solidFill>
              <a:srgbClr val="369936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85725"/>
              <a:ext cx="1289649" cy="119430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64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6695683" y="5105437"/>
            <a:ext cx="4896634" cy="4209137"/>
            <a:chOff x="0" y="0"/>
            <a:chExt cx="1289649" cy="1108579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289649" cy="1108579"/>
            </a:xfrm>
            <a:custGeom>
              <a:avLst/>
              <a:gdLst/>
              <a:ahLst/>
              <a:cxnLst/>
              <a:rect r="r" b="b" t="t" l="l"/>
              <a:pathLst>
                <a:path h="1108579" w="1289649">
                  <a:moveTo>
                    <a:pt x="41108" y="0"/>
                  </a:moveTo>
                  <a:lnTo>
                    <a:pt x="1248541" y="0"/>
                  </a:lnTo>
                  <a:cubicBezTo>
                    <a:pt x="1259443" y="0"/>
                    <a:pt x="1269899" y="4331"/>
                    <a:pt x="1277608" y="12040"/>
                  </a:cubicBezTo>
                  <a:cubicBezTo>
                    <a:pt x="1285318" y="19749"/>
                    <a:pt x="1289649" y="30205"/>
                    <a:pt x="1289649" y="41108"/>
                  </a:cubicBezTo>
                  <a:lnTo>
                    <a:pt x="1289649" y="1067471"/>
                  </a:lnTo>
                  <a:cubicBezTo>
                    <a:pt x="1289649" y="1078374"/>
                    <a:pt x="1285318" y="1088830"/>
                    <a:pt x="1277608" y="1096539"/>
                  </a:cubicBezTo>
                  <a:cubicBezTo>
                    <a:pt x="1269899" y="1104248"/>
                    <a:pt x="1259443" y="1108579"/>
                    <a:pt x="1248541" y="1108579"/>
                  </a:cubicBezTo>
                  <a:lnTo>
                    <a:pt x="41108" y="1108579"/>
                  </a:lnTo>
                  <a:cubicBezTo>
                    <a:pt x="18405" y="1108579"/>
                    <a:pt x="0" y="1090175"/>
                    <a:pt x="0" y="1067471"/>
                  </a:cubicBezTo>
                  <a:lnTo>
                    <a:pt x="0" y="41108"/>
                  </a:lnTo>
                  <a:cubicBezTo>
                    <a:pt x="0" y="30205"/>
                    <a:pt x="4331" y="19749"/>
                    <a:pt x="12040" y="12040"/>
                  </a:cubicBezTo>
                  <a:cubicBezTo>
                    <a:pt x="19749" y="4331"/>
                    <a:pt x="30205" y="0"/>
                    <a:pt x="41108" y="0"/>
                  </a:cubicBezTo>
                  <a:close/>
                </a:path>
              </a:pathLst>
            </a:custGeom>
            <a:solidFill>
              <a:srgbClr val="369936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85725"/>
              <a:ext cx="1289649" cy="119430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64"/>
                </a:lnSpc>
              </a:pPr>
            </a:p>
          </p:txBody>
        </p:sp>
      </p:grpSp>
      <p:sp>
        <p:nvSpPr>
          <p:cNvPr name="Freeform 12" id="12"/>
          <p:cNvSpPr/>
          <p:nvPr/>
        </p:nvSpPr>
        <p:spPr>
          <a:xfrm flipH="false" flipV="false" rot="-5833167">
            <a:off x="11349455" y="1793292"/>
            <a:ext cx="10691222" cy="4610589"/>
          </a:xfrm>
          <a:custGeom>
            <a:avLst/>
            <a:gdLst/>
            <a:ahLst/>
            <a:cxnLst/>
            <a:rect r="r" b="b" t="t" l="l"/>
            <a:pathLst>
              <a:path h="4610589" w="10691222">
                <a:moveTo>
                  <a:pt x="0" y="0"/>
                </a:moveTo>
                <a:lnTo>
                  <a:pt x="10691221" y="0"/>
                </a:lnTo>
                <a:lnTo>
                  <a:pt x="10691221" y="4610589"/>
                </a:lnTo>
                <a:lnTo>
                  <a:pt x="0" y="461058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3" id="13"/>
          <p:cNvGrpSpPr/>
          <p:nvPr/>
        </p:nvGrpSpPr>
        <p:grpSpPr>
          <a:xfrm rot="0">
            <a:off x="12362666" y="5105437"/>
            <a:ext cx="4896634" cy="4209137"/>
            <a:chOff x="0" y="0"/>
            <a:chExt cx="1289649" cy="1108579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289649" cy="1108579"/>
            </a:xfrm>
            <a:custGeom>
              <a:avLst/>
              <a:gdLst/>
              <a:ahLst/>
              <a:cxnLst/>
              <a:rect r="r" b="b" t="t" l="l"/>
              <a:pathLst>
                <a:path h="1108579" w="1289649">
                  <a:moveTo>
                    <a:pt x="41108" y="0"/>
                  </a:moveTo>
                  <a:lnTo>
                    <a:pt x="1248541" y="0"/>
                  </a:lnTo>
                  <a:cubicBezTo>
                    <a:pt x="1259443" y="0"/>
                    <a:pt x="1269899" y="4331"/>
                    <a:pt x="1277608" y="12040"/>
                  </a:cubicBezTo>
                  <a:cubicBezTo>
                    <a:pt x="1285318" y="19749"/>
                    <a:pt x="1289649" y="30205"/>
                    <a:pt x="1289649" y="41108"/>
                  </a:cubicBezTo>
                  <a:lnTo>
                    <a:pt x="1289649" y="1067471"/>
                  </a:lnTo>
                  <a:cubicBezTo>
                    <a:pt x="1289649" y="1078374"/>
                    <a:pt x="1285318" y="1088830"/>
                    <a:pt x="1277608" y="1096539"/>
                  </a:cubicBezTo>
                  <a:cubicBezTo>
                    <a:pt x="1269899" y="1104248"/>
                    <a:pt x="1259443" y="1108579"/>
                    <a:pt x="1248541" y="1108579"/>
                  </a:cubicBezTo>
                  <a:lnTo>
                    <a:pt x="41108" y="1108579"/>
                  </a:lnTo>
                  <a:cubicBezTo>
                    <a:pt x="18405" y="1108579"/>
                    <a:pt x="0" y="1090175"/>
                    <a:pt x="0" y="1067471"/>
                  </a:cubicBezTo>
                  <a:lnTo>
                    <a:pt x="0" y="41108"/>
                  </a:lnTo>
                  <a:cubicBezTo>
                    <a:pt x="0" y="30205"/>
                    <a:pt x="4331" y="19749"/>
                    <a:pt x="12040" y="12040"/>
                  </a:cubicBezTo>
                  <a:cubicBezTo>
                    <a:pt x="19749" y="4331"/>
                    <a:pt x="30205" y="0"/>
                    <a:pt x="41108" y="0"/>
                  </a:cubicBezTo>
                  <a:close/>
                </a:path>
              </a:pathLst>
            </a:custGeom>
            <a:solidFill>
              <a:srgbClr val="369936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85725"/>
              <a:ext cx="1289649" cy="119430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64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7277515" y="4095395"/>
            <a:ext cx="3732970" cy="7795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76"/>
              </a:lnSpc>
            </a:pPr>
            <a:r>
              <a:rPr lang="en-US" sz="2366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Acompanhamento e Melhoria Contínua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028700" y="631518"/>
            <a:ext cx="10642061" cy="3003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899"/>
              </a:lnSpc>
            </a:pPr>
            <a:r>
              <a:rPr lang="en-US" sz="9999" b="true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Como </a:t>
            </a:r>
          </a:p>
          <a:p>
            <a:pPr algn="l">
              <a:lnSpc>
                <a:spcPts val="11899"/>
              </a:lnSpc>
            </a:pPr>
            <a:r>
              <a:rPr lang="en-US" sz="9999" b="true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Funciona?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675357" y="4095395"/>
            <a:ext cx="3603320" cy="7795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76"/>
              </a:lnSpc>
            </a:pPr>
            <a:r>
              <a:rPr lang="en-US" sz="2366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Desenvolvimento de Plano de Ação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3009323" y="4095395"/>
            <a:ext cx="3603320" cy="7795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76"/>
              </a:lnSpc>
            </a:pPr>
            <a:r>
              <a:rPr lang="en-US" sz="2366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Implementação de Sotware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560953" y="5535319"/>
            <a:ext cx="4081992" cy="33299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Identificamos oportunidades para o cliente e, com base nisso, criamos e validamos juntos um plano de ação, garantindo uma execução eficaz e alinhada às suas necessidades.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7227935" y="5535319"/>
            <a:ext cx="3782550" cy="33299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O acompanhamento do plano de ação garante a eficácia das estratégias, permitindo ajustes e avaliando continuamente o cenário financeiro do cliente.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2894918" y="5535319"/>
            <a:ext cx="4019295" cy="29108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A implementação de software é essencial para a segurança dos dados. Acompanhamos a transição dos dados para garantir análises atualizadas e precisas.</a:t>
            </a:r>
          </a:p>
        </p:txBody>
      </p:sp>
      <p:sp>
        <p:nvSpPr>
          <p:cNvPr name="Freeform 23" id="23"/>
          <p:cNvSpPr/>
          <p:nvPr/>
        </p:nvSpPr>
        <p:spPr>
          <a:xfrm flipH="false" flipV="false" rot="0">
            <a:off x="16914213" y="619639"/>
            <a:ext cx="859394" cy="492537"/>
          </a:xfrm>
          <a:custGeom>
            <a:avLst/>
            <a:gdLst/>
            <a:ahLst/>
            <a:cxnLst/>
            <a:rect r="r" b="b" t="t" l="l"/>
            <a:pathLst>
              <a:path h="492537" w="859394">
                <a:moveTo>
                  <a:pt x="0" y="0"/>
                </a:moveTo>
                <a:lnTo>
                  <a:pt x="859394" y="0"/>
                </a:lnTo>
                <a:lnTo>
                  <a:pt x="859394" y="492537"/>
                </a:lnTo>
                <a:lnTo>
                  <a:pt x="0" y="49253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-120431" b="0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0">
            <a:off x="14336422" y="619639"/>
            <a:ext cx="949122" cy="1331973"/>
          </a:xfrm>
          <a:custGeom>
            <a:avLst/>
            <a:gdLst/>
            <a:ahLst/>
            <a:cxnLst/>
            <a:rect r="r" b="b" t="t" l="l"/>
            <a:pathLst>
              <a:path h="1331973" w="949122">
                <a:moveTo>
                  <a:pt x="0" y="0"/>
                </a:moveTo>
                <a:lnTo>
                  <a:pt x="949122" y="0"/>
                </a:lnTo>
                <a:lnTo>
                  <a:pt x="949122" y="1331973"/>
                </a:lnTo>
                <a:lnTo>
                  <a:pt x="0" y="133197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7037610" y="-1637263"/>
            <a:ext cx="3086100" cy="3086100"/>
            <a:chOff x="0" y="0"/>
            <a:chExt cx="812800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369936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812800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-7560912">
            <a:off x="13203247" y="-362452"/>
            <a:ext cx="7572472" cy="3445481"/>
          </a:xfrm>
          <a:custGeom>
            <a:avLst/>
            <a:gdLst/>
            <a:ahLst/>
            <a:cxnLst/>
            <a:rect r="r" b="b" t="t" l="l"/>
            <a:pathLst>
              <a:path h="3445481" w="7572472">
                <a:moveTo>
                  <a:pt x="0" y="0"/>
                </a:moveTo>
                <a:lnTo>
                  <a:pt x="7572471" y="0"/>
                </a:lnTo>
                <a:lnTo>
                  <a:pt x="7572471" y="3445481"/>
                </a:lnTo>
                <a:lnTo>
                  <a:pt x="0" y="344548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40225" t="-28460" r="-23843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1028700" y="6108346"/>
            <a:ext cx="514163" cy="514163"/>
            <a:chOff x="0" y="0"/>
            <a:chExt cx="812800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457800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028700" y="7315550"/>
            <a:ext cx="514163" cy="514163"/>
            <a:chOff x="0" y="0"/>
            <a:chExt cx="812800" cy="8128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5DA103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028700" y="8194147"/>
            <a:ext cx="514163" cy="514163"/>
            <a:chOff x="0" y="0"/>
            <a:chExt cx="812800" cy="8128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84C32F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5" id="15"/>
          <p:cNvSpPr/>
          <p:nvPr/>
        </p:nvSpPr>
        <p:spPr>
          <a:xfrm flipH="false" flipV="false" rot="0">
            <a:off x="17271568" y="643669"/>
            <a:ext cx="455169" cy="232705"/>
          </a:xfrm>
          <a:custGeom>
            <a:avLst/>
            <a:gdLst/>
            <a:ahLst/>
            <a:cxnLst/>
            <a:rect r="r" b="b" t="t" l="l"/>
            <a:pathLst>
              <a:path h="232705" w="455169">
                <a:moveTo>
                  <a:pt x="0" y="0"/>
                </a:moveTo>
                <a:lnTo>
                  <a:pt x="455169" y="0"/>
                </a:lnTo>
                <a:lnTo>
                  <a:pt x="455169" y="232706"/>
                </a:lnTo>
                <a:lnTo>
                  <a:pt x="0" y="23270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-10800000">
            <a:off x="1754198" y="6281546"/>
            <a:ext cx="106603" cy="205732"/>
          </a:xfrm>
          <a:custGeom>
            <a:avLst/>
            <a:gdLst/>
            <a:ahLst/>
            <a:cxnLst/>
            <a:rect r="r" b="b" t="t" l="l"/>
            <a:pathLst>
              <a:path h="205732" w="106603">
                <a:moveTo>
                  <a:pt x="0" y="0"/>
                </a:moveTo>
                <a:lnTo>
                  <a:pt x="106603" y="0"/>
                </a:lnTo>
                <a:lnTo>
                  <a:pt x="106603" y="205732"/>
                </a:lnTo>
                <a:lnTo>
                  <a:pt x="0" y="20573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-301015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-10800000">
            <a:off x="1754198" y="7470467"/>
            <a:ext cx="106603" cy="205732"/>
          </a:xfrm>
          <a:custGeom>
            <a:avLst/>
            <a:gdLst/>
            <a:ahLst/>
            <a:cxnLst/>
            <a:rect r="r" b="b" t="t" l="l"/>
            <a:pathLst>
              <a:path h="205732" w="106603">
                <a:moveTo>
                  <a:pt x="0" y="0"/>
                </a:moveTo>
                <a:lnTo>
                  <a:pt x="106603" y="0"/>
                </a:lnTo>
                <a:lnTo>
                  <a:pt x="106603" y="205732"/>
                </a:lnTo>
                <a:lnTo>
                  <a:pt x="0" y="20573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-301015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-10800000">
            <a:off x="1754198" y="8354862"/>
            <a:ext cx="106603" cy="205732"/>
          </a:xfrm>
          <a:custGeom>
            <a:avLst/>
            <a:gdLst/>
            <a:ahLst/>
            <a:cxnLst/>
            <a:rect r="r" b="b" t="t" l="l"/>
            <a:pathLst>
              <a:path h="205732" w="106603">
                <a:moveTo>
                  <a:pt x="0" y="0"/>
                </a:moveTo>
                <a:lnTo>
                  <a:pt x="106603" y="0"/>
                </a:lnTo>
                <a:lnTo>
                  <a:pt x="106603" y="205733"/>
                </a:lnTo>
                <a:lnTo>
                  <a:pt x="0" y="20573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-301015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1068302" y="643669"/>
            <a:ext cx="1060213" cy="1487876"/>
          </a:xfrm>
          <a:custGeom>
            <a:avLst/>
            <a:gdLst/>
            <a:ahLst/>
            <a:cxnLst/>
            <a:rect r="r" b="b" t="t" l="l"/>
            <a:pathLst>
              <a:path h="1487876" w="1060213">
                <a:moveTo>
                  <a:pt x="0" y="0"/>
                </a:moveTo>
                <a:lnTo>
                  <a:pt x="1060214" y="0"/>
                </a:lnTo>
                <a:lnTo>
                  <a:pt x="1060214" y="1487876"/>
                </a:lnTo>
                <a:lnTo>
                  <a:pt x="0" y="148787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grpSp>
        <p:nvGrpSpPr>
          <p:cNvPr name="Group 20" id="20"/>
          <p:cNvGrpSpPr/>
          <p:nvPr/>
        </p:nvGrpSpPr>
        <p:grpSpPr>
          <a:xfrm rot="0">
            <a:off x="1028700" y="5213182"/>
            <a:ext cx="514163" cy="514163"/>
            <a:chOff x="0" y="0"/>
            <a:chExt cx="812800" cy="8128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96300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23" id="23"/>
          <p:cNvSpPr/>
          <p:nvPr/>
        </p:nvSpPr>
        <p:spPr>
          <a:xfrm flipH="false" flipV="false" rot="-10800000">
            <a:off x="1754198" y="5386382"/>
            <a:ext cx="106603" cy="205732"/>
          </a:xfrm>
          <a:custGeom>
            <a:avLst/>
            <a:gdLst/>
            <a:ahLst/>
            <a:cxnLst/>
            <a:rect r="r" b="b" t="t" l="l"/>
            <a:pathLst>
              <a:path h="205732" w="106603">
                <a:moveTo>
                  <a:pt x="0" y="0"/>
                </a:moveTo>
                <a:lnTo>
                  <a:pt x="106603" y="0"/>
                </a:lnTo>
                <a:lnTo>
                  <a:pt x="106603" y="205733"/>
                </a:lnTo>
                <a:lnTo>
                  <a:pt x="0" y="20573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-301015" b="0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0">
            <a:off x="10621141" y="2912109"/>
            <a:ext cx="7178373" cy="5796202"/>
          </a:xfrm>
          <a:custGeom>
            <a:avLst/>
            <a:gdLst/>
            <a:ahLst/>
            <a:cxnLst/>
            <a:rect r="r" b="b" t="t" l="l"/>
            <a:pathLst>
              <a:path h="5796202" w="7178373">
                <a:moveTo>
                  <a:pt x="0" y="0"/>
                </a:moveTo>
                <a:lnTo>
                  <a:pt x="7178374" y="0"/>
                </a:lnTo>
                <a:lnTo>
                  <a:pt x="7178374" y="5796202"/>
                </a:lnTo>
                <a:lnTo>
                  <a:pt x="0" y="579620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25" id="25"/>
          <p:cNvSpPr txBox="true"/>
          <p:nvPr/>
        </p:nvSpPr>
        <p:spPr>
          <a:xfrm rot="0">
            <a:off x="1028700" y="2512545"/>
            <a:ext cx="7395652" cy="24555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540"/>
              </a:lnSpc>
            </a:pPr>
            <a:r>
              <a:rPr lang="en-US" sz="9000" b="true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Ferramentade Gestão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2013201" y="6149153"/>
            <a:ext cx="7630747" cy="8901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00"/>
              </a:lnSpc>
            </a:pPr>
            <a:r>
              <a:rPr lang="en-US" sz="3070" b="true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Rentabilidade por cultura e atividade econômica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2013201" y="7362156"/>
            <a:ext cx="7130799" cy="452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00"/>
              </a:lnSpc>
            </a:pPr>
            <a:r>
              <a:rPr lang="en-US" sz="3070" b="true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Plataforma digital e suporte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2013201" y="8246552"/>
            <a:ext cx="8455540" cy="452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00"/>
              </a:lnSpc>
            </a:pPr>
            <a:r>
              <a:rPr lang="en-US" sz="3070" b="true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Gestão organizada de dados financeiros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2013201" y="5253990"/>
            <a:ext cx="7630747" cy="452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00"/>
              </a:lnSpc>
            </a:pPr>
            <a:r>
              <a:rPr lang="en-US" sz="3070" b="true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Software Parceiro: </a:t>
            </a:r>
            <a:r>
              <a:rPr lang="en-US" sz="3070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ep - eProdutor®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1028700" y="9070261"/>
            <a:ext cx="514163" cy="514163"/>
            <a:chOff x="0" y="0"/>
            <a:chExt cx="812800" cy="8128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9CDE44"/>
            </a:solidFill>
          </p:spPr>
        </p:sp>
        <p:sp>
          <p:nvSpPr>
            <p:cNvPr name="TextBox 32" id="32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33" id="33"/>
          <p:cNvSpPr/>
          <p:nvPr/>
        </p:nvSpPr>
        <p:spPr>
          <a:xfrm flipH="false" flipV="false" rot="-10800000">
            <a:off x="1754198" y="9230976"/>
            <a:ext cx="106603" cy="205732"/>
          </a:xfrm>
          <a:custGeom>
            <a:avLst/>
            <a:gdLst/>
            <a:ahLst/>
            <a:cxnLst/>
            <a:rect r="r" b="b" t="t" l="l"/>
            <a:pathLst>
              <a:path h="205732" w="106603">
                <a:moveTo>
                  <a:pt x="0" y="0"/>
                </a:moveTo>
                <a:lnTo>
                  <a:pt x="106603" y="0"/>
                </a:lnTo>
                <a:lnTo>
                  <a:pt x="106603" y="205732"/>
                </a:lnTo>
                <a:lnTo>
                  <a:pt x="0" y="20573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-301015" b="0"/>
            </a:stretch>
          </a:blipFill>
        </p:spPr>
      </p:sp>
      <p:sp>
        <p:nvSpPr>
          <p:cNvPr name="TextBox 34" id="34"/>
          <p:cNvSpPr txBox="true"/>
          <p:nvPr/>
        </p:nvSpPr>
        <p:spPr>
          <a:xfrm rot="0">
            <a:off x="2013201" y="9122665"/>
            <a:ext cx="8455540" cy="452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00"/>
              </a:lnSpc>
            </a:pPr>
            <a:r>
              <a:rPr lang="en-US" sz="3070" b="true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Análise de cenários gerais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699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408538" y="3653679"/>
            <a:ext cx="8099184" cy="8099184"/>
            <a:chOff x="0" y="0"/>
            <a:chExt cx="812800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6EAB57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76200" y="-9525"/>
              <a:ext cx="6604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64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-1182913" y="3879303"/>
            <a:ext cx="7647936" cy="7647936"/>
            <a:chOff x="0" y="0"/>
            <a:chExt cx="812800" cy="812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2"/>
              <a:stretch>
                <a:fillRect l="-44786" t="0" r="-44786" b="0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3101513" y="3118175"/>
            <a:ext cx="3853459" cy="3853459"/>
            <a:chOff x="0" y="0"/>
            <a:chExt cx="812800" cy="8128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6EAB57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76200" y="-9525"/>
              <a:ext cx="6604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64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3305863" y="3322526"/>
            <a:ext cx="3444758" cy="3444758"/>
            <a:chOff x="0" y="0"/>
            <a:chExt cx="812800" cy="8128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tretch>
                <a:fillRect l="-25046" t="0" r="-25046" b="0"/>
              </a:stretch>
            </a:blipFill>
          </p:spPr>
        </p:sp>
      </p:grpSp>
      <p:sp>
        <p:nvSpPr>
          <p:cNvPr name="Freeform 12" id="12"/>
          <p:cNvSpPr/>
          <p:nvPr/>
        </p:nvSpPr>
        <p:spPr>
          <a:xfrm flipH="false" flipV="false" rot="0">
            <a:off x="596329" y="3236801"/>
            <a:ext cx="998092" cy="207104"/>
          </a:xfrm>
          <a:custGeom>
            <a:avLst/>
            <a:gdLst/>
            <a:ahLst/>
            <a:cxnLst/>
            <a:rect r="r" b="b" t="t" l="l"/>
            <a:pathLst>
              <a:path h="207104" w="998092">
                <a:moveTo>
                  <a:pt x="0" y="0"/>
                </a:moveTo>
                <a:lnTo>
                  <a:pt x="998092" y="0"/>
                </a:lnTo>
                <a:lnTo>
                  <a:pt x="998092" y="207104"/>
                </a:lnTo>
                <a:lnTo>
                  <a:pt x="0" y="20710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5467001" y="9469333"/>
            <a:ext cx="1283620" cy="204793"/>
          </a:xfrm>
          <a:custGeom>
            <a:avLst/>
            <a:gdLst/>
            <a:ahLst/>
            <a:cxnLst/>
            <a:rect r="r" b="b" t="t" l="l"/>
            <a:pathLst>
              <a:path h="204793" w="1283620">
                <a:moveTo>
                  <a:pt x="0" y="0"/>
                </a:moveTo>
                <a:lnTo>
                  <a:pt x="1283620" y="0"/>
                </a:lnTo>
                <a:lnTo>
                  <a:pt x="1283620" y="204793"/>
                </a:lnTo>
                <a:lnTo>
                  <a:pt x="0" y="20479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79573" t="0" r="-36766" b="-252558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16069120" y="493992"/>
            <a:ext cx="1637612" cy="1637612"/>
          </a:xfrm>
          <a:custGeom>
            <a:avLst/>
            <a:gdLst/>
            <a:ahLst/>
            <a:cxnLst/>
            <a:rect r="r" b="b" t="t" l="l"/>
            <a:pathLst>
              <a:path h="1637612" w="1637612">
                <a:moveTo>
                  <a:pt x="0" y="0"/>
                </a:moveTo>
                <a:lnTo>
                  <a:pt x="1637612" y="0"/>
                </a:lnTo>
                <a:lnTo>
                  <a:pt x="1637612" y="1637612"/>
                </a:lnTo>
                <a:lnTo>
                  <a:pt x="0" y="163761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858250" y="780780"/>
            <a:ext cx="6453185" cy="11402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835"/>
              </a:lnSpc>
            </a:pPr>
            <a:r>
              <a:rPr lang="en-US" sz="8032" b="tru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Diferenciais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7732973" y="2248983"/>
            <a:ext cx="4466102" cy="4146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80"/>
              </a:lnSpc>
            </a:pPr>
            <a:r>
              <a:rPr lang="en-US" sz="2600" b="tru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Segurança de Dados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7732973" y="4664753"/>
            <a:ext cx="6234525" cy="4145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93"/>
              </a:lnSpc>
            </a:pPr>
            <a:r>
              <a:rPr lang="en-US" sz="2610" b="tru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Ferramentas de Análise e Gestão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7732973" y="7083194"/>
            <a:ext cx="8473151" cy="4145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93"/>
              </a:lnSpc>
            </a:pPr>
            <a:r>
              <a:rPr lang="en-US" sz="2610" b="tru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Olhar Através de Instituições Financeiras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7732973" y="2907922"/>
            <a:ext cx="9291957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Para garantir a máxima segurança e confidencialidade, implementamos protocolos de segurança para garantir a confidencialidade das informações.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7732973" y="5323692"/>
            <a:ext cx="9739390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Utilizamos ferramentas internas que permitem a análise detalhada de dados financeiros específicos de cada cliente, facilitando o planejamento e a tomada de decisões.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7732973" y="7742133"/>
            <a:ext cx="9973759" cy="172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Nossos especialistas trazem uma visão combinada da perspectiva do cliente e das instituições financeiras, garantindo a escolha do cliente pelas melhores opções dentro do mercado financeiro.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209868" y="-1300903"/>
            <a:ext cx="9217341" cy="8376258"/>
          </a:xfrm>
          <a:custGeom>
            <a:avLst/>
            <a:gdLst/>
            <a:ahLst/>
            <a:cxnLst/>
            <a:rect r="r" b="b" t="t" l="l"/>
            <a:pathLst>
              <a:path h="8376258" w="9217341">
                <a:moveTo>
                  <a:pt x="0" y="0"/>
                </a:moveTo>
                <a:lnTo>
                  <a:pt x="9217340" y="0"/>
                </a:lnTo>
                <a:lnTo>
                  <a:pt x="9217340" y="8376259"/>
                </a:lnTo>
                <a:lnTo>
                  <a:pt x="0" y="837625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71000"/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3213876" y="-304313"/>
            <a:ext cx="7321305" cy="6339920"/>
            <a:chOff x="0" y="0"/>
            <a:chExt cx="4282440" cy="37084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43542" y="0"/>
              <a:ext cx="4195356" cy="3708400"/>
            </a:xfrm>
            <a:custGeom>
              <a:avLst/>
              <a:gdLst/>
              <a:ahLst/>
              <a:cxnLst/>
              <a:rect r="r" b="b" t="t" l="l"/>
              <a:pathLst>
                <a:path h="3708400" w="4195356">
                  <a:moveTo>
                    <a:pt x="2939859" y="0"/>
                  </a:moveTo>
                  <a:lnTo>
                    <a:pt x="1255497" y="0"/>
                  </a:lnTo>
                  <a:cubicBezTo>
                    <a:pt x="1114144" y="0"/>
                    <a:pt x="983527" y="75408"/>
                    <a:pt x="912846" y="197821"/>
                  </a:cubicBezTo>
                  <a:lnTo>
                    <a:pt x="70680" y="1656379"/>
                  </a:lnTo>
                  <a:cubicBezTo>
                    <a:pt x="0" y="1778789"/>
                    <a:pt x="0" y="1929611"/>
                    <a:pt x="70680" y="2052021"/>
                  </a:cubicBezTo>
                  <a:lnTo>
                    <a:pt x="912846" y="3510578"/>
                  </a:lnTo>
                  <a:cubicBezTo>
                    <a:pt x="983527" y="3632991"/>
                    <a:pt x="1114144" y="3708400"/>
                    <a:pt x="1255497" y="3708400"/>
                  </a:cubicBezTo>
                  <a:lnTo>
                    <a:pt x="2939859" y="3708400"/>
                  </a:lnTo>
                  <a:cubicBezTo>
                    <a:pt x="3081212" y="3708400"/>
                    <a:pt x="3211829" y="3632991"/>
                    <a:pt x="3282510" y="3510578"/>
                  </a:cubicBezTo>
                  <a:lnTo>
                    <a:pt x="4124676" y="2052021"/>
                  </a:lnTo>
                  <a:cubicBezTo>
                    <a:pt x="4195356" y="1929611"/>
                    <a:pt x="4195356" y="1778789"/>
                    <a:pt x="4124676" y="1656379"/>
                  </a:cubicBezTo>
                  <a:lnTo>
                    <a:pt x="3282510" y="197821"/>
                  </a:lnTo>
                  <a:cubicBezTo>
                    <a:pt x="3211829" y="75408"/>
                    <a:pt x="3081212" y="0"/>
                    <a:pt x="2939859" y="0"/>
                  </a:cubicBezTo>
                  <a:close/>
                </a:path>
              </a:pathLst>
            </a:custGeom>
            <a:blipFill>
              <a:blip r:embed="rId3"/>
              <a:stretch>
                <a:fillRect l="-4766" t="0" r="-29032" b="0"/>
              </a:stretch>
            </a:blipFill>
            <a:ln w="238125" cap="rnd">
              <a:solidFill>
                <a:srgbClr val="369936"/>
              </a:solidFill>
              <a:prstDash val="solid"/>
              <a:round/>
            </a:ln>
          </p:spPr>
        </p:sp>
      </p:grpSp>
      <p:sp>
        <p:nvSpPr>
          <p:cNvPr name="Freeform 5" id="5"/>
          <p:cNvSpPr/>
          <p:nvPr/>
        </p:nvSpPr>
        <p:spPr>
          <a:xfrm flipH="false" flipV="false" rot="0">
            <a:off x="10047384" y="1927980"/>
            <a:ext cx="6749481" cy="6133591"/>
          </a:xfrm>
          <a:custGeom>
            <a:avLst/>
            <a:gdLst/>
            <a:ahLst/>
            <a:cxnLst/>
            <a:rect r="r" b="b" t="t" l="l"/>
            <a:pathLst>
              <a:path h="6133591" w="6749481">
                <a:moveTo>
                  <a:pt x="0" y="0"/>
                </a:moveTo>
                <a:lnTo>
                  <a:pt x="6749481" y="0"/>
                </a:lnTo>
                <a:lnTo>
                  <a:pt x="6749481" y="6133591"/>
                </a:lnTo>
                <a:lnTo>
                  <a:pt x="0" y="613359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71000"/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10657753" y="2321398"/>
            <a:ext cx="5870265" cy="5083385"/>
            <a:chOff x="0" y="0"/>
            <a:chExt cx="4282440" cy="37084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54305" y="0"/>
              <a:ext cx="4173831" cy="3708400"/>
            </a:xfrm>
            <a:custGeom>
              <a:avLst/>
              <a:gdLst/>
              <a:ahLst/>
              <a:cxnLst/>
              <a:rect r="r" b="b" t="t" l="l"/>
              <a:pathLst>
                <a:path h="3708400" w="4173831">
                  <a:moveTo>
                    <a:pt x="2872631" y="0"/>
                  </a:moveTo>
                  <a:lnTo>
                    <a:pt x="1301199" y="0"/>
                  </a:lnTo>
                  <a:cubicBezTo>
                    <a:pt x="1124905" y="0"/>
                    <a:pt x="962002" y="94048"/>
                    <a:pt x="873850" y="246720"/>
                  </a:cubicBezTo>
                  <a:lnTo>
                    <a:pt x="88150" y="1607480"/>
                  </a:lnTo>
                  <a:cubicBezTo>
                    <a:pt x="0" y="1760149"/>
                    <a:pt x="0" y="1948251"/>
                    <a:pt x="88150" y="2100920"/>
                  </a:cubicBezTo>
                  <a:lnTo>
                    <a:pt x="873850" y="3461680"/>
                  </a:lnTo>
                  <a:cubicBezTo>
                    <a:pt x="962002" y="3614352"/>
                    <a:pt x="1124905" y="3708400"/>
                    <a:pt x="1301199" y="3708400"/>
                  </a:cubicBezTo>
                  <a:lnTo>
                    <a:pt x="2872632" y="3708400"/>
                  </a:lnTo>
                  <a:cubicBezTo>
                    <a:pt x="3048925" y="3708400"/>
                    <a:pt x="3211828" y="3614352"/>
                    <a:pt x="3299981" y="3461680"/>
                  </a:cubicBezTo>
                  <a:lnTo>
                    <a:pt x="4085680" y="2100920"/>
                  </a:lnTo>
                  <a:cubicBezTo>
                    <a:pt x="4173830" y="1948251"/>
                    <a:pt x="4173830" y="1760149"/>
                    <a:pt x="4085680" y="1607480"/>
                  </a:cubicBezTo>
                  <a:lnTo>
                    <a:pt x="3299980" y="246720"/>
                  </a:lnTo>
                  <a:cubicBezTo>
                    <a:pt x="3211828" y="94048"/>
                    <a:pt x="3048925" y="0"/>
                    <a:pt x="2872631" y="0"/>
                  </a:cubicBezTo>
                  <a:close/>
                </a:path>
              </a:pathLst>
            </a:custGeom>
            <a:blipFill>
              <a:blip r:embed="rId4"/>
              <a:stretch>
                <a:fillRect l="-17389" t="0" r="-17389" b="0"/>
              </a:stretch>
            </a:blipFill>
            <a:ln w="238125" cap="rnd">
              <a:solidFill>
                <a:srgbClr val="369936"/>
              </a:solidFill>
              <a:prstDash val="solid"/>
              <a:round/>
            </a:ln>
          </p:spPr>
        </p:sp>
      </p:grpSp>
      <p:sp>
        <p:nvSpPr>
          <p:cNvPr name="Freeform 8" id="8"/>
          <p:cNvSpPr/>
          <p:nvPr/>
        </p:nvSpPr>
        <p:spPr>
          <a:xfrm flipH="false" flipV="false" rot="0">
            <a:off x="5564138" y="5808934"/>
            <a:ext cx="4223227" cy="797134"/>
          </a:xfrm>
          <a:custGeom>
            <a:avLst/>
            <a:gdLst/>
            <a:ahLst/>
            <a:cxnLst/>
            <a:rect r="r" b="b" t="t" l="l"/>
            <a:pathLst>
              <a:path h="797134" w="4223227">
                <a:moveTo>
                  <a:pt x="0" y="0"/>
                </a:moveTo>
                <a:lnTo>
                  <a:pt x="4223227" y="0"/>
                </a:lnTo>
                <a:lnTo>
                  <a:pt x="4223227" y="797134"/>
                </a:lnTo>
                <a:lnTo>
                  <a:pt x="0" y="7971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3343585" y="5808934"/>
            <a:ext cx="4223227" cy="797134"/>
          </a:xfrm>
          <a:custGeom>
            <a:avLst/>
            <a:gdLst/>
            <a:ahLst/>
            <a:cxnLst/>
            <a:rect r="r" b="b" t="t" l="l"/>
            <a:pathLst>
              <a:path h="797134" w="4223227">
                <a:moveTo>
                  <a:pt x="0" y="0"/>
                </a:moveTo>
                <a:lnTo>
                  <a:pt x="4223227" y="0"/>
                </a:lnTo>
                <a:lnTo>
                  <a:pt x="4223227" y="797134"/>
                </a:lnTo>
                <a:lnTo>
                  <a:pt x="0" y="7971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880340" y="5808934"/>
            <a:ext cx="4223227" cy="797134"/>
          </a:xfrm>
          <a:custGeom>
            <a:avLst/>
            <a:gdLst/>
            <a:ahLst/>
            <a:cxnLst/>
            <a:rect r="r" b="b" t="t" l="l"/>
            <a:pathLst>
              <a:path h="797134" w="4223227">
                <a:moveTo>
                  <a:pt x="0" y="0"/>
                </a:moveTo>
                <a:lnTo>
                  <a:pt x="4223227" y="0"/>
                </a:lnTo>
                <a:lnTo>
                  <a:pt x="4223227" y="797134"/>
                </a:lnTo>
                <a:lnTo>
                  <a:pt x="0" y="7971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1028700" y="535196"/>
            <a:ext cx="8708195" cy="23304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200"/>
              </a:lnSpc>
            </a:pPr>
            <a:r>
              <a:rPr lang="en-US" sz="8000" b="true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Benefícios </a:t>
            </a:r>
          </a:p>
          <a:p>
            <a:pPr algn="l">
              <a:lnSpc>
                <a:spcPts val="4000"/>
              </a:lnSpc>
            </a:pPr>
            <a:r>
              <a:rPr lang="en-US" sz="8000" b="true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para o Cliente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7111143" y="1329354"/>
            <a:ext cx="826076" cy="3413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8"/>
              </a:lnSpc>
            </a:pPr>
            <a:r>
              <a:rPr lang="en-US" sz="2314" b="true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Since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2295157" y="6026123"/>
            <a:ext cx="7492207" cy="352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49"/>
              </a:lnSpc>
            </a:pPr>
            <a:r>
              <a:rPr lang="en-US" sz="2499" b="tru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Visualização de Gargalos, Ganhos e Custos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989581" y="5997311"/>
            <a:ext cx="499663" cy="439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92"/>
              </a:lnSpc>
            </a:pPr>
            <a:r>
              <a:rPr lang="en-US" sz="3063" b="true">
                <a:solidFill>
                  <a:srgbClr val="4578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2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183269" y="6728892"/>
            <a:ext cx="8682937" cy="10655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0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Mapeamos onde estão os gargalos, assim como identificamos os ganhos e custos financeiros, permitindo ajustes individualizados e precisos.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11388307" y="8728447"/>
            <a:ext cx="156144" cy="227099"/>
          </a:xfrm>
          <a:custGeom>
            <a:avLst/>
            <a:gdLst/>
            <a:ahLst/>
            <a:cxnLst/>
            <a:rect r="r" b="b" t="t" l="l"/>
            <a:pathLst>
              <a:path h="227099" w="156144">
                <a:moveTo>
                  <a:pt x="0" y="0"/>
                </a:moveTo>
                <a:lnTo>
                  <a:pt x="156145" y="0"/>
                </a:lnTo>
                <a:lnTo>
                  <a:pt x="156145" y="227100"/>
                </a:lnTo>
                <a:lnTo>
                  <a:pt x="0" y="2271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-38888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16874813" y="8482676"/>
            <a:ext cx="768975" cy="1079160"/>
          </a:xfrm>
          <a:custGeom>
            <a:avLst/>
            <a:gdLst/>
            <a:ahLst/>
            <a:cxnLst/>
            <a:rect r="r" b="b" t="t" l="l"/>
            <a:pathLst>
              <a:path h="1079160" w="768975">
                <a:moveTo>
                  <a:pt x="0" y="0"/>
                </a:moveTo>
                <a:lnTo>
                  <a:pt x="768974" y="0"/>
                </a:lnTo>
                <a:lnTo>
                  <a:pt x="768974" y="1079159"/>
                </a:lnTo>
                <a:lnTo>
                  <a:pt x="0" y="107915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5604878" y="7946822"/>
            <a:ext cx="4223227" cy="797134"/>
          </a:xfrm>
          <a:custGeom>
            <a:avLst/>
            <a:gdLst/>
            <a:ahLst/>
            <a:cxnLst/>
            <a:rect r="r" b="b" t="t" l="l"/>
            <a:pathLst>
              <a:path h="797134" w="4223227">
                <a:moveTo>
                  <a:pt x="0" y="0"/>
                </a:moveTo>
                <a:lnTo>
                  <a:pt x="4223227" y="0"/>
                </a:lnTo>
                <a:lnTo>
                  <a:pt x="4223227" y="797134"/>
                </a:lnTo>
                <a:lnTo>
                  <a:pt x="0" y="7971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3384325" y="7946822"/>
            <a:ext cx="4223227" cy="797134"/>
          </a:xfrm>
          <a:custGeom>
            <a:avLst/>
            <a:gdLst/>
            <a:ahLst/>
            <a:cxnLst/>
            <a:rect r="r" b="b" t="t" l="l"/>
            <a:pathLst>
              <a:path h="797134" w="4223227">
                <a:moveTo>
                  <a:pt x="0" y="0"/>
                </a:moveTo>
                <a:lnTo>
                  <a:pt x="4223227" y="0"/>
                </a:lnTo>
                <a:lnTo>
                  <a:pt x="4223227" y="797134"/>
                </a:lnTo>
                <a:lnTo>
                  <a:pt x="0" y="7971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921081" y="7946822"/>
            <a:ext cx="4223227" cy="797134"/>
          </a:xfrm>
          <a:custGeom>
            <a:avLst/>
            <a:gdLst/>
            <a:ahLst/>
            <a:cxnLst/>
            <a:rect r="r" b="b" t="t" l="l"/>
            <a:pathLst>
              <a:path h="797134" w="4223227">
                <a:moveTo>
                  <a:pt x="0" y="0"/>
                </a:moveTo>
                <a:lnTo>
                  <a:pt x="4223227" y="0"/>
                </a:lnTo>
                <a:lnTo>
                  <a:pt x="4223227" y="797134"/>
                </a:lnTo>
                <a:lnTo>
                  <a:pt x="0" y="7971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2335898" y="8164011"/>
            <a:ext cx="7473157" cy="352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49"/>
              </a:lnSpc>
            </a:pPr>
            <a:r>
              <a:rPr lang="en-US" sz="2499" b="tru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Construção de Cenários e Previsibilidade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030322" y="8135199"/>
            <a:ext cx="499663" cy="439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92"/>
              </a:lnSpc>
            </a:pPr>
            <a:r>
              <a:rPr lang="en-US" sz="3063" b="true">
                <a:solidFill>
                  <a:srgbClr val="4578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3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202319" y="8858256"/>
            <a:ext cx="8682937" cy="7035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0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Utilizamos ferramentas que proporcionam previsibilidade e avaliação de cenários dentro de diversas situações do mercado.</a:t>
            </a:r>
          </a:p>
        </p:txBody>
      </p:sp>
      <p:sp>
        <p:nvSpPr>
          <p:cNvPr name="Freeform 24" id="24"/>
          <p:cNvSpPr/>
          <p:nvPr/>
        </p:nvSpPr>
        <p:spPr>
          <a:xfrm flipH="false" flipV="false" rot="0">
            <a:off x="5564138" y="3163071"/>
            <a:ext cx="4223227" cy="797134"/>
          </a:xfrm>
          <a:custGeom>
            <a:avLst/>
            <a:gdLst/>
            <a:ahLst/>
            <a:cxnLst/>
            <a:rect r="r" b="b" t="t" l="l"/>
            <a:pathLst>
              <a:path h="797134" w="4223227">
                <a:moveTo>
                  <a:pt x="0" y="0"/>
                </a:moveTo>
                <a:lnTo>
                  <a:pt x="4223227" y="0"/>
                </a:lnTo>
                <a:lnTo>
                  <a:pt x="4223227" y="797134"/>
                </a:lnTo>
                <a:lnTo>
                  <a:pt x="0" y="7971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5" id="25"/>
          <p:cNvSpPr/>
          <p:nvPr/>
        </p:nvSpPr>
        <p:spPr>
          <a:xfrm flipH="false" flipV="false" rot="0">
            <a:off x="3343585" y="3163071"/>
            <a:ext cx="4223227" cy="797134"/>
          </a:xfrm>
          <a:custGeom>
            <a:avLst/>
            <a:gdLst/>
            <a:ahLst/>
            <a:cxnLst/>
            <a:rect r="r" b="b" t="t" l="l"/>
            <a:pathLst>
              <a:path h="797134" w="4223227">
                <a:moveTo>
                  <a:pt x="0" y="0"/>
                </a:moveTo>
                <a:lnTo>
                  <a:pt x="4223227" y="0"/>
                </a:lnTo>
                <a:lnTo>
                  <a:pt x="4223227" y="797134"/>
                </a:lnTo>
                <a:lnTo>
                  <a:pt x="0" y="7971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6" id="26"/>
          <p:cNvSpPr/>
          <p:nvPr/>
        </p:nvSpPr>
        <p:spPr>
          <a:xfrm flipH="false" flipV="false" rot="0">
            <a:off x="880340" y="3163071"/>
            <a:ext cx="4223227" cy="797134"/>
          </a:xfrm>
          <a:custGeom>
            <a:avLst/>
            <a:gdLst/>
            <a:ahLst/>
            <a:cxnLst/>
            <a:rect r="r" b="b" t="t" l="l"/>
            <a:pathLst>
              <a:path h="797134" w="4223227">
                <a:moveTo>
                  <a:pt x="0" y="0"/>
                </a:moveTo>
                <a:lnTo>
                  <a:pt x="4223227" y="0"/>
                </a:lnTo>
                <a:lnTo>
                  <a:pt x="4223227" y="797134"/>
                </a:lnTo>
                <a:lnTo>
                  <a:pt x="0" y="7971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7" id="27"/>
          <p:cNvSpPr txBox="true"/>
          <p:nvPr/>
        </p:nvSpPr>
        <p:spPr>
          <a:xfrm rot="0">
            <a:off x="2295157" y="3380260"/>
            <a:ext cx="6375440" cy="352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49"/>
              </a:lnSpc>
            </a:pPr>
            <a:r>
              <a:rPr lang="en-US" sz="2499" b="tru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Engenharia Financeira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989581" y="3351448"/>
            <a:ext cx="499663" cy="439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92"/>
              </a:lnSpc>
            </a:pPr>
            <a:r>
              <a:rPr lang="en-US" sz="3063" b="true">
                <a:solidFill>
                  <a:srgbClr val="4578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1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123478" y="4084030"/>
            <a:ext cx="8663887" cy="1427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0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Aplicamos técnicas de engenharia financeira para desenvolver soluções inovadoras que otimizam suas estratégias de financiamento e investimento, ampliando a lucratividade e a competitividade da sua empresa.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209868" y="-1300903"/>
            <a:ext cx="9217341" cy="8376258"/>
          </a:xfrm>
          <a:custGeom>
            <a:avLst/>
            <a:gdLst/>
            <a:ahLst/>
            <a:cxnLst/>
            <a:rect r="r" b="b" t="t" l="l"/>
            <a:pathLst>
              <a:path h="8376258" w="9217341">
                <a:moveTo>
                  <a:pt x="0" y="0"/>
                </a:moveTo>
                <a:lnTo>
                  <a:pt x="9217340" y="0"/>
                </a:lnTo>
                <a:lnTo>
                  <a:pt x="9217340" y="8376259"/>
                </a:lnTo>
                <a:lnTo>
                  <a:pt x="0" y="837625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71000"/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3213876" y="-304313"/>
            <a:ext cx="7321305" cy="6339920"/>
            <a:chOff x="0" y="0"/>
            <a:chExt cx="4282440" cy="37084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43542" y="0"/>
              <a:ext cx="4195356" cy="3708400"/>
            </a:xfrm>
            <a:custGeom>
              <a:avLst/>
              <a:gdLst/>
              <a:ahLst/>
              <a:cxnLst/>
              <a:rect r="r" b="b" t="t" l="l"/>
              <a:pathLst>
                <a:path h="3708400" w="4195356">
                  <a:moveTo>
                    <a:pt x="2939859" y="0"/>
                  </a:moveTo>
                  <a:lnTo>
                    <a:pt x="1255497" y="0"/>
                  </a:lnTo>
                  <a:cubicBezTo>
                    <a:pt x="1114144" y="0"/>
                    <a:pt x="983527" y="75408"/>
                    <a:pt x="912846" y="197821"/>
                  </a:cubicBezTo>
                  <a:lnTo>
                    <a:pt x="70680" y="1656379"/>
                  </a:lnTo>
                  <a:cubicBezTo>
                    <a:pt x="0" y="1778789"/>
                    <a:pt x="0" y="1929611"/>
                    <a:pt x="70680" y="2052021"/>
                  </a:cubicBezTo>
                  <a:lnTo>
                    <a:pt x="912846" y="3510578"/>
                  </a:lnTo>
                  <a:cubicBezTo>
                    <a:pt x="983527" y="3632991"/>
                    <a:pt x="1114144" y="3708400"/>
                    <a:pt x="1255497" y="3708400"/>
                  </a:cubicBezTo>
                  <a:lnTo>
                    <a:pt x="2939859" y="3708400"/>
                  </a:lnTo>
                  <a:cubicBezTo>
                    <a:pt x="3081212" y="3708400"/>
                    <a:pt x="3211829" y="3632991"/>
                    <a:pt x="3282510" y="3510578"/>
                  </a:cubicBezTo>
                  <a:lnTo>
                    <a:pt x="4124676" y="2052021"/>
                  </a:lnTo>
                  <a:cubicBezTo>
                    <a:pt x="4195356" y="1929611"/>
                    <a:pt x="4195356" y="1778789"/>
                    <a:pt x="4124676" y="1656379"/>
                  </a:cubicBezTo>
                  <a:lnTo>
                    <a:pt x="3282510" y="197821"/>
                  </a:lnTo>
                  <a:cubicBezTo>
                    <a:pt x="3211829" y="75408"/>
                    <a:pt x="3081212" y="0"/>
                    <a:pt x="2939859" y="0"/>
                  </a:cubicBezTo>
                  <a:close/>
                </a:path>
              </a:pathLst>
            </a:custGeom>
            <a:blipFill>
              <a:blip r:embed="rId3"/>
              <a:stretch>
                <a:fillRect l="-45839" t="0" r="-1471" b="-10166"/>
              </a:stretch>
            </a:blipFill>
            <a:ln w="238125" cap="rnd">
              <a:solidFill>
                <a:srgbClr val="369936"/>
              </a:solidFill>
              <a:prstDash val="solid"/>
              <a:round/>
            </a:ln>
          </p:spPr>
        </p:sp>
      </p:grpSp>
      <p:sp>
        <p:nvSpPr>
          <p:cNvPr name="Freeform 5" id="5"/>
          <p:cNvSpPr/>
          <p:nvPr/>
        </p:nvSpPr>
        <p:spPr>
          <a:xfrm flipH="false" flipV="false" rot="0">
            <a:off x="10047384" y="1927980"/>
            <a:ext cx="6749481" cy="6133591"/>
          </a:xfrm>
          <a:custGeom>
            <a:avLst/>
            <a:gdLst/>
            <a:ahLst/>
            <a:cxnLst/>
            <a:rect r="r" b="b" t="t" l="l"/>
            <a:pathLst>
              <a:path h="6133591" w="6749481">
                <a:moveTo>
                  <a:pt x="0" y="0"/>
                </a:moveTo>
                <a:lnTo>
                  <a:pt x="6749481" y="0"/>
                </a:lnTo>
                <a:lnTo>
                  <a:pt x="6749481" y="6133591"/>
                </a:lnTo>
                <a:lnTo>
                  <a:pt x="0" y="613359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71000"/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10657753" y="2321398"/>
            <a:ext cx="5870265" cy="5083385"/>
            <a:chOff x="0" y="0"/>
            <a:chExt cx="4282440" cy="37084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54305" y="0"/>
              <a:ext cx="4173831" cy="3708400"/>
            </a:xfrm>
            <a:custGeom>
              <a:avLst/>
              <a:gdLst/>
              <a:ahLst/>
              <a:cxnLst/>
              <a:rect r="r" b="b" t="t" l="l"/>
              <a:pathLst>
                <a:path h="3708400" w="4173831">
                  <a:moveTo>
                    <a:pt x="2872631" y="0"/>
                  </a:moveTo>
                  <a:lnTo>
                    <a:pt x="1301199" y="0"/>
                  </a:lnTo>
                  <a:cubicBezTo>
                    <a:pt x="1124905" y="0"/>
                    <a:pt x="962002" y="94048"/>
                    <a:pt x="873850" y="246720"/>
                  </a:cubicBezTo>
                  <a:lnTo>
                    <a:pt x="88150" y="1607480"/>
                  </a:lnTo>
                  <a:cubicBezTo>
                    <a:pt x="0" y="1760149"/>
                    <a:pt x="0" y="1948251"/>
                    <a:pt x="88150" y="2100920"/>
                  </a:cubicBezTo>
                  <a:lnTo>
                    <a:pt x="873850" y="3461680"/>
                  </a:lnTo>
                  <a:cubicBezTo>
                    <a:pt x="962002" y="3614352"/>
                    <a:pt x="1124905" y="3708400"/>
                    <a:pt x="1301199" y="3708400"/>
                  </a:cubicBezTo>
                  <a:lnTo>
                    <a:pt x="2872632" y="3708400"/>
                  </a:lnTo>
                  <a:cubicBezTo>
                    <a:pt x="3048925" y="3708400"/>
                    <a:pt x="3211828" y="3614352"/>
                    <a:pt x="3299981" y="3461680"/>
                  </a:cubicBezTo>
                  <a:lnTo>
                    <a:pt x="4085680" y="2100920"/>
                  </a:lnTo>
                  <a:cubicBezTo>
                    <a:pt x="4173830" y="1948251"/>
                    <a:pt x="4173830" y="1760149"/>
                    <a:pt x="4085680" y="1607480"/>
                  </a:cubicBezTo>
                  <a:lnTo>
                    <a:pt x="3299980" y="246720"/>
                  </a:lnTo>
                  <a:cubicBezTo>
                    <a:pt x="3211828" y="94048"/>
                    <a:pt x="3048925" y="0"/>
                    <a:pt x="2872631" y="0"/>
                  </a:cubicBezTo>
                  <a:close/>
                </a:path>
              </a:pathLst>
            </a:custGeom>
            <a:blipFill>
              <a:blip r:embed="rId4"/>
              <a:stretch>
                <a:fillRect l="-17221" t="0" r="-17221" b="0"/>
              </a:stretch>
            </a:blipFill>
            <a:ln w="238125" cap="rnd">
              <a:solidFill>
                <a:srgbClr val="369936"/>
              </a:solidFill>
              <a:prstDash val="solid"/>
              <a:round/>
            </a:ln>
          </p:spPr>
        </p:sp>
      </p:grpSp>
      <p:sp>
        <p:nvSpPr>
          <p:cNvPr name="Freeform 8" id="8"/>
          <p:cNvSpPr/>
          <p:nvPr/>
        </p:nvSpPr>
        <p:spPr>
          <a:xfrm flipH="false" flipV="false" rot="0">
            <a:off x="5712498" y="3321871"/>
            <a:ext cx="4223227" cy="797134"/>
          </a:xfrm>
          <a:custGeom>
            <a:avLst/>
            <a:gdLst/>
            <a:ahLst/>
            <a:cxnLst/>
            <a:rect r="r" b="b" t="t" l="l"/>
            <a:pathLst>
              <a:path h="797134" w="4223227">
                <a:moveTo>
                  <a:pt x="0" y="0"/>
                </a:moveTo>
                <a:lnTo>
                  <a:pt x="4223226" y="0"/>
                </a:lnTo>
                <a:lnTo>
                  <a:pt x="4223226" y="797134"/>
                </a:lnTo>
                <a:lnTo>
                  <a:pt x="0" y="7971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3491945" y="3321871"/>
            <a:ext cx="4223227" cy="797134"/>
          </a:xfrm>
          <a:custGeom>
            <a:avLst/>
            <a:gdLst/>
            <a:ahLst/>
            <a:cxnLst/>
            <a:rect r="r" b="b" t="t" l="l"/>
            <a:pathLst>
              <a:path h="797134" w="4223227">
                <a:moveTo>
                  <a:pt x="0" y="0"/>
                </a:moveTo>
                <a:lnTo>
                  <a:pt x="4223226" y="0"/>
                </a:lnTo>
                <a:lnTo>
                  <a:pt x="4223226" y="797134"/>
                </a:lnTo>
                <a:lnTo>
                  <a:pt x="0" y="7971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028700" y="3321871"/>
            <a:ext cx="4223227" cy="797134"/>
          </a:xfrm>
          <a:custGeom>
            <a:avLst/>
            <a:gdLst/>
            <a:ahLst/>
            <a:cxnLst/>
            <a:rect r="r" b="b" t="t" l="l"/>
            <a:pathLst>
              <a:path h="797134" w="4223227">
                <a:moveTo>
                  <a:pt x="0" y="0"/>
                </a:moveTo>
                <a:lnTo>
                  <a:pt x="4223227" y="0"/>
                </a:lnTo>
                <a:lnTo>
                  <a:pt x="4223227" y="797134"/>
                </a:lnTo>
                <a:lnTo>
                  <a:pt x="0" y="7971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1028700" y="535196"/>
            <a:ext cx="8708195" cy="23304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200"/>
              </a:lnSpc>
            </a:pPr>
            <a:r>
              <a:rPr lang="en-US" sz="8000" b="true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Benefícios </a:t>
            </a:r>
          </a:p>
          <a:p>
            <a:pPr algn="l">
              <a:lnSpc>
                <a:spcPts val="4000"/>
              </a:lnSpc>
            </a:pPr>
            <a:r>
              <a:rPr lang="en-US" sz="8000" b="true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para o Cliente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7111143" y="1329354"/>
            <a:ext cx="826076" cy="3413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8"/>
              </a:lnSpc>
            </a:pPr>
            <a:r>
              <a:rPr lang="en-US" sz="2314" b="true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Since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2443517" y="3539060"/>
            <a:ext cx="7126440" cy="352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49"/>
              </a:lnSpc>
            </a:pPr>
            <a:r>
              <a:rPr lang="en-US" sz="2499" b="tru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Melhora da Capacidade de Investimento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137941" y="3510248"/>
            <a:ext cx="499663" cy="439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92"/>
              </a:lnSpc>
            </a:pPr>
            <a:r>
              <a:rPr lang="en-US" sz="3063" b="true">
                <a:solidFill>
                  <a:srgbClr val="4578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4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252240" y="4237567"/>
            <a:ext cx="8683484" cy="10655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0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Maximização dos recursos, permitindo investimentos mais estratégicos e eficientes que impulsionam o crescimento e a expansão de suas operações.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1715902" y="8642688"/>
            <a:ext cx="1471222" cy="7583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7"/>
              </a:lnSpc>
            </a:pPr>
            <a:r>
              <a:rPr lang="en-US" sz="2629" b="true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Website:</a:t>
            </a:r>
          </a:p>
        </p:txBody>
      </p:sp>
      <p:sp>
        <p:nvSpPr>
          <p:cNvPr name="Freeform 17" id="17"/>
          <p:cNvSpPr/>
          <p:nvPr/>
        </p:nvSpPr>
        <p:spPr>
          <a:xfrm flipH="false" flipV="false" rot="0">
            <a:off x="11388307" y="8728447"/>
            <a:ext cx="156144" cy="227099"/>
          </a:xfrm>
          <a:custGeom>
            <a:avLst/>
            <a:gdLst/>
            <a:ahLst/>
            <a:cxnLst/>
            <a:rect r="r" b="b" t="t" l="l"/>
            <a:pathLst>
              <a:path h="227099" w="156144">
                <a:moveTo>
                  <a:pt x="0" y="0"/>
                </a:moveTo>
                <a:lnTo>
                  <a:pt x="156145" y="0"/>
                </a:lnTo>
                <a:lnTo>
                  <a:pt x="156145" y="227100"/>
                </a:lnTo>
                <a:lnTo>
                  <a:pt x="0" y="2271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-38888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16874813" y="8482676"/>
            <a:ext cx="768975" cy="1079160"/>
          </a:xfrm>
          <a:custGeom>
            <a:avLst/>
            <a:gdLst/>
            <a:ahLst/>
            <a:cxnLst/>
            <a:rect r="r" b="b" t="t" l="l"/>
            <a:pathLst>
              <a:path h="1079160" w="768975">
                <a:moveTo>
                  <a:pt x="0" y="0"/>
                </a:moveTo>
                <a:lnTo>
                  <a:pt x="768974" y="0"/>
                </a:lnTo>
                <a:lnTo>
                  <a:pt x="768974" y="1079159"/>
                </a:lnTo>
                <a:lnTo>
                  <a:pt x="0" y="107915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731548" y="5459759"/>
            <a:ext cx="4223227" cy="797134"/>
          </a:xfrm>
          <a:custGeom>
            <a:avLst/>
            <a:gdLst/>
            <a:ahLst/>
            <a:cxnLst/>
            <a:rect r="r" b="b" t="t" l="l"/>
            <a:pathLst>
              <a:path h="797134" w="4223227">
                <a:moveTo>
                  <a:pt x="0" y="0"/>
                </a:moveTo>
                <a:lnTo>
                  <a:pt x="4223226" y="0"/>
                </a:lnTo>
                <a:lnTo>
                  <a:pt x="4223226" y="797134"/>
                </a:lnTo>
                <a:lnTo>
                  <a:pt x="0" y="7971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3510995" y="5459759"/>
            <a:ext cx="4223227" cy="797134"/>
          </a:xfrm>
          <a:custGeom>
            <a:avLst/>
            <a:gdLst/>
            <a:ahLst/>
            <a:cxnLst/>
            <a:rect r="r" b="b" t="t" l="l"/>
            <a:pathLst>
              <a:path h="797134" w="4223227">
                <a:moveTo>
                  <a:pt x="0" y="0"/>
                </a:moveTo>
                <a:lnTo>
                  <a:pt x="4223226" y="0"/>
                </a:lnTo>
                <a:lnTo>
                  <a:pt x="4223226" y="797134"/>
                </a:lnTo>
                <a:lnTo>
                  <a:pt x="0" y="7971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1047750" y="5459759"/>
            <a:ext cx="4223227" cy="797134"/>
          </a:xfrm>
          <a:custGeom>
            <a:avLst/>
            <a:gdLst/>
            <a:ahLst/>
            <a:cxnLst/>
            <a:rect r="r" b="b" t="t" l="l"/>
            <a:pathLst>
              <a:path h="797134" w="4223227">
                <a:moveTo>
                  <a:pt x="0" y="0"/>
                </a:moveTo>
                <a:lnTo>
                  <a:pt x="4223227" y="0"/>
                </a:lnTo>
                <a:lnTo>
                  <a:pt x="4223227" y="797134"/>
                </a:lnTo>
                <a:lnTo>
                  <a:pt x="0" y="7971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2" id="22"/>
          <p:cNvSpPr txBox="true"/>
          <p:nvPr/>
        </p:nvSpPr>
        <p:spPr>
          <a:xfrm rot="0">
            <a:off x="2462567" y="5676948"/>
            <a:ext cx="6375440" cy="352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49"/>
              </a:lnSpc>
            </a:pPr>
            <a:r>
              <a:rPr lang="en-US" sz="2499" b="tru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Fortalecimento da Saúde Financeira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156991" y="5648136"/>
            <a:ext cx="499663" cy="439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92"/>
              </a:lnSpc>
            </a:pPr>
            <a:r>
              <a:rPr lang="en-US" sz="3063" b="true">
                <a:solidFill>
                  <a:srgbClr val="4578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5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156991" y="6376590"/>
            <a:ext cx="8663887" cy="10655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0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A assessoria financeira ajuda a consolidar a saúde financeira de seus clientes, proporcionando fluxo de caixa estável e sustentabilidade a longo prazo.</a:t>
            </a:r>
          </a:p>
        </p:txBody>
      </p:sp>
      <p:sp>
        <p:nvSpPr>
          <p:cNvPr name="Freeform 25" id="25"/>
          <p:cNvSpPr/>
          <p:nvPr/>
        </p:nvSpPr>
        <p:spPr>
          <a:xfrm flipH="false" flipV="false" rot="0">
            <a:off x="5731548" y="7599918"/>
            <a:ext cx="4223227" cy="797134"/>
          </a:xfrm>
          <a:custGeom>
            <a:avLst/>
            <a:gdLst/>
            <a:ahLst/>
            <a:cxnLst/>
            <a:rect r="r" b="b" t="t" l="l"/>
            <a:pathLst>
              <a:path h="797134" w="4223227">
                <a:moveTo>
                  <a:pt x="0" y="0"/>
                </a:moveTo>
                <a:lnTo>
                  <a:pt x="4223226" y="0"/>
                </a:lnTo>
                <a:lnTo>
                  <a:pt x="4223226" y="797134"/>
                </a:lnTo>
                <a:lnTo>
                  <a:pt x="0" y="7971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6" id="26"/>
          <p:cNvSpPr/>
          <p:nvPr/>
        </p:nvSpPr>
        <p:spPr>
          <a:xfrm flipH="false" flipV="false" rot="0">
            <a:off x="3510995" y="7599918"/>
            <a:ext cx="4223227" cy="797134"/>
          </a:xfrm>
          <a:custGeom>
            <a:avLst/>
            <a:gdLst/>
            <a:ahLst/>
            <a:cxnLst/>
            <a:rect r="r" b="b" t="t" l="l"/>
            <a:pathLst>
              <a:path h="797134" w="4223227">
                <a:moveTo>
                  <a:pt x="0" y="0"/>
                </a:moveTo>
                <a:lnTo>
                  <a:pt x="4223226" y="0"/>
                </a:lnTo>
                <a:lnTo>
                  <a:pt x="4223226" y="797134"/>
                </a:lnTo>
                <a:lnTo>
                  <a:pt x="0" y="7971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false" rot="0">
            <a:off x="1047750" y="7599918"/>
            <a:ext cx="4223227" cy="797134"/>
          </a:xfrm>
          <a:custGeom>
            <a:avLst/>
            <a:gdLst/>
            <a:ahLst/>
            <a:cxnLst/>
            <a:rect r="r" b="b" t="t" l="l"/>
            <a:pathLst>
              <a:path h="797134" w="4223227">
                <a:moveTo>
                  <a:pt x="0" y="0"/>
                </a:moveTo>
                <a:lnTo>
                  <a:pt x="4223227" y="0"/>
                </a:lnTo>
                <a:lnTo>
                  <a:pt x="4223227" y="797134"/>
                </a:lnTo>
                <a:lnTo>
                  <a:pt x="0" y="7971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8" id="28"/>
          <p:cNvSpPr txBox="true"/>
          <p:nvPr/>
        </p:nvSpPr>
        <p:spPr>
          <a:xfrm rot="0">
            <a:off x="2462567" y="7817107"/>
            <a:ext cx="6375440" cy="352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49"/>
              </a:lnSpc>
            </a:pPr>
            <a:r>
              <a:rPr lang="en-US" sz="2499" b="tru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Proteção Contra Riscos Financeiros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156991" y="7788295"/>
            <a:ext cx="499663" cy="439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92"/>
              </a:lnSpc>
            </a:pPr>
            <a:r>
              <a:rPr lang="en-US" sz="3063" b="true">
                <a:solidFill>
                  <a:srgbClr val="4578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6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271838" y="8520877"/>
            <a:ext cx="8663887" cy="10655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0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Implementamos estratégias para identificar, avaliar e mitigar riscos financeiros, protegendo sua empresa contra volatilidades de mercado e garantindo maior segurança para suas operações.</a:t>
            </a:r>
          </a:p>
        </p:txBody>
      </p:sp>
      <p:grpSp>
        <p:nvGrpSpPr>
          <p:cNvPr name="Group 31" id="31"/>
          <p:cNvGrpSpPr/>
          <p:nvPr/>
        </p:nvGrpSpPr>
        <p:grpSpPr>
          <a:xfrm rot="0">
            <a:off x="13213876" y="-304313"/>
            <a:ext cx="7321305" cy="6339920"/>
            <a:chOff x="0" y="0"/>
            <a:chExt cx="4282440" cy="370840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43542" y="0"/>
              <a:ext cx="4195356" cy="3708400"/>
            </a:xfrm>
            <a:custGeom>
              <a:avLst/>
              <a:gdLst/>
              <a:ahLst/>
              <a:cxnLst/>
              <a:rect r="r" b="b" t="t" l="l"/>
              <a:pathLst>
                <a:path h="3708400" w="4195356">
                  <a:moveTo>
                    <a:pt x="2939859" y="0"/>
                  </a:moveTo>
                  <a:lnTo>
                    <a:pt x="1255497" y="0"/>
                  </a:lnTo>
                  <a:cubicBezTo>
                    <a:pt x="1114144" y="0"/>
                    <a:pt x="983527" y="75408"/>
                    <a:pt x="912846" y="197821"/>
                  </a:cubicBezTo>
                  <a:lnTo>
                    <a:pt x="70680" y="1656379"/>
                  </a:lnTo>
                  <a:cubicBezTo>
                    <a:pt x="0" y="1778789"/>
                    <a:pt x="0" y="1929611"/>
                    <a:pt x="70680" y="2052021"/>
                  </a:cubicBezTo>
                  <a:lnTo>
                    <a:pt x="912846" y="3510578"/>
                  </a:lnTo>
                  <a:cubicBezTo>
                    <a:pt x="983527" y="3632991"/>
                    <a:pt x="1114144" y="3708400"/>
                    <a:pt x="1255497" y="3708400"/>
                  </a:cubicBezTo>
                  <a:lnTo>
                    <a:pt x="2939859" y="3708400"/>
                  </a:lnTo>
                  <a:cubicBezTo>
                    <a:pt x="3081212" y="3708400"/>
                    <a:pt x="3211829" y="3632991"/>
                    <a:pt x="3282510" y="3510578"/>
                  </a:cubicBezTo>
                  <a:lnTo>
                    <a:pt x="4124676" y="2052021"/>
                  </a:lnTo>
                  <a:cubicBezTo>
                    <a:pt x="4195356" y="1929611"/>
                    <a:pt x="4195356" y="1778789"/>
                    <a:pt x="4124676" y="1656379"/>
                  </a:cubicBezTo>
                  <a:lnTo>
                    <a:pt x="3282510" y="197821"/>
                  </a:lnTo>
                  <a:cubicBezTo>
                    <a:pt x="3211829" y="75408"/>
                    <a:pt x="3081212" y="0"/>
                    <a:pt x="2939859" y="0"/>
                  </a:cubicBezTo>
                  <a:close/>
                </a:path>
              </a:pathLst>
            </a:custGeom>
            <a:blipFill>
              <a:blip r:embed="rId10"/>
              <a:stretch>
                <a:fillRect l="-4766" t="0" r="-29032" b="0"/>
              </a:stretch>
            </a:blipFill>
            <a:ln w="238125" cap="rnd">
              <a:solidFill>
                <a:srgbClr val="369936"/>
              </a:solidFill>
              <a:prstDash val="solid"/>
              <a:round/>
            </a:ln>
          </p:spPr>
        </p:sp>
      </p:grpSp>
      <p:grpSp>
        <p:nvGrpSpPr>
          <p:cNvPr name="Group 33" id="33"/>
          <p:cNvGrpSpPr/>
          <p:nvPr/>
        </p:nvGrpSpPr>
        <p:grpSpPr>
          <a:xfrm rot="0">
            <a:off x="10657753" y="2321398"/>
            <a:ext cx="5870265" cy="5083385"/>
            <a:chOff x="0" y="0"/>
            <a:chExt cx="4282440" cy="37084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54305" y="0"/>
              <a:ext cx="4173831" cy="3708400"/>
            </a:xfrm>
            <a:custGeom>
              <a:avLst/>
              <a:gdLst/>
              <a:ahLst/>
              <a:cxnLst/>
              <a:rect r="r" b="b" t="t" l="l"/>
              <a:pathLst>
                <a:path h="3708400" w="4173831">
                  <a:moveTo>
                    <a:pt x="2872631" y="0"/>
                  </a:moveTo>
                  <a:lnTo>
                    <a:pt x="1301199" y="0"/>
                  </a:lnTo>
                  <a:cubicBezTo>
                    <a:pt x="1124905" y="0"/>
                    <a:pt x="962002" y="94048"/>
                    <a:pt x="873850" y="246720"/>
                  </a:cubicBezTo>
                  <a:lnTo>
                    <a:pt x="88150" y="1607480"/>
                  </a:lnTo>
                  <a:cubicBezTo>
                    <a:pt x="0" y="1760149"/>
                    <a:pt x="0" y="1948251"/>
                    <a:pt x="88150" y="2100920"/>
                  </a:cubicBezTo>
                  <a:lnTo>
                    <a:pt x="873850" y="3461680"/>
                  </a:lnTo>
                  <a:cubicBezTo>
                    <a:pt x="962002" y="3614352"/>
                    <a:pt x="1124905" y="3708400"/>
                    <a:pt x="1301199" y="3708400"/>
                  </a:cubicBezTo>
                  <a:lnTo>
                    <a:pt x="2872632" y="3708400"/>
                  </a:lnTo>
                  <a:cubicBezTo>
                    <a:pt x="3048925" y="3708400"/>
                    <a:pt x="3211828" y="3614352"/>
                    <a:pt x="3299981" y="3461680"/>
                  </a:cubicBezTo>
                  <a:lnTo>
                    <a:pt x="4085680" y="2100920"/>
                  </a:lnTo>
                  <a:cubicBezTo>
                    <a:pt x="4173830" y="1948251"/>
                    <a:pt x="4173830" y="1760149"/>
                    <a:pt x="4085680" y="1607480"/>
                  </a:cubicBezTo>
                  <a:lnTo>
                    <a:pt x="3299980" y="246720"/>
                  </a:lnTo>
                  <a:cubicBezTo>
                    <a:pt x="3211828" y="94048"/>
                    <a:pt x="3048925" y="0"/>
                    <a:pt x="2872631" y="0"/>
                  </a:cubicBezTo>
                  <a:close/>
                </a:path>
              </a:pathLst>
            </a:custGeom>
            <a:blipFill>
              <a:blip r:embed="rId11"/>
              <a:stretch>
                <a:fillRect l="-17389" t="0" r="-17389" b="0"/>
              </a:stretch>
            </a:blipFill>
            <a:ln w="238125" cap="rnd">
              <a:solidFill>
                <a:srgbClr val="369936"/>
              </a:solidFill>
              <a:prstDash val="solid"/>
              <a:round/>
            </a:ln>
          </p:spPr>
        </p:sp>
      </p:grp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1021633" y="0"/>
            <a:ext cx="7266367" cy="10287000"/>
            <a:chOff x="0" y="0"/>
            <a:chExt cx="9688489" cy="13716000"/>
          </a:xfrm>
        </p:grpSpPr>
        <p:pic>
          <p:nvPicPr>
            <p:cNvPr name="Picture 3" id="3"/>
            <p:cNvPicPr>
              <a:picLocks noChangeAspect="true"/>
            </p:cNvPicPr>
            <p:nvPr/>
          </p:nvPicPr>
          <p:blipFill>
            <a:blip r:embed="rId2"/>
            <a:srcRect l="28239" t="0" r="24698" b="0"/>
            <a:stretch>
              <a:fillRect/>
            </a:stretch>
          </p:blipFill>
          <p:spPr>
            <a:xfrm flipH="false" flipV="false">
              <a:off x="0" y="0"/>
              <a:ext cx="9688489" cy="13716000"/>
            </a:xfrm>
            <a:prstGeom prst="rect">
              <a:avLst/>
            </a:prstGeom>
          </p:spPr>
        </p:pic>
      </p:grpSp>
      <p:sp>
        <p:nvSpPr>
          <p:cNvPr name="Freeform 4" id="4"/>
          <p:cNvSpPr/>
          <p:nvPr/>
        </p:nvSpPr>
        <p:spPr>
          <a:xfrm flipH="false" flipV="false" rot="5400000">
            <a:off x="7340829" y="3217725"/>
            <a:ext cx="11029774" cy="4214584"/>
          </a:xfrm>
          <a:custGeom>
            <a:avLst/>
            <a:gdLst/>
            <a:ahLst/>
            <a:cxnLst/>
            <a:rect r="r" b="b" t="t" l="l"/>
            <a:pathLst>
              <a:path h="4214584" w="11029774">
                <a:moveTo>
                  <a:pt x="0" y="0"/>
                </a:moveTo>
                <a:lnTo>
                  <a:pt x="11029774" y="0"/>
                </a:lnTo>
                <a:lnTo>
                  <a:pt x="11029774" y="4214584"/>
                </a:lnTo>
                <a:lnTo>
                  <a:pt x="0" y="421458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-9261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8624804" y="1028700"/>
            <a:ext cx="1111830" cy="1189123"/>
          </a:xfrm>
          <a:custGeom>
            <a:avLst/>
            <a:gdLst/>
            <a:ahLst/>
            <a:cxnLst/>
            <a:rect r="r" b="b" t="t" l="l"/>
            <a:pathLst>
              <a:path h="1189123" w="1111830">
                <a:moveTo>
                  <a:pt x="0" y="0"/>
                </a:moveTo>
                <a:lnTo>
                  <a:pt x="1111831" y="0"/>
                </a:lnTo>
                <a:lnTo>
                  <a:pt x="1111831" y="1189123"/>
                </a:lnTo>
                <a:lnTo>
                  <a:pt x="0" y="118912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1426197" y="777220"/>
            <a:ext cx="870603" cy="331509"/>
          </a:xfrm>
          <a:custGeom>
            <a:avLst/>
            <a:gdLst/>
            <a:ahLst/>
            <a:cxnLst/>
            <a:rect r="r" b="b" t="t" l="l"/>
            <a:pathLst>
              <a:path h="331509" w="870603">
                <a:moveTo>
                  <a:pt x="0" y="0"/>
                </a:moveTo>
                <a:lnTo>
                  <a:pt x="870603" y="0"/>
                </a:lnTo>
                <a:lnTo>
                  <a:pt x="870603" y="331510"/>
                </a:lnTo>
                <a:lnTo>
                  <a:pt x="0" y="33151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-46454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028700" y="741349"/>
            <a:ext cx="768975" cy="1079160"/>
          </a:xfrm>
          <a:custGeom>
            <a:avLst/>
            <a:gdLst/>
            <a:ahLst/>
            <a:cxnLst/>
            <a:rect r="r" b="b" t="t" l="l"/>
            <a:pathLst>
              <a:path h="1079160" w="768975">
                <a:moveTo>
                  <a:pt x="0" y="0"/>
                </a:moveTo>
                <a:lnTo>
                  <a:pt x="768975" y="0"/>
                </a:lnTo>
                <a:lnTo>
                  <a:pt x="768975" y="1079160"/>
                </a:lnTo>
                <a:lnTo>
                  <a:pt x="0" y="107916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958778" y="2377904"/>
            <a:ext cx="7666027" cy="22542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800"/>
              </a:lnSpc>
            </a:pPr>
            <a:r>
              <a:rPr lang="en-US" sz="8000" b="true">
                <a:solidFill>
                  <a:srgbClr val="5BA0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Como será sua jornada?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140106" y="5213182"/>
            <a:ext cx="402757" cy="402757"/>
            <a:chOff x="0" y="0"/>
            <a:chExt cx="812800" cy="8128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96300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2" id="12"/>
          <p:cNvSpPr/>
          <p:nvPr/>
        </p:nvSpPr>
        <p:spPr>
          <a:xfrm flipH="false" flipV="false" rot="-10800000">
            <a:off x="1724731" y="5311695"/>
            <a:ext cx="106603" cy="205732"/>
          </a:xfrm>
          <a:custGeom>
            <a:avLst/>
            <a:gdLst/>
            <a:ahLst/>
            <a:cxnLst/>
            <a:rect r="r" b="b" t="t" l="l"/>
            <a:pathLst>
              <a:path h="205732" w="106603">
                <a:moveTo>
                  <a:pt x="0" y="0"/>
                </a:moveTo>
                <a:lnTo>
                  <a:pt x="106603" y="0"/>
                </a:lnTo>
                <a:lnTo>
                  <a:pt x="106603" y="205732"/>
                </a:lnTo>
                <a:lnTo>
                  <a:pt x="0" y="20573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-301015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2013201" y="5247873"/>
            <a:ext cx="7630747" cy="352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49"/>
              </a:lnSpc>
            </a:pPr>
            <a:r>
              <a:rPr lang="en-US" sz="2499" b="true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Alinhamento de expectativas e objetivos;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140106" y="5977890"/>
            <a:ext cx="402757" cy="402757"/>
            <a:chOff x="0" y="0"/>
            <a:chExt cx="812800" cy="8128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96300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7" id="17"/>
          <p:cNvSpPr/>
          <p:nvPr/>
        </p:nvSpPr>
        <p:spPr>
          <a:xfrm flipH="false" flipV="false" rot="-10800000">
            <a:off x="1724731" y="6076402"/>
            <a:ext cx="106603" cy="205732"/>
          </a:xfrm>
          <a:custGeom>
            <a:avLst/>
            <a:gdLst/>
            <a:ahLst/>
            <a:cxnLst/>
            <a:rect r="r" b="b" t="t" l="l"/>
            <a:pathLst>
              <a:path h="205732" w="106603">
                <a:moveTo>
                  <a:pt x="0" y="0"/>
                </a:moveTo>
                <a:lnTo>
                  <a:pt x="106603" y="0"/>
                </a:lnTo>
                <a:lnTo>
                  <a:pt x="106603" y="205733"/>
                </a:lnTo>
                <a:lnTo>
                  <a:pt x="0" y="20573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-301015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2013201" y="5939235"/>
            <a:ext cx="7630747" cy="704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49"/>
              </a:lnSpc>
            </a:pPr>
            <a:r>
              <a:rPr lang="en-US" sz="2499" b="true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Fornecimento de documentos financeiros para análise financeira;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1140106" y="6948885"/>
            <a:ext cx="402757" cy="402757"/>
            <a:chOff x="0" y="0"/>
            <a:chExt cx="812800" cy="8128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96300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22" id="22"/>
          <p:cNvSpPr/>
          <p:nvPr/>
        </p:nvSpPr>
        <p:spPr>
          <a:xfrm flipH="false" flipV="false" rot="-10800000">
            <a:off x="1724731" y="7047397"/>
            <a:ext cx="106603" cy="205732"/>
          </a:xfrm>
          <a:custGeom>
            <a:avLst/>
            <a:gdLst/>
            <a:ahLst/>
            <a:cxnLst/>
            <a:rect r="r" b="b" t="t" l="l"/>
            <a:pathLst>
              <a:path h="205732" w="106603">
                <a:moveTo>
                  <a:pt x="0" y="0"/>
                </a:moveTo>
                <a:lnTo>
                  <a:pt x="106603" y="0"/>
                </a:lnTo>
                <a:lnTo>
                  <a:pt x="106603" y="205733"/>
                </a:lnTo>
                <a:lnTo>
                  <a:pt x="0" y="20573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-301015" b="0"/>
            </a:stretch>
          </a:blipFill>
        </p:spPr>
      </p:sp>
      <p:sp>
        <p:nvSpPr>
          <p:cNvPr name="TextBox 23" id="23"/>
          <p:cNvSpPr txBox="true"/>
          <p:nvPr/>
        </p:nvSpPr>
        <p:spPr>
          <a:xfrm rot="0">
            <a:off x="2013201" y="6983576"/>
            <a:ext cx="7630747" cy="352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49"/>
              </a:lnSpc>
            </a:pPr>
            <a:r>
              <a:rPr lang="en-US" sz="2499" b="true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Análise detalhada dos dados;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1140106" y="7656442"/>
            <a:ext cx="402757" cy="402757"/>
            <a:chOff x="0" y="0"/>
            <a:chExt cx="812800" cy="8128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96300"/>
            </a:solidFill>
          </p:spPr>
        </p:sp>
        <p:sp>
          <p:nvSpPr>
            <p:cNvPr name="TextBox 26" id="26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27" id="27"/>
          <p:cNvSpPr/>
          <p:nvPr/>
        </p:nvSpPr>
        <p:spPr>
          <a:xfrm flipH="false" flipV="false" rot="-10800000">
            <a:off x="1724731" y="7754955"/>
            <a:ext cx="106603" cy="205732"/>
          </a:xfrm>
          <a:custGeom>
            <a:avLst/>
            <a:gdLst/>
            <a:ahLst/>
            <a:cxnLst/>
            <a:rect r="r" b="b" t="t" l="l"/>
            <a:pathLst>
              <a:path h="205732" w="106603">
                <a:moveTo>
                  <a:pt x="0" y="0"/>
                </a:moveTo>
                <a:lnTo>
                  <a:pt x="106603" y="0"/>
                </a:lnTo>
                <a:lnTo>
                  <a:pt x="106603" y="205732"/>
                </a:lnTo>
                <a:lnTo>
                  <a:pt x="0" y="20573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-301015" b="0"/>
            </a:stretch>
          </a:blipFill>
        </p:spPr>
      </p:sp>
      <p:sp>
        <p:nvSpPr>
          <p:cNvPr name="TextBox 28" id="28"/>
          <p:cNvSpPr txBox="true"/>
          <p:nvPr/>
        </p:nvSpPr>
        <p:spPr>
          <a:xfrm rot="0">
            <a:off x="2013201" y="7691133"/>
            <a:ext cx="7979219" cy="352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49"/>
              </a:lnSpc>
            </a:pPr>
            <a:r>
              <a:rPr lang="en-US" sz="2499" b="true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Definição de objetivos financeiros e estratégias;</a:t>
            </a:r>
          </a:p>
        </p:txBody>
      </p:sp>
      <p:grpSp>
        <p:nvGrpSpPr>
          <p:cNvPr name="Group 29" id="29"/>
          <p:cNvGrpSpPr/>
          <p:nvPr/>
        </p:nvGrpSpPr>
        <p:grpSpPr>
          <a:xfrm rot="0">
            <a:off x="1140106" y="8364000"/>
            <a:ext cx="402757" cy="402757"/>
            <a:chOff x="0" y="0"/>
            <a:chExt cx="812800" cy="81280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96300"/>
            </a:solidFill>
          </p:spPr>
        </p:sp>
        <p:sp>
          <p:nvSpPr>
            <p:cNvPr name="TextBox 31" id="31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32" id="32"/>
          <p:cNvSpPr/>
          <p:nvPr/>
        </p:nvSpPr>
        <p:spPr>
          <a:xfrm flipH="false" flipV="false" rot="-10800000">
            <a:off x="1724731" y="8462512"/>
            <a:ext cx="106603" cy="205732"/>
          </a:xfrm>
          <a:custGeom>
            <a:avLst/>
            <a:gdLst/>
            <a:ahLst/>
            <a:cxnLst/>
            <a:rect r="r" b="b" t="t" l="l"/>
            <a:pathLst>
              <a:path h="205732" w="106603">
                <a:moveTo>
                  <a:pt x="0" y="0"/>
                </a:moveTo>
                <a:lnTo>
                  <a:pt x="106603" y="0"/>
                </a:lnTo>
                <a:lnTo>
                  <a:pt x="106603" y="205732"/>
                </a:lnTo>
                <a:lnTo>
                  <a:pt x="0" y="20573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-301015" b="0"/>
            </a:stretch>
          </a:blipFill>
        </p:spPr>
      </p:sp>
      <p:sp>
        <p:nvSpPr>
          <p:cNvPr name="TextBox 33" id="33"/>
          <p:cNvSpPr txBox="true"/>
          <p:nvPr/>
        </p:nvSpPr>
        <p:spPr>
          <a:xfrm rot="0">
            <a:off x="2013201" y="8398691"/>
            <a:ext cx="7979219" cy="352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49"/>
              </a:lnSpc>
            </a:pPr>
            <a:r>
              <a:rPr lang="en-US" sz="2499" b="true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Comunicação e acompanhamento constante.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-149961">
            <a:off x="-30578" y="8445560"/>
            <a:ext cx="867930" cy="2999683"/>
            <a:chOff x="0" y="0"/>
            <a:chExt cx="228591" cy="7900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28591" cy="790040"/>
            </a:xfrm>
            <a:custGeom>
              <a:avLst/>
              <a:gdLst/>
              <a:ahLst/>
              <a:cxnLst/>
              <a:rect r="r" b="b" t="t" l="l"/>
              <a:pathLst>
                <a:path h="790040" w="228591">
                  <a:moveTo>
                    <a:pt x="0" y="0"/>
                  </a:moveTo>
                  <a:lnTo>
                    <a:pt x="228591" y="0"/>
                  </a:lnTo>
                  <a:lnTo>
                    <a:pt x="228591" y="790040"/>
                  </a:lnTo>
                  <a:lnTo>
                    <a:pt x="0" y="790040"/>
                  </a:lnTo>
                  <a:close/>
                </a:path>
              </a:pathLst>
            </a:custGeom>
            <a:solidFill>
              <a:srgbClr val="369936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85725"/>
              <a:ext cx="228591" cy="87576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64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4025804">
            <a:off x="-2464705" y="7225431"/>
            <a:ext cx="10691222" cy="4610589"/>
          </a:xfrm>
          <a:custGeom>
            <a:avLst/>
            <a:gdLst/>
            <a:ahLst/>
            <a:cxnLst/>
            <a:rect r="r" b="b" t="t" l="l"/>
            <a:pathLst>
              <a:path h="4610589" w="10691222">
                <a:moveTo>
                  <a:pt x="0" y="0"/>
                </a:moveTo>
                <a:lnTo>
                  <a:pt x="10691221" y="0"/>
                </a:lnTo>
                <a:lnTo>
                  <a:pt x="10691221" y="4610589"/>
                </a:lnTo>
                <a:lnTo>
                  <a:pt x="0" y="461058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5833167">
            <a:off x="11349455" y="1793292"/>
            <a:ext cx="10691222" cy="4610589"/>
          </a:xfrm>
          <a:custGeom>
            <a:avLst/>
            <a:gdLst/>
            <a:ahLst/>
            <a:cxnLst/>
            <a:rect r="r" b="b" t="t" l="l"/>
            <a:pathLst>
              <a:path h="4610589" w="10691222">
                <a:moveTo>
                  <a:pt x="0" y="0"/>
                </a:moveTo>
                <a:lnTo>
                  <a:pt x="10691221" y="0"/>
                </a:lnTo>
                <a:lnTo>
                  <a:pt x="10691221" y="4610589"/>
                </a:lnTo>
                <a:lnTo>
                  <a:pt x="0" y="461058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635995" y="3259137"/>
            <a:ext cx="15016009" cy="49136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735"/>
              </a:lnSpc>
            </a:pPr>
            <a:r>
              <a:rPr lang="en-US" b="true" sz="6500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Juntos, </a:t>
            </a:r>
            <a:r>
              <a:rPr lang="en-US" b="true" sz="6500" u="sng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transformamos oportunidades em conquistas</a:t>
            </a:r>
            <a:r>
              <a:rPr lang="en-US" b="true" sz="6500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, elevando seu negócio a novos patamares de sucesso no agronegócio!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16914213" y="619639"/>
            <a:ext cx="859394" cy="492537"/>
          </a:xfrm>
          <a:custGeom>
            <a:avLst/>
            <a:gdLst/>
            <a:ahLst/>
            <a:cxnLst/>
            <a:rect r="r" b="b" t="t" l="l"/>
            <a:pathLst>
              <a:path h="492537" w="859394">
                <a:moveTo>
                  <a:pt x="0" y="0"/>
                </a:moveTo>
                <a:lnTo>
                  <a:pt x="859394" y="0"/>
                </a:lnTo>
                <a:lnTo>
                  <a:pt x="859394" y="492537"/>
                </a:lnTo>
                <a:lnTo>
                  <a:pt x="0" y="49253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-120431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8459184" y="619639"/>
            <a:ext cx="1369631" cy="1922105"/>
          </a:xfrm>
          <a:custGeom>
            <a:avLst/>
            <a:gdLst/>
            <a:ahLst/>
            <a:cxnLst/>
            <a:rect r="r" b="b" t="t" l="l"/>
            <a:pathLst>
              <a:path h="1922105" w="1369631">
                <a:moveTo>
                  <a:pt x="0" y="0"/>
                </a:moveTo>
                <a:lnTo>
                  <a:pt x="1369632" y="0"/>
                </a:lnTo>
                <a:lnTo>
                  <a:pt x="1369632" y="1922105"/>
                </a:lnTo>
                <a:lnTo>
                  <a:pt x="0" y="192210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699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6937223" cy="10287000"/>
            <a:chOff x="0" y="0"/>
            <a:chExt cx="9249630" cy="13716000"/>
          </a:xfrm>
        </p:grpSpPr>
        <p:pic>
          <p:nvPicPr>
            <p:cNvPr name="Picture 3" id="3"/>
            <p:cNvPicPr>
              <a:picLocks noChangeAspect="true"/>
            </p:cNvPicPr>
            <p:nvPr/>
          </p:nvPicPr>
          <p:blipFill>
            <a:blip r:embed="rId2"/>
            <a:srcRect l="27416" t="0" r="25883" b="0"/>
            <a:stretch>
              <a:fillRect/>
            </a:stretch>
          </p:blipFill>
          <p:spPr>
            <a:xfrm flipH="false" flipV="false">
              <a:off x="0" y="0"/>
              <a:ext cx="9249630" cy="13716000"/>
            </a:xfrm>
            <a:prstGeom prst="rect">
              <a:avLst/>
            </a:prstGeom>
          </p:spPr>
        </p:pic>
      </p:grpSp>
      <p:grpSp>
        <p:nvGrpSpPr>
          <p:cNvPr name="Group 4" id="4"/>
          <p:cNvGrpSpPr/>
          <p:nvPr/>
        </p:nvGrpSpPr>
        <p:grpSpPr>
          <a:xfrm rot="1534178">
            <a:off x="6350691" y="7965034"/>
            <a:ext cx="1122298" cy="3638805"/>
            <a:chOff x="0" y="0"/>
            <a:chExt cx="295585" cy="95836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95585" cy="958368"/>
            </a:xfrm>
            <a:custGeom>
              <a:avLst/>
              <a:gdLst/>
              <a:ahLst/>
              <a:cxnLst/>
              <a:rect r="r" b="b" t="t" l="l"/>
              <a:pathLst>
                <a:path h="958368" w="295585">
                  <a:moveTo>
                    <a:pt x="147792" y="0"/>
                  </a:moveTo>
                  <a:lnTo>
                    <a:pt x="147792" y="0"/>
                  </a:lnTo>
                  <a:cubicBezTo>
                    <a:pt x="229416" y="0"/>
                    <a:pt x="295585" y="66169"/>
                    <a:pt x="295585" y="147792"/>
                  </a:cubicBezTo>
                  <a:lnTo>
                    <a:pt x="295585" y="810576"/>
                  </a:lnTo>
                  <a:cubicBezTo>
                    <a:pt x="295585" y="849773"/>
                    <a:pt x="280014" y="887364"/>
                    <a:pt x="252297" y="915081"/>
                  </a:cubicBezTo>
                  <a:cubicBezTo>
                    <a:pt x="224581" y="942797"/>
                    <a:pt x="186989" y="958368"/>
                    <a:pt x="147792" y="958368"/>
                  </a:cubicBezTo>
                  <a:lnTo>
                    <a:pt x="147792" y="958368"/>
                  </a:lnTo>
                  <a:cubicBezTo>
                    <a:pt x="108595" y="958368"/>
                    <a:pt x="71004" y="942797"/>
                    <a:pt x="43287" y="915081"/>
                  </a:cubicBezTo>
                  <a:cubicBezTo>
                    <a:pt x="15571" y="887364"/>
                    <a:pt x="0" y="849773"/>
                    <a:pt x="0" y="810576"/>
                  </a:cubicBezTo>
                  <a:lnTo>
                    <a:pt x="0" y="147792"/>
                  </a:lnTo>
                  <a:cubicBezTo>
                    <a:pt x="0" y="108595"/>
                    <a:pt x="15571" y="71004"/>
                    <a:pt x="43287" y="43287"/>
                  </a:cubicBezTo>
                  <a:cubicBezTo>
                    <a:pt x="71004" y="15571"/>
                    <a:pt x="108595" y="0"/>
                    <a:pt x="147792" y="0"/>
                  </a:cubicBezTo>
                  <a:close/>
                </a:path>
              </a:pathLst>
            </a:custGeom>
            <a:solidFill>
              <a:srgbClr val="369936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85725"/>
              <a:ext cx="295585" cy="104409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64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-940489">
            <a:off x="6803421" y="2073065"/>
            <a:ext cx="1122298" cy="3638805"/>
            <a:chOff x="0" y="0"/>
            <a:chExt cx="295585" cy="958368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95585" cy="958368"/>
            </a:xfrm>
            <a:custGeom>
              <a:avLst/>
              <a:gdLst/>
              <a:ahLst/>
              <a:cxnLst/>
              <a:rect r="r" b="b" t="t" l="l"/>
              <a:pathLst>
                <a:path h="958368" w="295585">
                  <a:moveTo>
                    <a:pt x="147792" y="0"/>
                  </a:moveTo>
                  <a:lnTo>
                    <a:pt x="147792" y="0"/>
                  </a:lnTo>
                  <a:cubicBezTo>
                    <a:pt x="229416" y="0"/>
                    <a:pt x="295585" y="66169"/>
                    <a:pt x="295585" y="147792"/>
                  </a:cubicBezTo>
                  <a:lnTo>
                    <a:pt x="295585" y="810576"/>
                  </a:lnTo>
                  <a:cubicBezTo>
                    <a:pt x="295585" y="849773"/>
                    <a:pt x="280014" y="887364"/>
                    <a:pt x="252297" y="915081"/>
                  </a:cubicBezTo>
                  <a:cubicBezTo>
                    <a:pt x="224581" y="942797"/>
                    <a:pt x="186989" y="958368"/>
                    <a:pt x="147792" y="958368"/>
                  </a:cubicBezTo>
                  <a:lnTo>
                    <a:pt x="147792" y="958368"/>
                  </a:lnTo>
                  <a:cubicBezTo>
                    <a:pt x="108595" y="958368"/>
                    <a:pt x="71004" y="942797"/>
                    <a:pt x="43287" y="915081"/>
                  </a:cubicBezTo>
                  <a:cubicBezTo>
                    <a:pt x="15571" y="887364"/>
                    <a:pt x="0" y="849773"/>
                    <a:pt x="0" y="810576"/>
                  </a:cubicBezTo>
                  <a:lnTo>
                    <a:pt x="0" y="147792"/>
                  </a:lnTo>
                  <a:cubicBezTo>
                    <a:pt x="0" y="108595"/>
                    <a:pt x="15571" y="71004"/>
                    <a:pt x="43287" y="43287"/>
                  </a:cubicBezTo>
                  <a:cubicBezTo>
                    <a:pt x="71004" y="15571"/>
                    <a:pt x="108595" y="0"/>
                    <a:pt x="147792" y="0"/>
                  </a:cubicBezTo>
                  <a:close/>
                </a:path>
              </a:pathLst>
            </a:custGeom>
            <a:solidFill>
              <a:srgbClr val="369936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85725"/>
              <a:ext cx="295585" cy="104409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64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102869">
            <a:off x="6324218" y="-499638"/>
            <a:ext cx="876384" cy="2826660"/>
            <a:chOff x="0" y="0"/>
            <a:chExt cx="230817" cy="74447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30817" cy="744470"/>
            </a:xfrm>
            <a:custGeom>
              <a:avLst/>
              <a:gdLst/>
              <a:ahLst/>
              <a:cxnLst/>
              <a:rect r="r" b="b" t="t" l="l"/>
              <a:pathLst>
                <a:path h="744470" w="230817">
                  <a:moveTo>
                    <a:pt x="115409" y="0"/>
                  </a:moveTo>
                  <a:lnTo>
                    <a:pt x="115409" y="0"/>
                  </a:lnTo>
                  <a:cubicBezTo>
                    <a:pt x="146017" y="0"/>
                    <a:pt x="175372" y="12159"/>
                    <a:pt x="197015" y="33802"/>
                  </a:cubicBezTo>
                  <a:cubicBezTo>
                    <a:pt x="218658" y="55446"/>
                    <a:pt x="230817" y="84800"/>
                    <a:pt x="230817" y="115409"/>
                  </a:cubicBezTo>
                  <a:lnTo>
                    <a:pt x="230817" y="629061"/>
                  </a:lnTo>
                  <a:cubicBezTo>
                    <a:pt x="230817" y="692800"/>
                    <a:pt x="179147" y="744470"/>
                    <a:pt x="115409" y="744470"/>
                  </a:cubicBezTo>
                  <a:lnTo>
                    <a:pt x="115409" y="744470"/>
                  </a:lnTo>
                  <a:cubicBezTo>
                    <a:pt x="51670" y="744470"/>
                    <a:pt x="0" y="692800"/>
                    <a:pt x="0" y="629061"/>
                  </a:cubicBezTo>
                  <a:lnTo>
                    <a:pt x="0" y="115409"/>
                  </a:lnTo>
                  <a:cubicBezTo>
                    <a:pt x="0" y="51670"/>
                    <a:pt x="51670" y="0"/>
                    <a:pt x="115409" y="0"/>
                  </a:cubicBezTo>
                  <a:close/>
                </a:path>
              </a:pathLst>
            </a:custGeom>
            <a:solidFill>
              <a:srgbClr val="369936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30817" cy="8301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64"/>
                </a:lnSpc>
              </a:pPr>
            </a:p>
          </p:txBody>
        </p:sp>
      </p:grpSp>
      <p:sp>
        <p:nvSpPr>
          <p:cNvPr name="Freeform 13" id="13"/>
          <p:cNvSpPr/>
          <p:nvPr/>
        </p:nvSpPr>
        <p:spPr>
          <a:xfrm flipH="false" flipV="false" rot="5817497">
            <a:off x="356075" y="3645744"/>
            <a:ext cx="13419017" cy="4981810"/>
          </a:xfrm>
          <a:custGeom>
            <a:avLst/>
            <a:gdLst/>
            <a:ahLst/>
            <a:cxnLst/>
            <a:rect r="r" b="b" t="t" l="l"/>
            <a:pathLst>
              <a:path h="4981810" w="13419017">
                <a:moveTo>
                  <a:pt x="0" y="0"/>
                </a:moveTo>
                <a:lnTo>
                  <a:pt x="13419017" y="0"/>
                </a:lnTo>
                <a:lnTo>
                  <a:pt x="13419017" y="4981810"/>
                </a:lnTo>
                <a:lnTo>
                  <a:pt x="0" y="498181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-5400000">
            <a:off x="16785002" y="1238666"/>
            <a:ext cx="344509" cy="375487"/>
          </a:xfrm>
          <a:custGeom>
            <a:avLst/>
            <a:gdLst/>
            <a:ahLst/>
            <a:cxnLst/>
            <a:rect r="r" b="b" t="t" l="l"/>
            <a:pathLst>
              <a:path h="375487" w="344509">
                <a:moveTo>
                  <a:pt x="0" y="0"/>
                </a:moveTo>
                <a:lnTo>
                  <a:pt x="344509" y="0"/>
                </a:lnTo>
                <a:lnTo>
                  <a:pt x="344509" y="375487"/>
                </a:lnTo>
                <a:lnTo>
                  <a:pt x="0" y="37548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5400000">
            <a:off x="16318646" y="1238666"/>
            <a:ext cx="344509" cy="375487"/>
          </a:xfrm>
          <a:custGeom>
            <a:avLst/>
            <a:gdLst/>
            <a:ahLst/>
            <a:cxnLst/>
            <a:rect r="r" b="b" t="t" l="l"/>
            <a:pathLst>
              <a:path h="375487" w="344509">
                <a:moveTo>
                  <a:pt x="0" y="0"/>
                </a:moveTo>
                <a:lnTo>
                  <a:pt x="344509" y="0"/>
                </a:lnTo>
                <a:lnTo>
                  <a:pt x="344509" y="375487"/>
                </a:lnTo>
                <a:lnTo>
                  <a:pt x="0" y="37548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-5400000">
            <a:off x="15852290" y="1238666"/>
            <a:ext cx="344509" cy="375487"/>
          </a:xfrm>
          <a:custGeom>
            <a:avLst/>
            <a:gdLst/>
            <a:ahLst/>
            <a:cxnLst/>
            <a:rect r="r" b="b" t="t" l="l"/>
            <a:pathLst>
              <a:path h="375487" w="344509">
                <a:moveTo>
                  <a:pt x="0" y="0"/>
                </a:moveTo>
                <a:lnTo>
                  <a:pt x="344509" y="0"/>
                </a:lnTo>
                <a:lnTo>
                  <a:pt x="344509" y="375487"/>
                </a:lnTo>
                <a:lnTo>
                  <a:pt x="0" y="37548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-5400000">
            <a:off x="16344759" y="8446567"/>
            <a:ext cx="1402658" cy="197824"/>
          </a:xfrm>
          <a:custGeom>
            <a:avLst/>
            <a:gdLst/>
            <a:ahLst/>
            <a:cxnLst/>
            <a:rect r="r" b="b" t="t" l="l"/>
            <a:pathLst>
              <a:path h="197824" w="1402658">
                <a:moveTo>
                  <a:pt x="0" y="0"/>
                </a:moveTo>
                <a:lnTo>
                  <a:pt x="1402658" y="0"/>
                </a:lnTo>
                <a:lnTo>
                  <a:pt x="1402658" y="197825"/>
                </a:lnTo>
                <a:lnTo>
                  <a:pt x="0" y="197825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-189365" r="-56964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11898861" y="3461904"/>
            <a:ext cx="2372679" cy="2372679"/>
          </a:xfrm>
          <a:custGeom>
            <a:avLst/>
            <a:gdLst/>
            <a:ahLst/>
            <a:cxnLst/>
            <a:rect r="r" b="b" t="t" l="l"/>
            <a:pathLst>
              <a:path h="2372679" w="2372679">
                <a:moveTo>
                  <a:pt x="0" y="0"/>
                </a:moveTo>
                <a:lnTo>
                  <a:pt x="2372680" y="0"/>
                </a:lnTo>
                <a:lnTo>
                  <a:pt x="2372680" y="2372679"/>
                </a:lnTo>
                <a:lnTo>
                  <a:pt x="0" y="237267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grpSp>
        <p:nvGrpSpPr>
          <p:cNvPr name="Group 19" id="19"/>
          <p:cNvGrpSpPr/>
          <p:nvPr/>
        </p:nvGrpSpPr>
        <p:grpSpPr>
          <a:xfrm rot="0">
            <a:off x="10683267" y="6674289"/>
            <a:ext cx="591092" cy="591092"/>
            <a:chOff x="0" y="0"/>
            <a:chExt cx="152847" cy="152847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52847" cy="152847"/>
            </a:xfrm>
            <a:custGeom>
              <a:avLst/>
              <a:gdLst/>
              <a:ahLst/>
              <a:cxnLst/>
              <a:rect r="r" b="b" t="t" l="l"/>
              <a:pathLst>
                <a:path h="152847" w="152847">
                  <a:moveTo>
                    <a:pt x="76423" y="0"/>
                  </a:moveTo>
                  <a:lnTo>
                    <a:pt x="76423" y="0"/>
                  </a:lnTo>
                  <a:cubicBezTo>
                    <a:pt x="118631" y="0"/>
                    <a:pt x="152847" y="34216"/>
                    <a:pt x="152847" y="76423"/>
                  </a:cubicBezTo>
                  <a:lnTo>
                    <a:pt x="152847" y="76423"/>
                  </a:lnTo>
                  <a:cubicBezTo>
                    <a:pt x="152847" y="96692"/>
                    <a:pt x="144795" y="116131"/>
                    <a:pt x="130463" y="130463"/>
                  </a:cubicBezTo>
                  <a:cubicBezTo>
                    <a:pt x="116131" y="144795"/>
                    <a:pt x="96692" y="152847"/>
                    <a:pt x="76423" y="152847"/>
                  </a:cubicBezTo>
                  <a:lnTo>
                    <a:pt x="76423" y="152847"/>
                  </a:lnTo>
                  <a:cubicBezTo>
                    <a:pt x="56155" y="152847"/>
                    <a:pt x="36716" y="144795"/>
                    <a:pt x="22384" y="130463"/>
                  </a:cubicBezTo>
                  <a:cubicBezTo>
                    <a:pt x="8052" y="116131"/>
                    <a:pt x="0" y="96692"/>
                    <a:pt x="0" y="76423"/>
                  </a:cubicBezTo>
                  <a:lnTo>
                    <a:pt x="0" y="76423"/>
                  </a:lnTo>
                  <a:cubicBezTo>
                    <a:pt x="0" y="56155"/>
                    <a:pt x="8052" y="36716"/>
                    <a:pt x="22384" y="22384"/>
                  </a:cubicBezTo>
                  <a:cubicBezTo>
                    <a:pt x="36716" y="8052"/>
                    <a:pt x="56155" y="0"/>
                    <a:pt x="76423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0"/>
              <a:ext cx="152847" cy="152847"/>
            </a:xfrm>
            <a:prstGeom prst="rect">
              <a:avLst/>
            </a:prstGeom>
          </p:spPr>
          <p:txBody>
            <a:bodyPr anchor="ctr" rtlCol="false" tIns="1239" lIns="1239" bIns="1239" rIns="1239"/>
            <a:lstStyle/>
            <a:p>
              <a:pPr algn="ctr">
                <a:lnSpc>
                  <a:spcPts val="54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0683267" y="7511784"/>
            <a:ext cx="591092" cy="591092"/>
            <a:chOff x="0" y="0"/>
            <a:chExt cx="152847" cy="152847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52847" cy="152847"/>
            </a:xfrm>
            <a:custGeom>
              <a:avLst/>
              <a:gdLst/>
              <a:ahLst/>
              <a:cxnLst/>
              <a:rect r="r" b="b" t="t" l="l"/>
              <a:pathLst>
                <a:path h="152847" w="152847">
                  <a:moveTo>
                    <a:pt x="76423" y="0"/>
                  </a:moveTo>
                  <a:lnTo>
                    <a:pt x="76423" y="0"/>
                  </a:lnTo>
                  <a:cubicBezTo>
                    <a:pt x="118631" y="0"/>
                    <a:pt x="152847" y="34216"/>
                    <a:pt x="152847" y="76423"/>
                  </a:cubicBezTo>
                  <a:lnTo>
                    <a:pt x="152847" y="76423"/>
                  </a:lnTo>
                  <a:cubicBezTo>
                    <a:pt x="152847" y="96692"/>
                    <a:pt x="144795" y="116131"/>
                    <a:pt x="130463" y="130463"/>
                  </a:cubicBezTo>
                  <a:cubicBezTo>
                    <a:pt x="116131" y="144795"/>
                    <a:pt x="96692" y="152847"/>
                    <a:pt x="76423" y="152847"/>
                  </a:cubicBezTo>
                  <a:lnTo>
                    <a:pt x="76423" y="152847"/>
                  </a:lnTo>
                  <a:cubicBezTo>
                    <a:pt x="56155" y="152847"/>
                    <a:pt x="36716" y="144795"/>
                    <a:pt x="22384" y="130463"/>
                  </a:cubicBezTo>
                  <a:cubicBezTo>
                    <a:pt x="8052" y="116131"/>
                    <a:pt x="0" y="96692"/>
                    <a:pt x="0" y="76423"/>
                  </a:cubicBezTo>
                  <a:lnTo>
                    <a:pt x="0" y="76423"/>
                  </a:lnTo>
                  <a:cubicBezTo>
                    <a:pt x="0" y="56155"/>
                    <a:pt x="8052" y="36716"/>
                    <a:pt x="22384" y="22384"/>
                  </a:cubicBezTo>
                  <a:cubicBezTo>
                    <a:pt x="36716" y="8052"/>
                    <a:pt x="56155" y="0"/>
                    <a:pt x="76423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4" id="24"/>
            <p:cNvSpPr txBox="true"/>
            <p:nvPr/>
          </p:nvSpPr>
          <p:spPr>
            <a:xfrm>
              <a:off x="0" y="0"/>
              <a:ext cx="152847" cy="152847"/>
            </a:xfrm>
            <a:prstGeom prst="rect">
              <a:avLst/>
            </a:prstGeom>
          </p:spPr>
          <p:txBody>
            <a:bodyPr anchor="ctr" rtlCol="false" tIns="1239" lIns="1239" bIns="1239" rIns="1239"/>
            <a:lstStyle/>
            <a:p>
              <a:pPr algn="ctr">
                <a:lnSpc>
                  <a:spcPts val="54"/>
                </a:lnSpc>
              </a:pPr>
            </a:p>
          </p:txBody>
        </p:sp>
      </p:grpSp>
      <p:sp>
        <p:nvSpPr>
          <p:cNvPr name="Freeform 25" id="25"/>
          <p:cNvSpPr/>
          <p:nvPr/>
        </p:nvSpPr>
        <p:spPr>
          <a:xfrm flipH="false" flipV="false" rot="0">
            <a:off x="10791791" y="7611817"/>
            <a:ext cx="374043" cy="374043"/>
          </a:xfrm>
          <a:custGeom>
            <a:avLst/>
            <a:gdLst/>
            <a:ahLst/>
            <a:cxnLst/>
            <a:rect r="r" b="b" t="t" l="l"/>
            <a:pathLst>
              <a:path h="374043" w="374043">
                <a:moveTo>
                  <a:pt x="0" y="0"/>
                </a:moveTo>
                <a:lnTo>
                  <a:pt x="374043" y="0"/>
                </a:lnTo>
                <a:lnTo>
                  <a:pt x="374043" y="374043"/>
                </a:lnTo>
                <a:lnTo>
                  <a:pt x="0" y="37404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6" id="26"/>
          <p:cNvSpPr/>
          <p:nvPr/>
        </p:nvSpPr>
        <p:spPr>
          <a:xfrm flipH="false" flipV="false" rot="0">
            <a:off x="10829160" y="6767260"/>
            <a:ext cx="299305" cy="405151"/>
          </a:xfrm>
          <a:custGeom>
            <a:avLst/>
            <a:gdLst/>
            <a:ahLst/>
            <a:cxnLst/>
            <a:rect r="r" b="b" t="t" l="l"/>
            <a:pathLst>
              <a:path h="405151" w="299305">
                <a:moveTo>
                  <a:pt x="0" y="0"/>
                </a:moveTo>
                <a:lnTo>
                  <a:pt x="299305" y="0"/>
                </a:lnTo>
                <a:lnTo>
                  <a:pt x="299305" y="405150"/>
                </a:lnTo>
                <a:lnTo>
                  <a:pt x="0" y="40515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7" id="27"/>
          <p:cNvSpPr txBox="true"/>
          <p:nvPr/>
        </p:nvSpPr>
        <p:spPr>
          <a:xfrm rot="0">
            <a:off x="11440685" y="6938592"/>
            <a:ext cx="3289032" cy="3267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64"/>
              </a:lnSpc>
            </a:pPr>
            <a:r>
              <a:rPr lang="en-US" sz="2114" b="tru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+55 (45) 99143-3790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1440685" y="7776086"/>
            <a:ext cx="3821834" cy="3267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64"/>
              </a:lnSpc>
            </a:pPr>
            <a:r>
              <a:rPr lang="en-US" sz="2114" b="tru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www.texcapital.com.br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1440685" y="6701358"/>
            <a:ext cx="1691337" cy="2086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22"/>
              </a:lnSpc>
            </a:pPr>
            <a:r>
              <a:rPr lang="en-US" sz="1366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Telefone: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1440685" y="7541111"/>
            <a:ext cx="1691337" cy="2086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22"/>
              </a:lnSpc>
            </a:pPr>
            <a:r>
              <a:rPr lang="en-US" sz="1366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Website:</a:t>
            </a:r>
          </a:p>
        </p:txBody>
      </p:sp>
      <p:grpSp>
        <p:nvGrpSpPr>
          <p:cNvPr name="Group 31" id="31"/>
          <p:cNvGrpSpPr/>
          <p:nvPr/>
        </p:nvGrpSpPr>
        <p:grpSpPr>
          <a:xfrm rot="0">
            <a:off x="10683267" y="8350525"/>
            <a:ext cx="591092" cy="591092"/>
            <a:chOff x="0" y="0"/>
            <a:chExt cx="152847" cy="152847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52847" cy="152847"/>
            </a:xfrm>
            <a:custGeom>
              <a:avLst/>
              <a:gdLst/>
              <a:ahLst/>
              <a:cxnLst/>
              <a:rect r="r" b="b" t="t" l="l"/>
              <a:pathLst>
                <a:path h="152847" w="152847">
                  <a:moveTo>
                    <a:pt x="76423" y="0"/>
                  </a:moveTo>
                  <a:lnTo>
                    <a:pt x="76423" y="0"/>
                  </a:lnTo>
                  <a:cubicBezTo>
                    <a:pt x="118631" y="0"/>
                    <a:pt x="152847" y="34216"/>
                    <a:pt x="152847" y="76423"/>
                  </a:cubicBezTo>
                  <a:lnTo>
                    <a:pt x="152847" y="76423"/>
                  </a:lnTo>
                  <a:cubicBezTo>
                    <a:pt x="152847" y="96692"/>
                    <a:pt x="144795" y="116131"/>
                    <a:pt x="130463" y="130463"/>
                  </a:cubicBezTo>
                  <a:cubicBezTo>
                    <a:pt x="116131" y="144795"/>
                    <a:pt x="96692" y="152847"/>
                    <a:pt x="76423" y="152847"/>
                  </a:cubicBezTo>
                  <a:lnTo>
                    <a:pt x="76423" y="152847"/>
                  </a:lnTo>
                  <a:cubicBezTo>
                    <a:pt x="56155" y="152847"/>
                    <a:pt x="36716" y="144795"/>
                    <a:pt x="22384" y="130463"/>
                  </a:cubicBezTo>
                  <a:cubicBezTo>
                    <a:pt x="8052" y="116131"/>
                    <a:pt x="0" y="96692"/>
                    <a:pt x="0" y="76423"/>
                  </a:cubicBezTo>
                  <a:lnTo>
                    <a:pt x="0" y="76423"/>
                  </a:lnTo>
                  <a:cubicBezTo>
                    <a:pt x="0" y="56155"/>
                    <a:pt x="8052" y="36716"/>
                    <a:pt x="22384" y="22384"/>
                  </a:cubicBezTo>
                  <a:cubicBezTo>
                    <a:pt x="36716" y="8052"/>
                    <a:pt x="56155" y="0"/>
                    <a:pt x="76423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3" id="33"/>
            <p:cNvSpPr txBox="true"/>
            <p:nvPr/>
          </p:nvSpPr>
          <p:spPr>
            <a:xfrm>
              <a:off x="0" y="0"/>
              <a:ext cx="152847" cy="152847"/>
            </a:xfrm>
            <a:prstGeom prst="rect">
              <a:avLst/>
            </a:prstGeom>
          </p:spPr>
          <p:txBody>
            <a:bodyPr anchor="ctr" rtlCol="false" tIns="1239" lIns="1239" bIns="1239" rIns="1239"/>
            <a:lstStyle/>
            <a:p>
              <a:pPr algn="ctr">
                <a:lnSpc>
                  <a:spcPts val="54"/>
                </a:lnSpc>
              </a:pPr>
            </a:p>
          </p:txBody>
        </p:sp>
      </p:grpSp>
      <p:sp>
        <p:nvSpPr>
          <p:cNvPr name="Freeform 34" id="34"/>
          <p:cNvSpPr/>
          <p:nvPr/>
        </p:nvSpPr>
        <p:spPr>
          <a:xfrm flipH="false" flipV="false" rot="0">
            <a:off x="10791791" y="8450559"/>
            <a:ext cx="374043" cy="374043"/>
          </a:xfrm>
          <a:custGeom>
            <a:avLst/>
            <a:gdLst/>
            <a:ahLst/>
            <a:cxnLst/>
            <a:rect r="r" b="b" t="t" l="l"/>
            <a:pathLst>
              <a:path h="374043" w="374043">
                <a:moveTo>
                  <a:pt x="0" y="0"/>
                </a:moveTo>
                <a:lnTo>
                  <a:pt x="374043" y="0"/>
                </a:lnTo>
                <a:lnTo>
                  <a:pt x="374043" y="374042"/>
                </a:lnTo>
                <a:lnTo>
                  <a:pt x="0" y="37404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5" id="35"/>
          <p:cNvSpPr txBox="true"/>
          <p:nvPr/>
        </p:nvSpPr>
        <p:spPr>
          <a:xfrm rot="0">
            <a:off x="11440685" y="8614828"/>
            <a:ext cx="5328828" cy="3267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64"/>
              </a:lnSpc>
            </a:pPr>
            <a:r>
              <a:rPr lang="en-US" sz="2114" b="tru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contato@texcapital.com.br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1440685" y="8379852"/>
            <a:ext cx="1691337" cy="2086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22"/>
              </a:lnSpc>
            </a:pPr>
            <a:r>
              <a:rPr lang="en-US" sz="1366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Email: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DAGiGTcvrLU</dc:identifier>
  <dcterms:modified xsi:type="dcterms:W3CDTF">2011-08-01T06:04:30Z</dcterms:modified>
  <cp:revision>1</cp:revision>
  <dc:title>R.CM.001_Apresentação Comercial_v1.0</dc:title>
</cp:coreProperties>
</file>