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Medium" charset="1" panose="000006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11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jpe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jpeg" Type="http://schemas.openxmlformats.org/officeDocument/2006/relationships/image"/><Relationship Id="rId4" Target="../media/image45.jpe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jpeg" Type="http://schemas.openxmlformats.org/officeDocument/2006/relationships/image"/><Relationship Id="rId11" Target="../media/image45.jpeg" Type="http://schemas.openxmlformats.org/officeDocument/2006/relationships/image"/><Relationship Id="rId2" Target="../media/image43.png" Type="http://schemas.openxmlformats.org/officeDocument/2006/relationships/image"/><Relationship Id="rId3" Target="../media/image50.jpeg" Type="http://schemas.openxmlformats.org/officeDocument/2006/relationships/image"/><Relationship Id="rId4" Target="../media/image51.jpe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5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2" Target="../media/image55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98307" y="10095022"/>
            <a:ext cx="14667402" cy="755608"/>
            <a:chOff x="0" y="0"/>
            <a:chExt cx="3863019" cy="199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3020" cy="199008"/>
            </a:xfrm>
            <a:custGeom>
              <a:avLst/>
              <a:gdLst/>
              <a:ahLst/>
              <a:cxnLst/>
              <a:rect r="r" b="b" t="t" l="l"/>
              <a:pathLst>
                <a:path h="199008" w="3863020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42458" y="-563629"/>
            <a:ext cx="14667402" cy="755608"/>
            <a:chOff x="0" y="0"/>
            <a:chExt cx="3863019" cy="199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3020" cy="199008"/>
            </a:xfrm>
            <a:custGeom>
              <a:avLst/>
              <a:gdLst/>
              <a:ahLst/>
              <a:cxnLst/>
              <a:rect r="r" b="b" t="t" l="l"/>
              <a:pathLst>
                <a:path h="199008" w="3863020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0841" y="7820013"/>
            <a:ext cx="591092" cy="591092"/>
            <a:chOff x="0" y="0"/>
            <a:chExt cx="152847" cy="1528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847" cy="152847"/>
            </a:xfrm>
            <a:custGeom>
              <a:avLst/>
              <a:gdLst/>
              <a:ahLst/>
              <a:cxnLst/>
              <a:rect r="r" b="b" t="t" l="l"/>
              <a:pathLst>
                <a:path h="152847" w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anchor="ctr" rtlCol="false" tIns="1239" lIns="1239" bIns="1239" rIns="1239"/>
            <a:lstStyle/>
            <a:p>
              <a:pPr algn="ctr">
                <a:lnSpc>
                  <a:spcPts val="5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0841" y="8657507"/>
            <a:ext cx="591092" cy="591092"/>
            <a:chOff x="0" y="0"/>
            <a:chExt cx="152847" cy="152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847" cy="152847"/>
            </a:xfrm>
            <a:custGeom>
              <a:avLst/>
              <a:gdLst/>
              <a:ahLst/>
              <a:cxnLst/>
              <a:rect r="r" b="b" t="t" l="l"/>
              <a:pathLst>
                <a:path h="152847" w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anchor="ctr" rtlCol="false" tIns="1239" lIns="1239" bIns="1239" rIns="1239"/>
            <a:lstStyle/>
            <a:p>
              <a:pPr algn="ctr">
                <a:lnSpc>
                  <a:spcPts val="5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09366" y="8757540"/>
            <a:ext cx="374043" cy="374043"/>
          </a:xfrm>
          <a:custGeom>
            <a:avLst/>
            <a:gdLst/>
            <a:ahLst/>
            <a:cxnLst/>
            <a:rect r="r" b="b" t="t" l="l"/>
            <a:pathLst>
              <a:path h="374043" w="374043">
                <a:moveTo>
                  <a:pt x="0" y="0"/>
                </a:moveTo>
                <a:lnTo>
                  <a:pt x="374042" y="0"/>
                </a:lnTo>
                <a:lnTo>
                  <a:pt x="374042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46735" y="7912983"/>
            <a:ext cx="299305" cy="405151"/>
          </a:xfrm>
          <a:custGeom>
            <a:avLst/>
            <a:gdLst/>
            <a:ahLst/>
            <a:cxnLst/>
            <a:rect r="r" b="b" t="t" l="l"/>
            <a:pathLst>
              <a:path h="405151" w="299305">
                <a:moveTo>
                  <a:pt x="0" y="0"/>
                </a:moveTo>
                <a:lnTo>
                  <a:pt x="299305" y="0"/>
                </a:lnTo>
                <a:lnTo>
                  <a:pt x="299305" y="405151"/>
                </a:lnTo>
                <a:lnTo>
                  <a:pt x="0" y="40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12593" y="1708926"/>
            <a:ext cx="6869148" cy="686914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2194841">
            <a:off x="-1157454" y="3642667"/>
            <a:ext cx="7435791" cy="7898205"/>
          </a:xfrm>
          <a:custGeom>
            <a:avLst/>
            <a:gdLst/>
            <a:ahLst/>
            <a:cxnLst/>
            <a:rect r="r" b="b" t="t" l="l"/>
            <a:pathLst>
              <a:path h="7898205" w="7435791">
                <a:moveTo>
                  <a:pt x="0" y="0"/>
                </a:moveTo>
                <a:lnTo>
                  <a:pt x="7435792" y="0"/>
                </a:lnTo>
                <a:lnTo>
                  <a:pt x="7435792" y="7898204"/>
                </a:lnTo>
                <a:lnTo>
                  <a:pt x="0" y="7898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t="0" r="-91193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8841186">
            <a:off x="11971146" y="-1323774"/>
            <a:ext cx="7435791" cy="7898205"/>
          </a:xfrm>
          <a:custGeom>
            <a:avLst/>
            <a:gdLst/>
            <a:ahLst/>
            <a:cxnLst/>
            <a:rect r="r" b="b" t="t" l="l"/>
            <a:pathLst>
              <a:path h="7898205" w="7435791">
                <a:moveTo>
                  <a:pt x="0" y="0"/>
                </a:moveTo>
                <a:lnTo>
                  <a:pt x="7435792" y="0"/>
                </a:lnTo>
                <a:lnTo>
                  <a:pt x="7435792" y="7898205"/>
                </a:lnTo>
                <a:lnTo>
                  <a:pt x="0" y="7898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t="0" r="-91193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24152" y="1920486"/>
            <a:ext cx="6446029" cy="644602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786" t="0" r="-378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30317" y="1028700"/>
            <a:ext cx="3511855" cy="351185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3101" y="1221484"/>
            <a:ext cx="3126288" cy="312628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25163" t="0" r="-24929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673745" y="9455432"/>
            <a:ext cx="954994" cy="172116"/>
          </a:xfrm>
          <a:custGeom>
            <a:avLst/>
            <a:gdLst/>
            <a:ahLst/>
            <a:cxnLst/>
            <a:rect r="r" b="b" t="t" l="l"/>
            <a:pathLst>
              <a:path h="172116" w="954994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277995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659261" y="659452"/>
            <a:ext cx="954994" cy="172116"/>
          </a:xfrm>
          <a:custGeom>
            <a:avLst/>
            <a:gdLst/>
            <a:ahLst/>
            <a:cxnLst/>
            <a:rect r="r" b="b" t="t" l="l"/>
            <a:pathLst>
              <a:path h="172116" w="954994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277995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609366" y="542925"/>
            <a:ext cx="1120069" cy="1571876"/>
          </a:xfrm>
          <a:custGeom>
            <a:avLst/>
            <a:gdLst/>
            <a:ahLst/>
            <a:cxnLst/>
            <a:rect r="r" b="b" t="t" l="l"/>
            <a:pathLst>
              <a:path h="1571876" w="1120069">
                <a:moveTo>
                  <a:pt x="0" y="0"/>
                </a:moveTo>
                <a:lnTo>
                  <a:pt x="1120069" y="0"/>
                </a:lnTo>
                <a:lnTo>
                  <a:pt x="1120069" y="1571876"/>
                </a:lnTo>
                <a:lnTo>
                  <a:pt x="0" y="1571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500841" y="3391151"/>
            <a:ext cx="7787034" cy="235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</a:pPr>
            <a:r>
              <a:rPr lang="en-US" sz="8332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</a:t>
            </a:r>
          </a:p>
          <a:p>
            <a:pPr algn="l">
              <a:lnSpc>
                <a:spcPts val="9165"/>
              </a:lnSpc>
            </a:pPr>
            <a:r>
              <a:rPr lang="en-US" sz="8332" b="true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CAPITAL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00841" y="5875901"/>
            <a:ext cx="8518346" cy="42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3" b="true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parte financeira do agronegócio brasileiro.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58260" y="8084315"/>
            <a:ext cx="3289032" cy="3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58260" y="8921810"/>
            <a:ext cx="3821834" cy="3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58260" y="7847081"/>
            <a:ext cx="1691337" cy="2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58260" y="8686834"/>
            <a:ext cx="1691337" cy="2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76576"/>
            <a:ext cx="19387943" cy="3920307"/>
            <a:chOff x="0" y="0"/>
            <a:chExt cx="5106290" cy="1032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06289" cy="1032509"/>
            </a:xfrm>
            <a:custGeom>
              <a:avLst/>
              <a:gdLst/>
              <a:ahLst/>
              <a:cxnLst/>
              <a:rect r="r" b="b" t="t" l="l"/>
              <a:pathLst>
                <a:path h="1032509" w="5106289">
                  <a:moveTo>
                    <a:pt x="0" y="0"/>
                  </a:moveTo>
                  <a:lnTo>
                    <a:pt x="5106289" y="0"/>
                  </a:lnTo>
                  <a:lnTo>
                    <a:pt x="5106289" y="1032509"/>
                  </a:lnTo>
                  <a:lnTo>
                    <a:pt x="0" y="1032509"/>
                  </a:ln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06290" cy="1118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53900" y="-1626742"/>
            <a:ext cx="8734234" cy="10163472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3975"/>
              <a:ext cx="6985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21775" y="-1315033"/>
            <a:ext cx="8198484" cy="954005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2"/>
              <a:stretch>
                <a:fillRect l="-27812" t="0" r="-468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06874" y="3137725"/>
            <a:ext cx="4912422" cy="5716273"/>
            <a:chOff x="0" y="0"/>
            <a:chExt cx="6985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3975"/>
              <a:ext cx="6985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79527" y="3454994"/>
            <a:ext cx="4367117" cy="5081736"/>
            <a:chOff x="0" y="0"/>
            <a:chExt cx="6985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6608" t="-15932" r="0" b="-21578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779059" y="8404647"/>
            <a:ext cx="880475" cy="449352"/>
          </a:xfrm>
          <a:custGeom>
            <a:avLst/>
            <a:gdLst/>
            <a:ahLst/>
            <a:cxnLst/>
            <a:rect r="r" b="b" t="t" l="l"/>
            <a:pathLst>
              <a:path h="449352" w="880475">
                <a:moveTo>
                  <a:pt x="0" y="0"/>
                </a:moveTo>
                <a:lnTo>
                  <a:pt x="880475" y="0"/>
                </a:lnTo>
                <a:lnTo>
                  <a:pt x="880475" y="449351"/>
                </a:lnTo>
                <a:lnTo>
                  <a:pt x="0" y="449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628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5422" y="3030412"/>
            <a:ext cx="8664609" cy="29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solução para seus </a:t>
            </a:r>
            <a:r>
              <a:rPr lang="en-US" b="true" sz="5000" u="sng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desafios financeiros</a:t>
            </a:r>
            <a:r>
              <a:rPr lang="en-US" sz="5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está ao seu alcance.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172932" y="2347395"/>
            <a:ext cx="949366" cy="192614"/>
          </a:xfrm>
          <a:custGeom>
            <a:avLst/>
            <a:gdLst/>
            <a:ahLst/>
            <a:cxnLst/>
            <a:rect r="r" b="b" t="t" l="l"/>
            <a:pathLst>
              <a:path h="192614" w="949366">
                <a:moveTo>
                  <a:pt x="0" y="0"/>
                </a:moveTo>
                <a:lnTo>
                  <a:pt x="949366" y="0"/>
                </a:lnTo>
                <a:lnTo>
                  <a:pt x="949366" y="192614"/>
                </a:lnTo>
                <a:lnTo>
                  <a:pt x="0" y="192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5553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72932" y="2799770"/>
            <a:ext cx="949366" cy="192614"/>
          </a:xfrm>
          <a:custGeom>
            <a:avLst/>
            <a:gdLst/>
            <a:ahLst/>
            <a:cxnLst/>
            <a:rect r="r" b="b" t="t" l="l"/>
            <a:pathLst>
              <a:path h="192614" w="949366">
                <a:moveTo>
                  <a:pt x="0" y="0"/>
                </a:moveTo>
                <a:lnTo>
                  <a:pt x="949366" y="0"/>
                </a:lnTo>
                <a:lnTo>
                  <a:pt x="949366" y="192614"/>
                </a:lnTo>
                <a:lnTo>
                  <a:pt x="0" y="192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5553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63165" y="1307914"/>
            <a:ext cx="949122" cy="1331973"/>
          </a:xfrm>
          <a:custGeom>
            <a:avLst/>
            <a:gdLst/>
            <a:ahLst/>
            <a:cxnLst/>
            <a:rect r="r" b="b" t="t" l="l"/>
            <a:pathLst>
              <a:path h="1331973" w="949122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05422" y="6747297"/>
            <a:ext cx="8664609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5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Descubra como a </a:t>
            </a:r>
            <a:r>
              <a:rPr lang="en-US" b="true" sz="500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 Capital</a:t>
            </a:r>
            <a:r>
              <a:rPr lang="en-US" sz="5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pode ajudar!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21633" y="0"/>
            <a:ext cx="7266367" cy="10287000"/>
            <a:chOff x="0" y="0"/>
            <a:chExt cx="968848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1323" t="0" r="20820" b="0"/>
            <a:stretch>
              <a:fillRect/>
            </a:stretch>
          </p:blipFill>
          <p:spPr>
            <a:xfrm flipH="false" flipV="false">
              <a:off x="0" y="0"/>
              <a:ext cx="9688489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5400000">
            <a:off x="7340829" y="3217725"/>
            <a:ext cx="11029774" cy="4214584"/>
          </a:xfrm>
          <a:custGeom>
            <a:avLst/>
            <a:gdLst/>
            <a:ahLst/>
            <a:cxnLst/>
            <a:rect r="r" b="b" t="t" l="l"/>
            <a:pathLst>
              <a:path h="4214584" w="11029774">
                <a:moveTo>
                  <a:pt x="0" y="0"/>
                </a:moveTo>
                <a:lnTo>
                  <a:pt x="11029774" y="0"/>
                </a:lnTo>
                <a:lnTo>
                  <a:pt x="11029774" y="4214584"/>
                </a:lnTo>
                <a:lnTo>
                  <a:pt x="0" y="421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92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26197" y="777220"/>
            <a:ext cx="870603" cy="331509"/>
          </a:xfrm>
          <a:custGeom>
            <a:avLst/>
            <a:gdLst/>
            <a:ahLst/>
            <a:cxnLst/>
            <a:rect r="r" b="b" t="t" l="l"/>
            <a:pathLst>
              <a:path h="331509" w="870603">
                <a:moveTo>
                  <a:pt x="0" y="0"/>
                </a:moveTo>
                <a:lnTo>
                  <a:pt x="870603" y="0"/>
                </a:lnTo>
                <a:lnTo>
                  <a:pt x="870603" y="331510"/>
                </a:lnTo>
                <a:lnTo>
                  <a:pt x="0" y="331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4645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2369"/>
            <a:ext cx="949122" cy="1331973"/>
          </a:xfrm>
          <a:custGeom>
            <a:avLst/>
            <a:gdLst/>
            <a:ahLst/>
            <a:cxnLst/>
            <a:rect r="r" b="b" t="t" l="l"/>
            <a:pathLst>
              <a:path h="1331973" w="949122">
                <a:moveTo>
                  <a:pt x="0" y="0"/>
                </a:moveTo>
                <a:lnTo>
                  <a:pt x="949122" y="0"/>
                </a:lnTo>
                <a:lnTo>
                  <a:pt x="949122" y="1331974"/>
                </a:lnTo>
                <a:lnTo>
                  <a:pt x="0" y="1331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325781"/>
            <a:ext cx="7666027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Foco no Cliente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420" y="3715269"/>
            <a:ext cx="2716918" cy="4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CONEXÃO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5420" y="4369014"/>
            <a:ext cx="8707935" cy="68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 TEX Capital ajuda seus clientes através de soluções inovadoras, priorizando o </a:t>
            </a:r>
            <a:r>
              <a:rPr lang="en-US" sz="1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atendimento individualizado e personalizado.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420" y="5585045"/>
            <a:ext cx="2716918" cy="4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EFICIÊNCIA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420" y="6238790"/>
            <a:ext cx="8707935" cy="103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 agilidade, nossa equipe é formada por especialistas financeiros com </a:t>
            </a:r>
            <a:r>
              <a:rPr lang="en-US" sz="1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vasta experiência no mercado do agronegócio</a:t>
            </a: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capazes de processar e analisar a situação de cada cliente.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07246"/>
            <a:ext cx="2716918" cy="4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8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460991"/>
            <a:ext cx="8707935" cy="103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Aprimoramos a estrutura financeira de negócios com </a:t>
            </a:r>
            <a:r>
              <a:rPr lang="en-US" sz="1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de gestão e fluxo de caixa</a:t>
            </a:r>
            <a:r>
              <a:rPr lang="en-US" sz="19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capacitando nossos clientes a gerir recursos de forma eficaz e otimizada.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71831"/>
            <a:ext cx="7666027" cy="238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Assessoria</a:t>
            </a:r>
          </a:p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74624" y="-917913"/>
            <a:ext cx="8345549" cy="83455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07111" y="-685426"/>
            <a:ext cx="7880574" cy="788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71999" t="0" r="-38455" b="-4030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43445" y="2748380"/>
            <a:ext cx="4679255" cy="46792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79333" y="2984269"/>
            <a:ext cx="4207478" cy="420747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166" t="0" r="-64017" b="-2078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3763" y="5608706"/>
            <a:ext cx="7680964" cy="385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Nossa </a:t>
            </a:r>
            <a:r>
              <a:rPr lang="en-US" sz="23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Assessoria Financeira</a:t>
            </a: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utiliza engenharia financeira para oferecer soluções personalizadas e análises contínuas que otimizam seu fluxo de caixa.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Apoiamos o planejamento estratégico e capacitamos seu negócio a tomar decisões mais assertivas, promovendo crescimento sustentável.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43445" y="340646"/>
            <a:ext cx="1123219" cy="272381"/>
          </a:xfrm>
          <a:custGeom>
            <a:avLst/>
            <a:gdLst/>
            <a:ahLst/>
            <a:cxnLst/>
            <a:rect r="r" b="b" t="t" l="l"/>
            <a:pathLst>
              <a:path h="272381" w="1123219">
                <a:moveTo>
                  <a:pt x="0" y="0"/>
                </a:moveTo>
                <a:lnTo>
                  <a:pt x="1123219" y="0"/>
                </a:lnTo>
                <a:lnTo>
                  <a:pt x="1123219" y="272381"/>
                </a:lnTo>
                <a:lnTo>
                  <a:pt x="0" y="27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15577" y="5056256"/>
            <a:ext cx="1395907" cy="174488"/>
          </a:xfrm>
          <a:custGeom>
            <a:avLst/>
            <a:gdLst/>
            <a:ahLst/>
            <a:cxnLst/>
            <a:rect r="r" b="b" t="t" l="l"/>
            <a:pathLst>
              <a:path h="174488" w="1395907">
                <a:moveTo>
                  <a:pt x="0" y="0"/>
                </a:moveTo>
                <a:lnTo>
                  <a:pt x="1395908" y="0"/>
                </a:lnTo>
                <a:lnTo>
                  <a:pt x="1395908" y="174488"/>
                </a:lnTo>
                <a:lnTo>
                  <a:pt x="0" y="174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613027"/>
            <a:ext cx="949122" cy="1331973"/>
          </a:xfrm>
          <a:custGeom>
            <a:avLst/>
            <a:gdLst/>
            <a:ahLst/>
            <a:cxnLst/>
            <a:rect r="r" b="b" t="t" l="l"/>
            <a:pathLst>
              <a:path h="1331973" w="949122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91" cy="790040"/>
            </a:xfrm>
            <a:custGeom>
              <a:avLst/>
              <a:gdLst/>
              <a:ahLst/>
              <a:cxnLst/>
              <a:rect r="r" b="b" t="t" l="l"/>
              <a:pathLst>
                <a:path h="790040" w="228591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4025804">
            <a:off x="-2464705" y="7225431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05437"/>
            <a:ext cx="4896634" cy="4209137"/>
            <a:chOff x="0" y="0"/>
            <a:chExt cx="1289649" cy="1108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95683" y="5105437"/>
            <a:ext cx="4896634" cy="4209137"/>
            <a:chOff x="0" y="0"/>
            <a:chExt cx="1289649" cy="11085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833167">
            <a:off x="11349455" y="1793292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362666" y="5105437"/>
            <a:ext cx="4896634" cy="4209137"/>
            <a:chOff x="0" y="0"/>
            <a:chExt cx="1289649" cy="1108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77515" y="4276169"/>
            <a:ext cx="3732970" cy="38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Foto Anual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31518"/>
            <a:ext cx="10642061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9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</a:t>
            </a:r>
          </a:p>
          <a:p>
            <a:pPr algn="l">
              <a:lnSpc>
                <a:spcPts val="11899"/>
              </a:lnSpc>
            </a:pPr>
            <a:r>
              <a:rPr lang="en-US" sz="9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357" y="4276169"/>
            <a:ext cx="3603320" cy="38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 Estrutural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9323" y="4276169"/>
            <a:ext cx="3603320" cy="38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Foto Mensal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0953" y="5535319"/>
            <a:ext cx="3832129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Compreensão das necessidades do cliente e elaborar um diagnóstico a partir dos dados fornecidos para avaliar sua situação financeira de forma geral.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27935" y="5535319"/>
            <a:ext cx="3832129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foto anual do cliente é uma análise baseada em dados estimados, oferecendo uma visão abrangente de sua situação financeira ao longo dos anos.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94918" y="5535319"/>
            <a:ext cx="3832129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foto mensal, detalhada e também baseada em dados estimados, valida os diagnósticos anteriores e oferece visualizações mensais precisas.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914213" y="619639"/>
            <a:ext cx="859394" cy="492537"/>
          </a:xfrm>
          <a:custGeom>
            <a:avLst/>
            <a:gdLst/>
            <a:ahLst/>
            <a:cxnLst/>
            <a:rect r="r" b="b" t="t" l="l"/>
            <a:pathLst>
              <a:path h="492537" w="859394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20431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36422" y="619639"/>
            <a:ext cx="949122" cy="1331973"/>
          </a:xfrm>
          <a:custGeom>
            <a:avLst/>
            <a:gdLst/>
            <a:ahLst/>
            <a:cxnLst/>
            <a:rect r="r" b="b" t="t" l="l"/>
            <a:pathLst>
              <a:path h="1331973" w="949122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91" cy="790040"/>
            </a:xfrm>
            <a:custGeom>
              <a:avLst/>
              <a:gdLst/>
              <a:ahLst/>
              <a:cxnLst/>
              <a:rect r="r" b="b" t="t" l="l"/>
              <a:pathLst>
                <a:path h="790040" w="228591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4025804">
            <a:off x="-2464705" y="7225431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05437"/>
            <a:ext cx="4896634" cy="4209137"/>
            <a:chOff x="0" y="0"/>
            <a:chExt cx="1289649" cy="1108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95683" y="5105437"/>
            <a:ext cx="4896634" cy="4209137"/>
            <a:chOff x="0" y="0"/>
            <a:chExt cx="1289649" cy="11085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833167">
            <a:off x="11349455" y="1793292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362666" y="5105437"/>
            <a:ext cx="4896634" cy="4209137"/>
            <a:chOff x="0" y="0"/>
            <a:chExt cx="1289649" cy="1108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649" cy="1108579"/>
            </a:xfrm>
            <a:custGeom>
              <a:avLst/>
              <a:gdLst/>
              <a:ahLst/>
              <a:cxnLst/>
              <a:rect r="r" b="b" t="t" l="l"/>
              <a:pathLst>
                <a:path h="1108579" w="1289649">
                  <a:moveTo>
                    <a:pt x="41108" y="0"/>
                  </a:moveTo>
                  <a:lnTo>
                    <a:pt x="1248541" y="0"/>
                  </a:lnTo>
                  <a:cubicBezTo>
                    <a:pt x="1259443" y="0"/>
                    <a:pt x="1269899" y="4331"/>
                    <a:pt x="1277608" y="12040"/>
                  </a:cubicBezTo>
                  <a:cubicBezTo>
                    <a:pt x="1285318" y="19749"/>
                    <a:pt x="1289649" y="30205"/>
                    <a:pt x="1289649" y="41108"/>
                  </a:cubicBezTo>
                  <a:lnTo>
                    <a:pt x="1289649" y="1067471"/>
                  </a:lnTo>
                  <a:cubicBezTo>
                    <a:pt x="1289649" y="1078374"/>
                    <a:pt x="1285318" y="1088830"/>
                    <a:pt x="1277608" y="1096539"/>
                  </a:cubicBezTo>
                  <a:cubicBezTo>
                    <a:pt x="1269899" y="1104248"/>
                    <a:pt x="1259443" y="1108579"/>
                    <a:pt x="1248541" y="1108579"/>
                  </a:cubicBezTo>
                  <a:lnTo>
                    <a:pt x="41108" y="1108579"/>
                  </a:lnTo>
                  <a:cubicBezTo>
                    <a:pt x="18405" y="1108579"/>
                    <a:pt x="0" y="1090175"/>
                    <a:pt x="0" y="1067471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289649" cy="11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77515" y="4095395"/>
            <a:ext cx="3732970" cy="77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Acompanhamento e Melhoria Contínua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31518"/>
            <a:ext cx="10642061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9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</a:t>
            </a:r>
          </a:p>
          <a:p>
            <a:pPr algn="l">
              <a:lnSpc>
                <a:spcPts val="11899"/>
              </a:lnSpc>
            </a:pPr>
            <a:r>
              <a:rPr lang="en-US" sz="9999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357" y="4095395"/>
            <a:ext cx="3603320" cy="77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Desenvolvimento de Plano de Ação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9323" y="4095395"/>
            <a:ext cx="3603320" cy="77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36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Implementação de Sotware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0953" y="5535319"/>
            <a:ext cx="4081992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Identificamos oportunidades para o cliente e, com base nisso, criamos e validamos juntos um plano de ação, garantindo uma execução eficaz e alinhada às suas necessidades.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27935" y="5535319"/>
            <a:ext cx="3782550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acompanhamento do plano de ação garante a eficácia das estratégias, permitindo ajustes e avaliando continuamente o cenário financeiro do cliente.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94918" y="5535319"/>
            <a:ext cx="4019295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implementação de software é essencial para a segurança dos dados. Acompanhamos a transição dos dados para garantir análises atualizadas e precisas.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914213" y="619639"/>
            <a:ext cx="859394" cy="492537"/>
          </a:xfrm>
          <a:custGeom>
            <a:avLst/>
            <a:gdLst/>
            <a:ahLst/>
            <a:cxnLst/>
            <a:rect r="r" b="b" t="t" l="l"/>
            <a:pathLst>
              <a:path h="492537" w="859394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20431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36422" y="619639"/>
            <a:ext cx="949122" cy="1331973"/>
          </a:xfrm>
          <a:custGeom>
            <a:avLst/>
            <a:gdLst/>
            <a:ahLst/>
            <a:cxnLst/>
            <a:rect r="r" b="b" t="t" l="l"/>
            <a:pathLst>
              <a:path h="1331973" w="949122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7610" y="-1637263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560912">
            <a:off x="13203247" y="-362452"/>
            <a:ext cx="7572472" cy="3445481"/>
          </a:xfrm>
          <a:custGeom>
            <a:avLst/>
            <a:gdLst/>
            <a:ahLst/>
            <a:cxnLst/>
            <a:rect r="r" b="b" t="t" l="l"/>
            <a:pathLst>
              <a:path h="3445481" w="7572472">
                <a:moveTo>
                  <a:pt x="0" y="0"/>
                </a:moveTo>
                <a:lnTo>
                  <a:pt x="7572471" y="0"/>
                </a:lnTo>
                <a:lnTo>
                  <a:pt x="7572471" y="3445481"/>
                </a:lnTo>
                <a:lnTo>
                  <a:pt x="0" y="344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25" t="-28460" r="-2384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08346"/>
            <a:ext cx="514163" cy="5141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7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315550"/>
            <a:ext cx="514163" cy="5141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10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8194147"/>
            <a:ext cx="514163" cy="51416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C32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271568" y="643669"/>
            <a:ext cx="455169" cy="232705"/>
          </a:xfrm>
          <a:custGeom>
            <a:avLst/>
            <a:gdLst/>
            <a:ahLst/>
            <a:cxnLst/>
            <a:rect r="r" b="b" t="t" l="l"/>
            <a:pathLst>
              <a:path h="232705" w="455169">
                <a:moveTo>
                  <a:pt x="0" y="0"/>
                </a:moveTo>
                <a:lnTo>
                  <a:pt x="455169" y="0"/>
                </a:lnTo>
                <a:lnTo>
                  <a:pt x="455169" y="232706"/>
                </a:lnTo>
                <a:lnTo>
                  <a:pt x="0" y="232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754198" y="6281546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754198" y="7470467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1754198" y="8354862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3"/>
                </a:lnTo>
                <a:lnTo>
                  <a:pt x="0" y="20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8302" y="643669"/>
            <a:ext cx="1060213" cy="1487876"/>
          </a:xfrm>
          <a:custGeom>
            <a:avLst/>
            <a:gdLst/>
            <a:ahLst/>
            <a:cxnLst/>
            <a:rect r="r" b="b" t="t" l="l"/>
            <a:pathLst>
              <a:path h="1487876" w="1060213">
                <a:moveTo>
                  <a:pt x="0" y="0"/>
                </a:moveTo>
                <a:lnTo>
                  <a:pt x="1060214" y="0"/>
                </a:lnTo>
                <a:lnTo>
                  <a:pt x="1060214" y="1487876"/>
                </a:lnTo>
                <a:lnTo>
                  <a:pt x="0" y="14878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5213182"/>
            <a:ext cx="514163" cy="51416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0800000">
            <a:off x="1754198" y="5386382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3"/>
                </a:lnTo>
                <a:lnTo>
                  <a:pt x="0" y="20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21141" y="2912109"/>
            <a:ext cx="7178373" cy="5796202"/>
          </a:xfrm>
          <a:custGeom>
            <a:avLst/>
            <a:gdLst/>
            <a:ahLst/>
            <a:cxnLst/>
            <a:rect r="r" b="b" t="t" l="l"/>
            <a:pathLst>
              <a:path h="5796202" w="7178373">
                <a:moveTo>
                  <a:pt x="0" y="0"/>
                </a:moveTo>
                <a:lnTo>
                  <a:pt x="7178374" y="0"/>
                </a:lnTo>
                <a:lnTo>
                  <a:pt x="7178374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2512545"/>
            <a:ext cx="7395652" cy="245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9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Ferramentade Gestão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3201" y="6149153"/>
            <a:ext cx="7630747" cy="89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7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Rentabilidade por cultura e atividade econômica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3201" y="7362156"/>
            <a:ext cx="7130799" cy="4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7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Plataforma digital e suporte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13201" y="8246552"/>
            <a:ext cx="8455540" cy="4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7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Gestão organizada de dados financeiros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13201" y="5253990"/>
            <a:ext cx="7630747" cy="4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7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Software Parceiro: </a:t>
            </a:r>
            <a:r>
              <a:rPr lang="en-US" sz="307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 - eProdutor®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9070261"/>
            <a:ext cx="514163" cy="51416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DE4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10800000">
            <a:off x="1754198" y="9230976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013201" y="9122665"/>
            <a:ext cx="8455540" cy="4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7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Análise de cenários gerais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9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8538" y="3653679"/>
            <a:ext cx="8099184" cy="809918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82913" y="3879303"/>
            <a:ext cx="7647936" cy="76479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4786" t="0" r="-4478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101513" y="3118175"/>
            <a:ext cx="3853459" cy="38534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AB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05863" y="3322526"/>
            <a:ext cx="3444758" cy="344475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96329" y="3236801"/>
            <a:ext cx="998092" cy="207104"/>
          </a:xfrm>
          <a:custGeom>
            <a:avLst/>
            <a:gdLst/>
            <a:ahLst/>
            <a:cxnLst/>
            <a:rect r="r" b="b" t="t" l="l"/>
            <a:pathLst>
              <a:path h="207104" w="998092">
                <a:moveTo>
                  <a:pt x="0" y="0"/>
                </a:moveTo>
                <a:lnTo>
                  <a:pt x="998092" y="0"/>
                </a:lnTo>
                <a:lnTo>
                  <a:pt x="998092" y="207104"/>
                </a:lnTo>
                <a:lnTo>
                  <a:pt x="0" y="207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67001" y="9469333"/>
            <a:ext cx="1283620" cy="204793"/>
          </a:xfrm>
          <a:custGeom>
            <a:avLst/>
            <a:gdLst/>
            <a:ahLst/>
            <a:cxnLst/>
            <a:rect r="r" b="b" t="t" l="l"/>
            <a:pathLst>
              <a:path h="204793" w="1283620">
                <a:moveTo>
                  <a:pt x="0" y="0"/>
                </a:moveTo>
                <a:lnTo>
                  <a:pt x="1283620" y="0"/>
                </a:lnTo>
                <a:lnTo>
                  <a:pt x="1283620" y="204793"/>
                </a:lnTo>
                <a:lnTo>
                  <a:pt x="0" y="204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73" t="0" r="-36766" b="-25255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69120" y="493992"/>
            <a:ext cx="1637612" cy="1637612"/>
          </a:xfrm>
          <a:custGeom>
            <a:avLst/>
            <a:gdLst/>
            <a:ahLst/>
            <a:cxnLst/>
            <a:rect r="r" b="b" t="t" l="l"/>
            <a:pathLst>
              <a:path h="1637612" w="1637612">
                <a:moveTo>
                  <a:pt x="0" y="0"/>
                </a:moveTo>
                <a:lnTo>
                  <a:pt x="1637612" y="0"/>
                </a:lnTo>
                <a:lnTo>
                  <a:pt x="1637612" y="1637612"/>
                </a:lnTo>
                <a:lnTo>
                  <a:pt x="0" y="16376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8250" y="780780"/>
            <a:ext cx="6453185" cy="114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5"/>
              </a:lnSpc>
            </a:pPr>
            <a:r>
              <a:rPr lang="en-US" sz="803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Diferenciais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32973" y="2248983"/>
            <a:ext cx="446610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Segurança de Dados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32973" y="4664753"/>
            <a:ext cx="6234525" cy="41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61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Ferramentas de Análise e Gestão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32973" y="7083194"/>
            <a:ext cx="8473151" cy="41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61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Olhar Através de Instituições Financeiras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2973" y="2907922"/>
            <a:ext cx="9291957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 garantir a máxima segurança e confidencialidade, implementamos protocolos de segurança para garantir a confidencialidade das informações.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2973" y="5323692"/>
            <a:ext cx="9739390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Utilizamos ferramentas internas que permitem a análise detalhada de dados financeiros específicos de cada cliente, facilitando o planejamento e a tomada de decisões.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32973" y="7742133"/>
            <a:ext cx="997375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Nossos especialistas trazem uma visão combinada da perspectiva do cliente e das instituições financeiras, garantindo a escolha do cliente pelas melhores opções dentro do mercado financeiro.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9868" y="-1300903"/>
            <a:ext cx="9217341" cy="8376258"/>
          </a:xfrm>
          <a:custGeom>
            <a:avLst/>
            <a:gdLst/>
            <a:ahLst/>
            <a:cxnLst/>
            <a:rect r="r" b="b" t="t" l="l"/>
            <a:pathLst>
              <a:path h="8376258" w="9217341">
                <a:moveTo>
                  <a:pt x="0" y="0"/>
                </a:moveTo>
                <a:lnTo>
                  <a:pt x="9217340" y="0"/>
                </a:lnTo>
                <a:lnTo>
                  <a:pt x="9217340" y="8376259"/>
                </a:lnTo>
                <a:lnTo>
                  <a:pt x="0" y="8376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13876" y="-304313"/>
            <a:ext cx="7321305" cy="6339920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3542" y="0"/>
              <a:ext cx="4195356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95356">
                  <a:moveTo>
                    <a:pt x="2939859" y="0"/>
                  </a:moveTo>
                  <a:lnTo>
                    <a:pt x="1255497" y="0"/>
                  </a:lnTo>
                  <a:cubicBezTo>
                    <a:pt x="1114144" y="0"/>
                    <a:pt x="983527" y="75408"/>
                    <a:pt x="912846" y="197821"/>
                  </a:cubicBezTo>
                  <a:lnTo>
                    <a:pt x="70680" y="1656379"/>
                  </a:lnTo>
                  <a:cubicBezTo>
                    <a:pt x="0" y="1778789"/>
                    <a:pt x="0" y="1929611"/>
                    <a:pt x="70680" y="2052021"/>
                  </a:cubicBezTo>
                  <a:lnTo>
                    <a:pt x="912846" y="3510578"/>
                  </a:lnTo>
                  <a:cubicBezTo>
                    <a:pt x="983527" y="3632991"/>
                    <a:pt x="1114144" y="3708400"/>
                    <a:pt x="1255497" y="3708400"/>
                  </a:cubicBezTo>
                  <a:lnTo>
                    <a:pt x="2939859" y="3708400"/>
                  </a:lnTo>
                  <a:cubicBezTo>
                    <a:pt x="3081212" y="3708400"/>
                    <a:pt x="3211829" y="3632991"/>
                    <a:pt x="3282510" y="3510578"/>
                  </a:cubicBezTo>
                  <a:lnTo>
                    <a:pt x="4124676" y="2052021"/>
                  </a:lnTo>
                  <a:cubicBezTo>
                    <a:pt x="4195356" y="1929611"/>
                    <a:pt x="4195356" y="1778789"/>
                    <a:pt x="4124676" y="1656379"/>
                  </a:cubicBezTo>
                  <a:lnTo>
                    <a:pt x="3282510" y="197821"/>
                  </a:lnTo>
                  <a:cubicBezTo>
                    <a:pt x="3211829" y="75408"/>
                    <a:pt x="3081212" y="0"/>
                    <a:pt x="2939859" y="0"/>
                  </a:cubicBezTo>
                  <a:close/>
                </a:path>
              </a:pathLst>
            </a:custGeom>
            <a:blipFill>
              <a:blip r:embed="rId3"/>
              <a:stretch>
                <a:fillRect l="-4766" t="0" r="-29032" b="0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47384" y="1927980"/>
            <a:ext cx="6749481" cy="6133591"/>
          </a:xfrm>
          <a:custGeom>
            <a:avLst/>
            <a:gdLst/>
            <a:ahLst/>
            <a:cxnLst/>
            <a:rect r="r" b="b" t="t" l="l"/>
            <a:pathLst>
              <a:path h="6133591" w="6749481">
                <a:moveTo>
                  <a:pt x="0" y="0"/>
                </a:moveTo>
                <a:lnTo>
                  <a:pt x="6749481" y="0"/>
                </a:lnTo>
                <a:lnTo>
                  <a:pt x="6749481" y="6133591"/>
                </a:lnTo>
                <a:lnTo>
                  <a:pt x="0" y="6133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53" y="2321398"/>
            <a:ext cx="5870265" cy="5083385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305" y="0"/>
              <a:ext cx="4173831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73831">
                  <a:moveTo>
                    <a:pt x="2872631" y="0"/>
                  </a:moveTo>
                  <a:lnTo>
                    <a:pt x="1301199" y="0"/>
                  </a:lnTo>
                  <a:cubicBezTo>
                    <a:pt x="1124905" y="0"/>
                    <a:pt x="962002" y="94048"/>
                    <a:pt x="873850" y="246720"/>
                  </a:cubicBezTo>
                  <a:lnTo>
                    <a:pt x="88150" y="1607480"/>
                  </a:lnTo>
                  <a:cubicBezTo>
                    <a:pt x="0" y="1760149"/>
                    <a:pt x="0" y="1948251"/>
                    <a:pt x="88150" y="2100920"/>
                  </a:cubicBezTo>
                  <a:lnTo>
                    <a:pt x="873850" y="3461680"/>
                  </a:lnTo>
                  <a:cubicBezTo>
                    <a:pt x="962002" y="3614352"/>
                    <a:pt x="1124905" y="3708400"/>
                    <a:pt x="1301199" y="3708400"/>
                  </a:cubicBezTo>
                  <a:lnTo>
                    <a:pt x="2872632" y="3708400"/>
                  </a:lnTo>
                  <a:cubicBezTo>
                    <a:pt x="3048925" y="3708400"/>
                    <a:pt x="3211828" y="3614352"/>
                    <a:pt x="3299981" y="3461680"/>
                  </a:cubicBezTo>
                  <a:lnTo>
                    <a:pt x="4085680" y="2100920"/>
                  </a:lnTo>
                  <a:cubicBezTo>
                    <a:pt x="4173830" y="1948251"/>
                    <a:pt x="4173830" y="1760149"/>
                    <a:pt x="4085680" y="1607480"/>
                  </a:cubicBezTo>
                  <a:lnTo>
                    <a:pt x="3299980" y="246720"/>
                  </a:lnTo>
                  <a:cubicBezTo>
                    <a:pt x="3211828" y="94048"/>
                    <a:pt x="3048925" y="0"/>
                    <a:pt x="2872631" y="0"/>
                  </a:cubicBezTo>
                  <a:close/>
                </a:path>
              </a:pathLst>
            </a:custGeom>
            <a:blipFill>
              <a:blip r:embed="rId4"/>
              <a:stretch>
                <a:fillRect l="-17389" t="0" r="-17389" b="0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564138" y="5808934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43585" y="5808934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0340" y="5808934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35196"/>
            <a:ext cx="8708195" cy="233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Benefícios </a:t>
            </a:r>
          </a:p>
          <a:p>
            <a:pPr algn="l">
              <a:lnSpc>
                <a:spcPts val="4000"/>
              </a:lnSpc>
            </a:pPr>
            <a:r>
              <a:rPr lang="en-US" sz="8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o Cliente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1143" y="1329354"/>
            <a:ext cx="826076" cy="34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14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95157" y="6026123"/>
            <a:ext cx="74922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Visualização de Gargalos, Ganhos e Custos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9581" y="5997311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3269" y="6728892"/>
            <a:ext cx="8682937" cy="106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Mapeamos onde estão os gargalos, assim como identificamos os ganhos e custos financeiros, permitindo ajustes individualizados e precisos.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388307" y="8728447"/>
            <a:ext cx="156144" cy="227099"/>
          </a:xfrm>
          <a:custGeom>
            <a:avLst/>
            <a:gdLst/>
            <a:ahLst/>
            <a:cxnLst/>
            <a:rect r="r" b="b" t="t" l="l"/>
            <a:pathLst>
              <a:path h="227099" w="156144">
                <a:moveTo>
                  <a:pt x="0" y="0"/>
                </a:moveTo>
                <a:lnTo>
                  <a:pt x="156145" y="0"/>
                </a:lnTo>
                <a:lnTo>
                  <a:pt x="156145" y="227100"/>
                </a:lnTo>
                <a:lnTo>
                  <a:pt x="0" y="227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8888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874813" y="8482676"/>
            <a:ext cx="768975" cy="1079160"/>
          </a:xfrm>
          <a:custGeom>
            <a:avLst/>
            <a:gdLst/>
            <a:ahLst/>
            <a:cxnLst/>
            <a:rect r="r" b="b" t="t" l="l"/>
            <a:pathLst>
              <a:path h="1079160" w="768975">
                <a:moveTo>
                  <a:pt x="0" y="0"/>
                </a:moveTo>
                <a:lnTo>
                  <a:pt x="768974" y="0"/>
                </a:lnTo>
                <a:lnTo>
                  <a:pt x="768974" y="1079159"/>
                </a:lnTo>
                <a:lnTo>
                  <a:pt x="0" y="10791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604878" y="7946822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384325" y="7946822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1081" y="7946822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35898" y="8164011"/>
            <a:ext cx="74731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Construção de Cenários e Previsibilidade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0322" y="8135199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2319" y="8858256"/>
            <a:ext cx="8682937" cy="70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Utilizamos ferramentas que proporcionam previsibilidade e avaliação de cenários dentro de diversas situações do mercado.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564138" y="31630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343585" y="31630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80340" y="31630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95157" y="3380260"/>
            <a:ext cx="63754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Engenharia Financeira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581" y="3351448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3478" y="4084030"/>
            <a:ext cx="8663887" cy="142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Aplicamos técnicas de engenharia financeira para desenvolver soluções inovadoras que otimizam suas estratégias de financiamento e investimento, ampliando a lucratividade e a competitividade da sua empresa.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9868" y="-1300903"/>
            <a:ext cx="9217341" cy="8376258"/>
          </a:xfrm>
          <a:custGeom>
            <a:avLst/>
            <a:gdLst/>
            <a:ahLst/>
            <a:cxnLst/>
            <a:rect r="r" b="b" t="t" l="l"/>
            <a:pathLst>
              <a:path h="8376258" w="9217341">
                <a:moveTo>
                  <a:pt x="0" y="0"/>
                </a:moveTo>
                <a:lnTo>
                  <a:pt x="9217340" y="0"/>
                </a:lnTo>
                <a:lnTo>
                  <a:pt x="9217340" y="8376259"/>
                </a:lnTo>
                <a:lnTo>
                  <a:pt x="0" y="8376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13876" y="-304313"/>
            <a:ext cx="7321305" cy="6339920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3542" y="0"/>
              <a:ext cx="4195356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95356">
                  <a:moveTo>
                    <a:pt x="2939859" y="0"/>
                  </a:moveTo>
                  <a:lnTo>
                    <a:pt x="1255497" y="0"/>
                  </a:lnTo>
                  <a:cubicBezTo>
                    <a:pt x="1114144" y="0"/>
                    <a:pt x="983527" y="75408"/>
                    <a:pt x="912846" y="197821"/>
                  </a:cubicBezTo>
                  <a:lnTo>
                    <a:pt x="70680" y="1656379"/>
                  </a:lnTo>
                  <a:cubicBezTo>
                    <a:pt x="0" y="1778789"/>
                    <a:pt x="0" y="1929611"/>
                    <a:pt x="70680" y="2052021"/>
                  </a:cubicBezTo>
                  <a:lnTo>
                    <a:pt x="912846" y="3510578"/>
                  </a:lnTo>
                  <a:cubicBezTo>
                    <a:pt x="983527" y="3632991"/>
                    <a:pt x="1114144" y="3708400"/>
                    <a:pt x="1255497" y="3708400"/>
                  </a:cubicBezTo>
                  <a:lnTo>
                    <a:pt x="2939859" y="3708400"/>
                  </a:lnTo>
                  <a:cubicBezTo>
                    <a:pt x="3081212" y="3708400"/>
                    <a:pt x="3211829" y="3632991"/>
                    <a:pt x="3282510" y="3510578"/>
                  </a:cubicBezTo>
                  <a:lnTo>
                    <a:pt x="4124676" y="2052021"/>
                  </a:lnTo>
                  <a:cubicBezTo>
                    <a:pt x="4195356" y="1929611"/>
                    <a:pt x="4195356" y="1778789"/>
                    <a:pt x="4124676" y="1656379"/>
                  </a:cubicBezTo>
                  <a:lnTo>
                    <a:pt x="3282510" y="197821"/>
                  </a:lnTo>
                  <a:cubicBezTo>
                    <a:pt x="3211829" y="75408"/>
                    <a:pt x="3081212" y="0"/>
                    <a:pt x="2939859" y="0"/>
                  </a:cubicBezTo>
                  <a:close/>
                </a:path>
              </a:pathLst>
            </a:custGeom>
            <a:blipFill>
              <a:blip r:embed="rId3"/>
              <a:stretch>
                <a:fillRect l="-45839" t="0" r="-1471" b="-10166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47384" y="1927980"/>
            <a:ext cx="6749481" cy="6133591"/>
          </a:xfrm>
          <a:custGeom>
            <a:avLst/>
            <a:gdLst/>
            <a:ahLst/>
            <a:cxnLst/>
            <a:rect r="r" b="b" t="t" l="l"/>
            <a:pathLst>
              <a:path h="6133591" w="6749481">
                <a:moveTo>
                  <a:pt x="0" y="0"/>
                </a:moveTo>
                <a:lnTo>
                  <a:pt x="6749481" y="0"/>
                </a:lnTo>
                <a:lnTo>
                  <a:pt x="6749481" y="6133591"/>
                </a:lnTo>
                <a:lnTo>
                  <a:pt x="0" y="6133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53" y="2321398"/>
            <a:ext cx="5870265" cy="5083385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305" y="0"/>
              <a:ext cx="4173831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73831">
                  <a:moveTo>
                    <a:pt x="2872631" y="0"/>
                  </a:moveTo>
                  <a:lnTo>
                    <a:pt x="1301199" y="0"/>
                  </a:lnTo>
                  <a:cubicBezTo>
                    <a:pt x="1124905" y="0"/>
                    <a:pt x="962002" y="94048"/>
                    <a:pt x="873850" y="246720"/>
                  </a:cubicBezTo>
                  <a:lnTo>
                    <a:pt x="88150" y="1607480"/>
                  </a:lnTo>
                  <a:cubicBezTo>
                    <a:pt x="0" y="1760149"/>
                    <a:pt x="0" y="1948251"/>
                    <a:pt x="88150" y="2100920"/>
                  </a:cubicBezTo>
                  <a:lnTo>
                    <a:pt x="873850" y="3461680"/>
                  </a:lnTo>
                  <a:cubicBezTo>
                    <a:pt x="962002" y="3614352"/>
                    <a:pt x="1124905" y="3708400"/>
                    <a:pt x="1301199" y="3708400"/>
                  </a:cubicBezTo>
                  <a:lnTo>
                    <a:pt x="2872632" y="3708400"/>
                  </a:lnTo>
                  <a:cubicBezTo>
                    <a:pt x="3048925" y="3708400"/>
                    <a:pt x="3211828" y="3614352"/>
                    <a:pt x="3299981" y="3461680"/>
                  </a:cubicBezTo>
                  <a:lnTo>
                    <a:pt x="4085680" y="2100920"/>
                  </a:lnTo>
                  <a:cubicBezTo>
                    <a:pt x="4173830" y="1948251"/>
                    <a:pt x="4173830" y="1760149"/>
                    <a:pt x="4085680" y="1607480"/>
                  </a:cubicBezTo>
                  <a:lnTo>
                    <a:pt x="3299980" y="246720"/>
                  </a:lnTo>
                  <a:cubicBezTo>
                    <a:pt x="3211828" y="94048"/>
                    <a:pt x="3048925" y="0"/>
                    <a:pt x="2872631" y="0"/>
                  </a:cubicBezTo>
                  <a:close/>
                </a:path>
              </a:pathLst>
            </a:custGeom>
            <a:blipFill>
              <a:blip r:embed="rId4"/>
              <a:stretch>
                <a:fillRect l="-17221" t="0" r="-17221" b="0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712498" y="33218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91945" y="33218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3321871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35196"/>
            <a:ext cx="8708195" cy="233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Benefícios </a:t>
            </a:r>
          </a:p>
          <a:p>
            <a:pPr algn="l">
              <a:lnSpc>
                <a:spcPts val="4000"/>
              </a:lnSpc>
            </a:pPr>
            <a:r>
              <a:rPr lang="en-US" sz="8000" b="true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o Cliente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1143" y="1329354"/>
            <a:ext cx="826076" cy="34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14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3517" y="3539060"/>
            <a:ext cx="71264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Melhora da Capacidade de Investimento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7941" y="3510248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2240" y="4237567"/>
            <a:ext cx="8683484" cy="106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Maximização dos recursos, permitindo investimentos mais estratégicos e eficientes que impulsionam o crescimento e a expansão de suas operações.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5902" y="8642688"/>
            <a:ext cx="1471222" cy="75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62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Website: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88307" y="8728447"/>
            <a:ext cx="156144" cy="227099"/>
          </a:xfrm>
          <a:custGeom>
            <a:avLst/>
            <a:gdLst/>
            <a:ahLst/>
            <a:cxnLst/>
            <a:rect r="r" b="b" t="t" l="l"/>
            <a:pathLst>
              <a:path h="227099" w="156144">
                <a:moveTo>
                  <a:pt x="0" y="0"/>
                </a:moveTo>
                <a:lnTo>
                  <a:pt x="156145" y="0"/>
                </a:lnTo>
                <a:lnTo>
                  <a:pt x="156145" y="227100"/>
                </a:lnTo>
                <a:lnTo>
                  <a:pt x="0" y="227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8888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74813" y="8482676"/>
            <a:ext cx="768975" cy="1079160"/>
          </a:xfrm>
          <a:custGeom>
            <a:avLst/>
            <a:gdLst/>
            <a:ahLst/>
            <a:cxnLst/>
            <a:rect r="r" b="b" t="t" l="l"/>
            <a:pathLst>
              <a:path h="1079160" w="768975">
                <a:moveTo>
                  <a:pt x="0" y="0"/>
                </a:moveTo>
                <a:lnTo>
                  <a:pt x="768974" y="0"/>
                </a:lnTo>
                <a:lnTo>
                  <a:pt x="768974" y="1079159"/>
                </a:lnTo>
                <a:lnTo>
                  <a:pt x="0" y="10791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731548" y="5459759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10995" y="5459759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7750" y="5459759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62567" y="5676948"/>
            <a:ext cx="63754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Fortalecimento da Saúde Financeira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6991" y="5648136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6991" y="6376590"/>
            <a:ext cx="8663887" cy="106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assessoria financeira ajuda a consolidar a saúde financeira de seus clientes, proporcionando fluxo de caixa estável e sustentabilidade a longo prazo.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731548" y="7599918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510995" y="7599918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6" y="0"/>
                </a:lnTo>
                <a:lnTo>
                  <a:pt x="4223226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47750" y="7599918"/>
            <a:ext cx="4223227" cy="797134"/>
          </a:xfrm>
          <a:custGeom>
            <a:avLst/>
            <a:gdLst/>
            <a:ahLst/>
            <a:cxnLst/>
            <a:rect r="r" b="b" t="t" l="l"/>
            <a:pathLst>
              <a:path h="797134" w="4223227">
                <a:moveTo>
                  <a:pt x="0" y="0"/>
                </a:moveTo>
                <a:lnTo>
                  <a:pt x="4223227" y="0"/>
                </a:lnTo>
                <a:lnTo>
                  <a:pt x="4223227" y="797134"/>
                </a:lnTo>
                <a:lnTo>
                  <a:pt x="0" y="79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462567" y="7817107"/>
            <a:ext cx="63754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Proteção Contra Riscos Financeiros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6991" y="7788295"/>
            <a:ext cx="499663" cy="4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3063" b="true">
                <a:solidFill>
                  <a:srgbClr val="4578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838" y="8520877"/>
            <a:ext cx="8663887" cy="106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Implementamos estratégias para identificar, avaliar e mitigar riscos financeiros, protegendo sua empresa contra volatilidades de mercado e garantindo maior segurança para suas operações.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213876" y="-304313"/>
            <a:ext cx="7321305" cy="6339920"/>
            <a:chOff x="0" y="0"/>
            <a:chExt cx="4282440" cy="370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3542" y="0"/>
              <a:ext cx="4195356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95356">
                  <a:moveTo>
                    <a:pt x="2939859" y="0"/>
                  </a:moveTo>
                  <a:lnTo>
                    <a:pt x="1255497" y="0"/>
                  </a:lnTo>
                  <a:cubicBezTo>
                    <a:pt x="1114144" y="0"/>
                    <a:pt x="983527" y="75408"/>
                    <a:pt x="912846" y="197821"/>
                  </a:cubicBezTo>
                  <a:lnTo>
                    <a:pt x="70680" y="1656379"/>
                  </a:lnTo>
                  <a:cubicBezTo>
                    <a:pt x="0" y="1778789"/>
                    <a:pt x="0" y="1929611"/>
                    <a:pt x="70680" y="2052021"/>
                  </a:cubicBezTo>
                  <a:lnTo>
                    <a:pt x="912846" y="3510578"/>
                  </a:lnTo>
                  <a:cubicBezTo>
                    <a:pt x="983527" y="3632991"/>
                    <a:pt x="1114144" y="3708400"/>
                    <a:pt x="1255497" y="3708400"/>
                  </a:cubicBezTo>
                  <a:lnTo>
                    <a:pt x="2939859" y="3708400"/>
                  </a:lnTo>
                  <a:cubicBezTo>
                    <a:pt x="3081212" y="3708400"/>
                    <a:pt x="3211829" y="3632991"/>
                    <a:pt x="3282510" y="3510578"/>
                  </a:cubicBezTo>
                  <a:lnTo>
                    <a:pt x="4124676" y="2052021"/>
                  </a:lnTo>
                  <a:cubicBezTo>
                    <a:pt x="4195356" y="1929611"/>
                    <a:pt x="4195356" y="1778789"/>
                    <a:pt x="4124676" y="1656379"/>
                  </a:cubicBezTo>
                  <a:lnTo>
                    <a:pt x="3282510" y="197821"/>
                  </a:lnTo>
                  <a:cubicBezTo>
                    <a:pt x="3211829" y="75408"/>
                    <a:pt x="3081212" y="0"/>
                    <a:pt x="2939859" y="0"/>
                  </a:cubicBezTo>
                  <a:close/>
                </a:path>
              </a:pathLst>
            </a:custGeom>
            <a:blipFill>
              <a:blip r:embed="rId10"/>
              <a:stretch>
                <a:fillRect l="-4766" t="0" r="-29032" b="0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657753" y="2321398"/>
            <a:ext cx="5870265" cy="5083385"/>
            <a:chOff x="0" y="0"/>
            <a:chExt cx="4282440" cy="3708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4305" y="0"/>
              <a:ext cx="4173831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73831">
                  <a:moveTo>
                    <a:pt x="2872631" y="0"/>
                  </a:moveTo>
                  <a:lnTo>
                    <a:pt x="1301199" y="0"/>
                  </a:lnTo>
                  <a:cubicBezTo>
                    <a:pt x="1124905" y="0"/>
                    <a:pt x="962002" y="94048"/>
                    <a:pt x="873850" y="246720"/>
                  </a:cubicBezTo>
                  <a:lnTo>
                    <a:pt x="88150" y="1607480"/>
                  </a:lnTo>
                  <a:cubicBezTo>
                    <a:pt x="0" y="1760149"/>
                    <a:pt x="0" y="1948251"/>
                    <a:pt x="88150" y="2100920"/>
                  </a:cubicBezTo>
                  <a:lnTo>
                    <a:pt x="873850" y="3461680"/>
                  </a:lnTo>
                  <a:cubicBezTo>
                    <a:pt x="962002" y="3614352"/>
                    <a:pt x="1124905" y="3708400"/>
                    <a:pt x="1301199" y="3708400"/>
                  </a:cubicBezTo>
                  <a:lnTo>
                    <a:pt x="2872632" y="3708400"/>
                  </a:lnTo>
                  <a:cubicBezTo>
                    <a:pt x="3048925" y="3708400"/>
                    <a:pt x="3211828" y="3614352"/>
                    <a:pt x="3299981" y="3461680"/>
                  </a:cubicBezTo>
                  <a:lnTo>
                    <a:pt x="4085680" y="2100920"/>
                  </a:lnTo>
                  <a:cubicBezTo>
                    <a:pt x="4173830" y="1948251"/>
                    <a:pt x="4173830" y="1760149"/>
                    <a:pt x="4085680" y="1607480"/>
                  </a:cubicBezTo>
                  <a:lnTo>
                    <a:pt x="3299980" y="246720"/>
                  </a:lnTo>
                  <a:cubicBezTo>
                    <a:pt x="3211828" y="94048"/>
                    <a:pt x="3048925" y="0"/>
                    <a:pt x="2872631" y="0"/>
                  </a:cubicBezTo>
                  <a:close/>
                </a:path>
              </a:pathLst>
            </a:custGeom>
            <a:blipFill>
              <a:blip r:embed="rId11"/>
              <a:stretch>
                <a:fillRect l="-17389" t="0" r="-17389" b="0"/>
              </a:stretch>
            </a:blipFill>
            <a:ln w="238125" cap="rnd">
              <a:solidFill>
                <a:srgbClr val="369936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21633" y="0"/>
            <a:ext cx="7266367" cy="10287000"/>
            <a:chOff x="0" y="0"/>
            <a:chExt cx="968848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8239" t="0" r="24698" b="0"/>
            <a:stretch>
              <a:fillRect/>
            </a:stretch>
          </p:blipFill>
          <p:spPr>
            <a:xfrm flipH="false" flipV="false">
              <a:off x="0" y="0"/>
              <a:ext cx="9688489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5400000">
            <a:off x="7340829" y="3217725"/>
            <a:ext cx="11029774" cy="4214584"/>
          </a:xfrm>
          <a:custGeom>
            <a:avLst/>
            <a:gdLst/>
            <a:ahLst/>
            <a:cxnLst/>
            <a:rect r="r" b="b" t="t" l="l"/>
            <a:pathLst>
              <a:path h="4214584" w="11029774">
                <a:moveTo>
                  <a:pt x="0" y="0"/>
                </a:moveTo>
                <a:lnTo>
                  <a:pt x="11029774" y="0"/>
                </a:lnTo>
                <a:lnTo>
                  <a:pt x="11029774" y="4214584"/>
                </a:lnTo>
                <a:lnTo>
                  <a:pt x="0" y="421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92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24804" y="1028700"/>
            <a:ext cx="1111830" cy="1189123"/>
          </a:xfrm>
          <a:custGeom>
            <a:avLst/>
            <a:gdLst/>
            <a:ahLst/>
            <a:cxnLst/>
            <a:rect r="r" b="b" t="t" l="l"/>
            <a:pathLst>
              <a:path h="1189123" w="1111830">
                <a:moveTo>
                  <a:pt x="0" y="0"/>
                </a:moveTo>
                <a:lnTo>
                  <a:pt x="1111831" y="0"/>
                </a:lnTo>
                <a:lnTo>
                  <a:pt x="1111831" y="1189123"/>
                </a:lnTo>
                <a:lnTo>
                  <a:pt x="0" y="1189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26197" y="777220"/>
            <a:ext cx="870603" cy="331509"/>
          </a:xfrm>
          <a:custGeom>
            <a:avLst/>
            <a:gdLst/>
            <a:ahLst/>
            <a:cxnLst/>
            <a:rect r="r" b="b" t="t" l="l"/>
            <a:pathLst>
              <a:path h="331509" w="870603">
                <a:moveTo>
                  <a:pt x="0" y="0"/>
                </a:moveTo>
                <a:lnTo>
                  <a:pt x="870603" y="0"/>
                </a:lnTo>
                <a:lnTo>
                  <a:pt x="870603" y="331510"/>
                </a:lnTo>
                <a:lnTo>
                  <a:pt x="0" y="331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4645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41349"/>
            <a:ext cx="768975" cy="1079160"/>
          </a:xfrm>
          <a:custGeom>
            <a:avLst/>
            <a:gdLst/>
            <a:ahLst/>
            <a:cxnLst/>
            <a:rect r="r" b="b" t="t" l="l"/>
            <a:pathLst>
              <a:path h="1079160" w="768975">
                <a:moveTo>
                  <a:pt x="0" y="0"/>
                </a:moveTo>
                <a:lnTo>
                  <a:pt x="768975" y="0"/>
                </a:lnTo>
                <a:lnTo>
                  <a:pt x="768975" y="1079160"/>
                </a:lnTo>
                <a:lnTo>
                  <a:pt x="0" y="1079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8778" y="2377904"/>
            <a:ext cx="7666027" cy="225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5BA0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será sua jornada?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0106" y="5213182"/>
            <a:ext cx="402757" cy="4027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724731" y="5311695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13201" y="5247873"/>
            <a:ext cx="76307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Alinhamento de expectativas e objetivos;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0106" y="5977890"/>
            <a:ext cx="402757" cy="40275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0800000">
            <a:off x="1724731" y="6076402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3"/>
                </a:lnTo>
                <a:lnTo>
                  <a:pt x="0" y="2057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13201" y="5939235"/>
            <a:ext cx="763074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Fornecimento de documentos financeiros para análise financeira;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0106" y="6948885"/>
            <a:ext cx="402757" cy="40275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10800000">
            <a:off x="1724731" y="7047397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3"/>
                </a:lnTo>
                <a:lnTo>
                  <a:pt x="0" y="2057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13201" y="6983576"/>
            <a:ext cx="76307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Análise detalhada dos dados;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0106" y="7656442"/>
            <a:ext cx="402757" cy="40275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10800000">
            <a:off x="1724731" y="7754955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013201" y="7691133"/>
            <a:ext cx="797921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Definição de objetivos financeiros e estratégias;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40106" y="8364000"/>
            <a:ext cx="402757" cy="40275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10800000">
            <a:off x="1724731" y="8462512"/>
            <a:ext cx="106603" cy="205732"/>
          </a:xfrm>
          <a:custGeom>
            <a:avLst/>
            <a:gdLst/>
            <a:ahLst/>
            <a:cxnLst/>
            <a:rect r="r" b="b" t="t" l="l"/>
            <a:pathLst>
              <a:path h="205732" w="106603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01015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013201" y="8398691"/>
            <a:ext cx="797921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Comunicação e acompanhamento constante.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49961">
            <a:off x="-30578" y="8445560"/>
            <a:ext cx="867930" cy="2999683"/>
            <a:chOff x="0" y="0"/>
            <a:chExt cx="228591" cy="790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91" cy="790040"/>
            </a:xfrm>
            <a:custGeom>
              <a:avLst/>
              <a:gdLst/>
              <a:ahLst/>
              <a:cxnLst/>
              <a:rect r="r" b="b" t="t" l="l"/>
              <a:pathLst>
                <a:path h="790040" w="228591">
                  <a:moveTo>
                    <a:pt x="0" y="0"/>
                  </a:moveTo>
                  <a:lnTo>
                    <a:pt x="228591" y="0"/>
                  </a:lnTo>
                  <a:lnTo>
                    <a:pt x="228591" y="790040"/>
                  </a:lnTo>
                  <a:lnTo>
                    <a:pt x="0" y="790040"/>
                  </a:ln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8591" cy="8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4025804">
            <a:off x="-2464705" y="7225431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33167">
            <a:off x="11349455" y="1793292"/>
            <a:ext cx="10691222" cy="4610589"/>
          </a:xfrm>
          <a:custGeom>
            <a:avLst/>
            <a:gdLst/>
            <a:ahLst/>
            <a:cxnLst/>
            <a:rect r="r" b="b" t="t" l="l"/>
            <a:pathLst>
              <a:path h="4610589" w="10691222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5995" y="3259137"/>
            <a:ext cx="15016009" cy="49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b="true" sz="650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Juntos, </a:t>
            </a:r>
            <a:r>
              <a:rPr lang="en-US" b="true" sz="6500" u="sng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transformamos oportunidades em conquistas</a:t>
            </a:r>
            <a:r>
              <a:rPr lang="en-US" b="true" sz="650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elevando seu negócio a novos patamares de sucesso no agronegócio!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14213" y="619639"/>
            <a:ext cx="859394" cy="492537"/>
          </a:xfrm>
          <a:custGeom>
            <a:avLst/>
            <a:gdLst/>
            <a:ahLst/>
            <a:cxnLst/>
            <a:rect r="r" b="b" t="t" l="l"/>
            <a:pathLst>
              <a:path h="492537" w="859394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2043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59184" y="619639"/>
            <a:ext cx="1369631" cy="1922105"/>
          </a:xfrm>
          <a:custGeom>
            <a:avLst/>
            <a:gdLst/>
            <a:ahLst/>
            <a:cxnLst/>
            <a:rect r="r" b="b" t="t" l="l"/>
            <a:pathLst>
              <a:path h="1922105" w="1369631">
                <a:moveTo>
                  <a:pt x="0" y="0"/>
                </a:moveTo>
                <a:lnTo>
                  <a:pt x="1369632" y="0"/>
                </a:lnTo>
                <a:lnTo>
                  <a:pt x="1369632" y="1922105"/>
                </a:lnTo>
                <a:lnTo>
                  <a:pt x="0" y="1922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9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37223" cy="10287000"/>
            <a:chOff x="0" y="0"/>
            <a:chExt cx="924963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7416" t="0" r="25883" b="0"/>
            <a:stretch>
              <a:fillRect/>
            </a:stretch>
          </p:blipFill>
          <p:spPr>
            <a:xfrm flipH="false" flipV="false">
              <a:off x="0" y="0"/>
              <a:ext cx="924963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1534178">
            <a:off x="6350691" y="7965034"/>
            <a:ext cx="1122298" cy="3638805"/>
            <a:chOff x="0" y="0"/>
            <a:chExt cx="295585" cy="9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5585" cy="958368"/>
            </a:xfrm>
            <a:custGeom>
              <a:avLst/>
              <a:gdLst/>
              <a:ahLst/>
              <a:cxnLst/>
              <a:rect r="r" b="b" t="t" l="l"/>
              <a:pathLst>
                <a:path h="958368" w="295585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940489">
            <a:off x="6803421" y="2073065"/>
            <a:ext cx="1122298" cy="3638805"/>
            <a:chOff x="0" y="0"/>
            <a:chExt cx="295585" cy="958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585" cy="958368"/>
            </a:xfrm>
            <a:custGeom>
              <a:avLst/>
              <a:gdLst/>
              <a:ahLst/>
              <a:cxnLst/>
              <a:rect r="r" b="b" t="t" l="l"/>
              <a:pathLst>
                <a:path h="958368" w="295585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02869">
            <a:off x="6324218" y="-499638"/>
            <a:ext cx="876384" cy="2826660"/>
            <a:chOff x="0" y="0"/>
            <a:chExt cx="230817" cy="744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817" cy="744470"/>
            </a:xfrm>
            <a:custGeom>
              <a:avLst/>
              <a:gdLst/>
              <a:ahLst/>
              <a:cxnLst/>
              <a:rect r="r" b="b" t="t" l="l"/>
              <a:pathLst>
                <a:path h="744470" w="230817">
                  <a:moveTo>
                    <a:pt x="115409" y="0"/>
                  </a:moveTo>
                  <a:lnTo>
                    <a:pt x="115409" y="0"/>
                  </a:lnTo>
                  <a:cubicBezTo>
                    <a:pt x="146017" y="0"/>
                    <a:pt x="175372" y="12159"/>
                    <a:pt x="197015" y="33802"/>
                  </a:cubicBezTo>
                  <a:cubicBezTo>
                    <a:pt x="218658" y="55446"/>
                    <a:pt x="230817" y="84800"/>
                    <a:pt x="230817" y="115409"/>
                  </a:cubicBezTo>
                  <a:lnTo>
                    <a:pt x="230817" y="629061"/>
                  </a:lnTo>
                  <a:cubicBezTo>
                    <a:pt x="230817" y="692800"/>
                    <a:pt x="179147" y="744470"/>
                    <a:pt x="115409" y="744470"/>
                  </a:cubicBezTo>
                  <a:lnTo>
                    <a:pt x="115409" y="744470"/>
                  </a:lnTo>
                  <a:cubicBezTo>
                    <a:pt x="51670" y="744470"/>
                    <a:pt x="0" y="692800"/>
                    <a:pt x="0" y="629061"/>
                  </a:cubicBezTo>
                  <a:lnTo>
                    <a:pt x="0" y="115409"/>
                  </a:lnTo>
                  <a:cubicBezTo>
                    <a:pt x="0" y="51670"/>
                    <a:pt x="51670" y="0"/>
                    <a:pt x="115409" y="0"/>
                  </a:cubicBezTo>
                  <a:close/>
                </a:path>
              </a:pathLst>
            </a:custGeom>
            <a:solidFill>
              <a:srgbClr val="36993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30817" cy="830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817497">
            <a:off x="356075" y="3645744"/>
            <a:ext cx="13419017" cy="4981810"/>
          </a:xfrm>
          <a:custGeom>
            <a:avLst/>
            <a:gdLst/>
            <a:ahLst/>
            <a:cxnLst/>
            <a:rect r="r" b="b" t="t" l="l"/>
            <a:pathLst>
              <a:path h="4981810" w="13419017">
                <a:moveTo>
                  <a:pt x="0" y="0"/>
                </a:moveTo>
                <a:lnTo>
                  <a:pt x="13419017" y="0"/>
                </a:lnTo>
                <a:lnTo>
                  <a:pt x="13419017" y="4981810"/>
                </a:lnTo>
                <a:lnTo>
                  <a:pt x="0" y="4981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6785002" y="1238666"/>
            <a:ext cx="344509" cy="375487"/>
          </a:xfrm>
          <a:custGeom>
            <a:avLst/>
            <a:gdLst/>
            <a:ahLst/>
            <a:cxnLst/>
            <a:rect r="r" b="b" t="t" l="l"/>
            <a:pathLst>
              <a:path h="375487" w="344509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318646" y="1238666"/>
            <a:ext cx="344509" cy="375487"/>
          </a:xfrm>
          <a:custGeom>
            <a:avLst/>
            <a:gdLst/>
            <a:ahLst/>
            <a:cxnLst/>
            <a:rect r="r" b="b" t="t" l="l"/>
            <a:pathLst>
              <a:path h="375487" w="344509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852290" y="1238666"/>
            <a:ext cx="344509" cy="375487"/>
          </a:xfrm>
          <a:custGeom>
            <a:avLst/>
            <a:gdLst/>
            <a:ahLst/>
            <a:cxnLst/>
            <a:rect r="r" b="b" t="t" l="l"/>
            <a:pathLst>
              <a:path h="375487" w="344509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16344759" y="8446567"/>
            <a:ext cx="1402658" cy="197824"/>
          </a:xfrm>
          <a:custGeom>
            <a:avLst/>
            <a:gdLst/>
            <a:ahLst/>
            <a:cxnLst/>
            <a:rect r="r" b="b" t="t" l="l"/>
            <a:pathLst>
              <a:path h="197824" w="1402658">
                <a:moveTo>
                  <a:pt x="0" y="0"/>
                </a:moveTo>
                <a:lnTo>
                  <a:pt x="1402658" y="0"/>
                </a:lnTo>
                <a:lnTo>
                  <a:pt x="1402658" y="197825"/>
                </a:lnTo>
                <a:lnTo>
                  <a:pt x="0" y="197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9365" r="-56964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98861" y="3461904"/>
            <a:ext cx="2372679" cy="2372679"/>
          </a:xfrm>
          <a:custGeom>
            <a:avLst/>
            <a:gdLst/>
            <a:ahLst/>
            <a:cxnLst/>
            <a:rect r="r" b="b" t="t" l="l"/>
            <a:pathLst>
              <a:path h="2372679" w="2372679">
                <a:moveTo>
                  <a:pt x="0" y="0"/>
                </a:moveTo>
                <a:lnTo>
                  <a:pt x="2372680" y="0"/>
                </a:lnTo>
                <a:lnTo>
                  <a:pt x="2372680" y="2372679"/>
                </a:lnTo>
                <a:lnTo>
                  <a:pt x="0" y="23726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683267" y="6674289"/>
            <a:ext cx="591092" cy="591092"/>
            <a:chOff x="0" y="0"/>
            <a:chExt cx="152847" cy="1528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847" cy="152847"/>
            </a:xfrm>
            <a:custGeom>
              <a:avLst/>
              <a:gdLst/>
              <a:ahLst/>
              <a:cxnLst/>
              <a:rect r="r" b="b" t="t" l="l"/>
              <a:pathLst>
                <a:path h="152847" w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anchor="ctr" rtlCol="false" tIns="1239" lIns="1239" bIns="1239" rIns="1239"/>
            <a:lstStyle/>
            <a:p>
              <a:pPr algn="ctr">
                <a:lnSpc>
                  <a:spcPts val="5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83267" y="7511784"/>
            <a:ext cx="591092" cy="591092"/>
            <a:chOff x="0" y="0"/>
            <a:chExt cx="152847" cy="1528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847" cy="152847"/>
            </a:xfrm>
            <a:custGeom>
              <a:avLst/>
              <a:gdLst/>
              <a:ahLst/>
              <a:cxnLst/>
              <a:rect r="r" b="b" t="t" l="l"/>
              <a:pathLst>
                <a:path h="152847" w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anchor="ctr" rtlCol="false" tIns="1239" lIns="1239" bIns="1239" rIns="1239"/>
            <a:lstStyle/>
            <a:p>
              <a:pPr algn="ctr">
                <a:lnSpc>
                  <a:spcPts val="5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791791" y="7611817"/>
            <a:ext cx="374043" cy="374043"/>
          </a:xfrm>
          <a:custGeom>
            <a:avLst/>
            <a:gdLst/>
            <a:ahLst/>
            <a:cxnLst/>
            <a:rect r="r" b="b" t="t" l="l"/>
            <a:pathLst>
              <a:path h="374043" w="374043">
                <a:moveTo>
                  <a:pt x="0" y="0"/>
                </a:moveTo>
                <a:lnTo>
                  <a:pt x="374043" y="0"/>
                </a:lnTo>
                <a:lnTo>
                  <a:pt x="374043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829160" y="6767260"/>
            <a:ext cx="299305" cy="405151"/>
          </a:xfrm>
          <a:custGeom>
            <a:avLst/>
            <a:gdLst/>
            <a:ahLst/>
            <a:cxnLst/>
            <a:rect r="r" b="b" t="t" l="l"/>
            <a:pathLst>
              <a:path h="405151" w="299305">
                <a:moveTo>
                  <a:pt x="0" y="0"/>
                </a:moveTo>
                <a:lnTo>
                  <a:pt x="299305" y="0"/>
                </a:lnTo>
                <a:lnTo>
                  <a:pt x="299305" y="405150"/>
                </a:lnTo>
                <a:lnTo>
                  <a:pt x="0" y="405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440685" y="6938592"/>
            <a:ext cx="3289032" cy="3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40685" y="7776086"/>
            <a:ext cx="3821834" cy="3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0685" y="6701358"/>
            <a:ext cx="1691337" cy="2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40685" y="7541111"/>
            <a:ext cx="1691337" cy="2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683267" y="8350525"/>
            <a:ext cx="591092" cy="591092"/>
            <a:chOff x="0" y="0"/>
            <a:chExt cx="152847" cy="1528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847" cy="152847"/>
            </a:xfrm>
            <a:custGeom>
              <a:avLst/>
              <a:gdLst/>
              <a:ahLst/>
              <a:cxnLst/>
              <a:rect r="r" b="b" t="t" l="l"/>
              <a:pathLst>
                <a:path h="152847" w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anchor="ctr" rtlCol="false" tIns="1239" lIns="1239" bIns="1239" rIns="1239"/>
            <a:lstStyle/>
            <a:p>
              <a:pPr algn="ctr">
                <a:lnSpc>
                  <a:spcPts val="54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791791" y="8450559"/>
            <a:ext cx="374043" cy="374043"/>
          </a:xfrm>
          <a:custGeom>
            <a:avLst/>
            <a:gdLst/>
            <a:ahLst/>
            <a:cxnLst/>
            <a:rect r="r" b="b" t="t" l="l"/>
            <a:pathLst>
              <a:path h="374043" w="374043">
                <a:moveTo>
                  <a:pt x="0" y="0"/>
                </a:moveTo>
                <a:lnTo>
                  <a:pt x="374043" y="0"/>
                </a:lnTo>
                <a:lnTo>
                  <a:pt x="374043" y="374042"/>
                </a:lnTo>
                <a:lnTo>
                  <a:pt x="0" y="374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440685" y="8614828"/>
            <a:ext cx="5328828" cy="3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contato@texcapital.com.br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40685" y="8379852"/>
            <a:ext cx="1691337" cy="2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Email: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DAGiGTcvrLU</dc:identifier>
  <dcterms:modified xsi:type="dcterms:W3CDTF">2011-08-01T06:04:30Z</dcterms:modified>
  <cp:revision>1</cp:revision>
  <dc:title>R.CM.001_Apresentação Comercial_v1.0</dc:title>
</cp:coreProperties>
</file>