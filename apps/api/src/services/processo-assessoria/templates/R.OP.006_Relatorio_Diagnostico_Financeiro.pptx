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9" r:id="rId3"/>
    <p:sldId id="260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68" r:id="rId14"/>
  </p:sldIdLst>
  <p:sldSz cx="18288000" cy="10287000"/>
  <p:notesSz cx="6858000" cy="9144000"/>
  <p:embeddedFontLst>
    <p:embeddedFont>
      <p:font typeface="Montserrat" panose="00000500000000000000" pitchFamily="2" charset="0"/>
      <p:regular r:id="rId15"/>
      <p:bold r:id="rId16"/>
      <p:italic r:id="rId17"/>
      <p:boldItalic r:id="rId18"/>
    </p:embeddedFont>
    <p:embeddedFont>
      <p:font typeface="Montserrat Bold" panose="00000800000000000000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40" d="100"/>
          <a:sy n="40" d="100"/>
        </p:scale>
        <p:origin x="1450" y="23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14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6.svg"/><Relationship Id="rId7" Type="http://schemas.openxmlformats.org/officeDocument/2006/relationships/image" Target="../media/image1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6.svg"/><Relationship Id="rId7" Type="http://schemas.openxmlformats.org/officeDocument/2006/relationships/image" Target="../media/image1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13" Type="http://schemas.openxmlformats.org/officeDocument/2006/relationships/image" Target="../media/image30.svg"/><Relationship Id="rId3" Type="http://schemas.openxmlformats.org/officeDocument/2006/relationships/image" Target="../media/image22.png"/><Relationship Id="rId7" Type="http://schemas.openxmlformats.org/officeDocument/2006/relationships/image" Target="../media/image17.png"/><Relationship Id="rId12" Type="http://schemas.openxmlformats.org/officeDocument/2006/relationships/image" Target="../media/image29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svg"/><Relationship Id="rId11" Type="http://schemas.openxmlformats.org/officeDocument/2006/relationships/image" Target="../media/image28.svg"/><Relationship Id="rId5" Type="http://schemas.openxmlformats.org/officeDocument/2006/relationships/image" Target="../media/image24.png"/><Relationship Id="rId10" Type="http://schemas.openxmlformats.org/officeDocument/2006/relationships/image" Target="../media/image27.png"/><Relationship Id="rId4" Type="http://schemas.openxmlformats.org/officeDocument/2006/relationships/image" Target="../media/image23.svg"/><Relationship Id="rId9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998307" y="10095022"/>
            <a:ext cx="14667402" cy="755608"/>
            <a:chOff x="0" y="0"/>
            <a:chExt cx="3863019" cy="1990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63020" cy="199008"/>
            </a:xfrm>
            <a:custGeom>
              <a:avLst/>
              <a:gdLst/>
              <a:ahLst/>
              <a:cxnLst/>
              <a:rect l="l" t="t" r="r" b="b"/>
              <a:pathLst>
                <a:path w="3863020" h="199008">
                  <a:moveTo>
                    <a:pt x="0" y="0"/>
                  </a:moveTo>
                  <a:lnTo>
                    <a:pt x="3863020" y="0"/>
                  </a:lnTo>
                  <a:lnTo>
                    <a:pt x="3863020" y="199008"/>
                  </a:lnTo>
                  <a:lnTo>
                    <a:pt x="0" y="199008"/>
                  </a:lnTo>
                  <a:close/>
                </a:path>
              </a:pathLst>
            </a:custGeom>
            <a:solidFill>
              <a:srgbClr val="99BF81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85725"/>
              <a:ext cx="3863019" cy="2847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4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342458" y="-563629"/>
            <a:ext cx="14667402" cy="755608"/>
            <a:chOff x="0" y="0"/>
            <a:chExt cx="3863019" cy="19900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863020" cy="199008"/>
            </a:xfrm>
            <a:custGeom>
              <a:avLst/>
              <a:gdLst/>
              <a:ahLst/>
              <a:cxnLst/>
              <a:rect l="l" t="t" r="r" b="b"/>
              <a:pathLst>
                <a:path w="3863020" h="199008">
                  <a:moveTo>
                    <a:pt x="0" y="0"/>
                  </a:moveTo>
                  <a:lnTo>
                    <a:pt x="3863020" y="0"/>
                  </a:lnTo>
                  <a:lnTo>
                    <a:pt x="3863020" y="199008"/>
                  </a:lnTo>
                  <a:lnTo>
                    <a:pt x="0" y="199008"/>
                  </a:lnTo>
                  <a:close/>
                </a:path>
              </a:pathLst>
            </a:custGeom>
            <a:solidFill>
              <a:srgbClr val="99BF81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85725"/>
              <a:ext cx="3863019" cy="2847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4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48381" y="8259159"/>
            <a:ext cx="591092" cy="591092"/>
            <a:chOff x="0" y="0"/>
            <a:chExt cx="152847" cy="15284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2847" cy="152847"/>
            </a:xfrm>
            <a:custGeom>
              <a:avLst/>
              <a:gdLst/>
              <a:ahLst/>
              <a:cxnLst/>
              <a:rect l="l" t="t" r="r" b="b"/>
              <a:pathLst>
                <a:path w="152847" h="152847">
                  <a:moveTo>
                    <a:pt x="76423" y="0"/>
                  </a:moveTo>
                  <a:lnTo>
                    <a:pt x="76423" y="0"/>
                  </a:lnTo>
                  <a:cubicBezTo>
                    <a:pt x="118631" y="0"/>
                    <a:pt x="152847" y="34216"/>
                    <a:pt x="152847" y="76423"/>
                  </a:cubicBezTo>
                  <a:lnTo>
                    <a:pt x="152847" y="76423"/>
                  </a:lnTo>
                  <a:cubicBezTo>
                    <a:pt x="152847" y="96692"/>
                    <a:pt x="144795" y="116131"/>
                    <a:pt x="130463" y="130463"/>
                  </a:cubicBezTo>
                  <a:cubicBezTo>
                    <a:pt x="116131" y="144795"/>
                    <a:pt x="96692" y="152847"/>
                    <a:pt x="76423" y="152847"/>
                  </a:cubicBezTo>
                  <a:lnTo>
                    <a:pt x="76423" y="152847"/>
                  </a:lnTo>
                  <a:cubicBezTo>
                    <a:pt x="56155" y="152847"/>
                    <a:pt x="36716" y="144795"/>
                    <a:pt x="22384" y="130463"/>
                  </a:cubicBezTo>
                  <a:cubicBezTo>
                    <a:pt x="8052" y="116131"/>
                    <a:pt x="0" y="96692"/>
                    <a:pt x="0" y="76423"/>
                  </a:cubicBezTo>
                  <a:lnTo>
                    <a:pt x="0" y="76423"/>
                  </a:lnTo>
                  <a:cubicBezTo>
                    <a:pt x="0" y="56155"/>
                    <a:pt x="8052" y="36716"/>
                    <a:pt x="22384" y="22384"/>
                  </a:cubicBezTo>
                  <a:cubicBezTo>
                    <a:pt x="36716" y="8052"/>
                    <a:pt x="56155" y="0"/>
                    <a:pt x="76423" y="0"/>
                  </a:cubicBezTo>
                  <a:close/>
                </a:path>
              </a:pathLst>
            </a:custGeom>
            <a:solidFill>
              <a:srgbClr val="369936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152847" cy="152847"/>
            </a:xfrm>
            <a:prstGeom prst="rect">
              <a:avLst/>
            </a:prstGeom>
          </p:spPr>
          <p:txBody>
            <a:bodyPr lIns="1239" tIns="1239" rIns="1239" bIns="1239" rtlCol="0" anchor="ctr"/>
            <a:lstStyle/>
            <a:p>
              <a:pPr algn="ctr">
                <a:lnSpc>
                  <a:spcPts val="54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548381" y="9096653"/>
            <a:ext cx="591092" cy="591092"/>
            <a:chOff x="0" y="0"/>
            <a:chExt cx="152847" cy="15284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2847" cy="152847"/>
            </a:xfrm>
            <a:custGeom>
              <a:avLst/>
              <a:gdLst/>
              <a:ahLst/>
              <a:cxnLst/>
              <a:rect l="l" t="t" r="r" b="b"/>
              <a:pathLst>
                <a:path w="152847" h="152847">
                  <a:moveTo>
                    <a:pt x="76423" y="0"/>
                  </a:moveTo>
                  <a:lnTo>
                    <a:pt x="76423" y="0"/>
                  </a:lnTo>
                  <a:cubicBezTo>
                    <a:pt x="118631" y="0"/>
                    <a:pt x="152847" y="34216"/>
                    <a:pt x="152847" y="76423"/>
                  </a:cubicBezTo>
                  <a:lnTo>
                    <a:pt x="152847" y="76423"/>
                  </a:lnTo>
                  <a:cubicBezTo>
                    <a:pt x="152847" y="96692"/>
                    <a:pt x="144795" y="116131"/>
                    <a:pt x="130463" y="130463"/>
                  </a:cubicBezTo>
                  <a:cubicBezTo>
                    <a:pt x="116131" y="144795"/>
                    <a:pt x="96692" y="152847"/>
                    <a:pt x="76423" y="152847"/>
                  </a:cubicBezTo>
                  <a:lnTo>
                    <a:pt x="76423" y="152847"/>
                  </a:lnTo>
                  <a:cubicBezTo>
                    <a:pt x="56155" y="152847"/>
                    <a:pt x="36716" y="144795"/>
                    <a:pt x="22384" y="130463"/>
                  </a:cubicBezTo>
                  <a:cubicBezTo>
                    <a:pt x="8052" y="116131"/>
                    <a:pt x="0" y="96692"/>
                    <a:pt x="0" y="76423"/>
                  </a:cubicBezTo>
                  <a:lnTo>
                    <a:pt x="0" y="76423"/>
                  </a:lnTo>
                  <a:cubicBezTo>
                    <a:pt x="0" y="56155"/>
                    <a:pt x="8052" y="36716"/>
                    <a:pt x="22384" y="22384"/>
                  </a:cubicBezTo>
                  <a:cubicBezTo>
                    <a:pt x="36716" y="8052"/>
                    <a:pt x="56155" y="0"/>
                    <a:pt x="76423" y="0"/>
                  </a:cubicBezTo>
                  <a:close/>
                </a:path>
              </a:pathLst>
            </a:custGeom>
            <a:solidFill>
              <a:srgbClr val="369936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152847" cy="152847"/>
            </a:xfrm>
            <a:prstGeom prst="rect">
              <a:avLst/>
            </a:prstGeom>
          </p:spPr>
          <p:txBody>
            <a:bodyPr lIns="1239" tIns="1239" rIns="1239" bIns="1239" rtlCol="0" anchor="ctr"/>
            <a:lstStyle/>
            <a:p>
              <a:pPr algn="ctr">
                <a:lnSpc>
                  <a:spcPts val="54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7656906" y="9196686"/>
            <a:ext cx="374043" cy="374043"/>
          </a:xfrm>
          <a:custGeom>
            <a:avLst/>
            <a:gdLst/>
            <a:ahLst/>
            <a:cxnLst/>
            <a:rect l="l" t="t" r="r" b="b"/>
            <a:pathLst>
              <a:path w="374043" h="374043">
                <a:moveTo>
                  <a:pt x="0" y="0"/>
                </a:moveTo>
                <a:lnTo>
                  <a:pt x="374042" y="0"/>
                </a:lnTo>
                <a:lnTo>
                  <a:pt x="374042" y="374043"/>
                </a:lnTo>
                <a:lnTo>
                  <a:pt x="0" y="3740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5" name="Freeform 15"/>
          <p:cNvSpPr/>
          <p:nvPr/>
        </p:nvSpPr>
        <p:spPr>
          <a:xfrm>
            <a:off x="7694275" y="8352129"/>
            <a:ext cx="299305" cy="405151"/>
          </a:xfrm>
          <a:custGeom>
            <a:avLst/>
            <a:gdLst/>
            <a:ahLst/>
            <a:cxnLst/>
            <a:rect l="l" t="t" r="r" b="b"/>
            <a:pathLst>
              <a:path w="299305" h="405151">
                <a:moveTo>
                  <a:pt x="0" y="0"/>
                </a:moveTo>
                <a:lnTo>
                  <a:pt x="299305" y="0"/>
                </a:lnTo>
                <a:lnTo>
                  <a:pt x="299305" y="405151"/>
                </a:lnTo>
                <a:lnTo>
                  <a:pt x="0" y="4051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9" name="Freeform 19"/>
          <p:cNvSpPr/>
          <p:nvPr/>
        </p:nvSpPr>
        <p:spPr>
          <a:xfrm rot="2194841">
            <a:off x="-1157454" y="3642667"/>
            <a:ext cx="7435791" cy="7898205"/>
          </a:xfrm>
          <a:custGeom>
            <a:avLst/>
            <a:gdLst/>
            <a:ahLst/>
            <a:cxnLst/>
            <a:rect l="l" t="t" r="r" b="b"/>
            <a:pathLst>
              <a:path w="7435791" h="7898205">
                <a:moveTo>
                  <a:pt x="0" y="0"/>
                </a:moveTo>
                <a:lnTo>
                  <a:pt x="7435792" y="0"/>
                </a:lnTo>
                <a:lnTo>
                  <a:pt x="7435792" y="7898204"/>
                </a:lnTo>
                <a:lnTo>
                  <a:pt x="0" y="78982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32424" r="-91193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20" name="Freeform 20"/>
          <p:cNvSpPr/>
          <p:nvPr/>
        </p:nvSpPr>
        <p:spPr>
          <a:xfrm rot="-8841186">
            <a:off x="11971146" y="-1323774"/>
            <a:ext cx="7435791" cy="7898205"/>
          </a:xfrm>
          <a:custGeom>
            <a:avLst/>
            <a:gdLst/>
            <a:ahLst/>
            <a:cxnLst/>
            <a:rect l="l" t="t" r="r" b="b"/>
            <a:pathLst>
              <a:path w="7435791" h="7898205">
                <a:moveTo>
                  <a:pt x="0" y="0"/>
                </a:moveTo>
                <a:lnTo>
                  <a:pt x="7435792" y="0"/>
                </a:lnTo>
                <a:lnTo>
                  <a:pt x="7435792" y="7898205"/>
                </a:lnTo>
                <a:lnTo>
                  <a:pt x="0" y="78982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32424" r="-91193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28" name="Freeform 28"/>
          <p:cNvSpPr/>
          <p:nvPr/>
        </p:nvSpPr>
        <p:spPr>
          <a:xfrm>
            <a:off x="673745" y="9455432"/>
            <a:ext cx="954994" cy="172116"/>
          </a:xfrm>
          <a:custGeom>
            <a:avLst/>
            <a:gdLst/>
            <a:ahLst/>
            <a:cxnLst/>
            <a:rect l="l" t="t" r="r" b="b"/>
            <a:pathLst>
              <a:path w="954994" h="172116">
                <a:moveTo>
                  <a:pt x="0" y="0"/>
                </a:moveTo>
                <a:lnTo>
                  <a:pt x="954994" y="0"/>
                </a:lnTo>
                <a:lnTo>
                  <a:pt x="954994" y="172116"/>
                </a:lnTo>
                <a:lnTo>
                  <a:pt x="0" y="1721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b="-277995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29" name="Freeform 29"/>
          <p:cNvSpPr/>
          <p:nvPr/>
        </p:nvSpPr>
        <p:spPr>
          <a:xfrm>
            <a:off x="16659261" y="659452"/>
            <a:ext cx="954994" cy="172116"/>
          </a:xfrm>
          <a:custGeom>
            <a:avLst/>
            <a:gdLst/>
            <a:ahLst/>
            <a:cxnLst/>
            <a:rect l="l" t="t" r="r" b="b"/>
            <a:pathLst>
              <a:path w="954994" h="172116">
                <a:moveTo>
                  <a:pt x="0" y="0"/>
                </a:moveTo>
                <a:lnTo>
                  <a:pt x="954994" y="0"/>
                </a:lnTo>
                <a:lnTo>
                  <a:pt x="954994" y="172116"/>
                </a:lnTo>
                <a:lnTo>
                  <a:pt x="0" y="1721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b="-277995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0" name="Freeform 30"/>
          <p:cNvSpPr/>
          <p:nvPr/>
        </p:nvSpPr>
        <p:spPr>
          <a:xfrm>
            <a:off x="8590272" y="555566"/>
            <a:ext cx="1120069" cy="1571876"/>
          </a:xfrm>
          <a:custGeom>
            <a:avLst/>
            <a:gdLst/>
            <a:ahLst/>
            <a:cxnLst/>
            <a:rect l="l" t="t" r="r" b="b"/>
            <a:pathLst>
              <a:path w="1120069" h="1571876">
                <a:moveTo>
                  <a:pt x="0" y="0"/>
                </a:moveTo>
                <a:lnTo>
                  <a:pt x="1120069" y="0"/>
                </a:lnTo>
                <a:lnTo>
                  <a:pt x="1120069" y="1571876"/>
                </a:lnTo>
                <a:lnTo>
                  <a:pt x="0" y="157187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1" name="TextBox 31"/>
          <p:cNvSpPr txBox="1"/>
          <p:nvPr/>
        </p:nvSpPr>
        <p:spPr>
          <a:xfrm>
            <a:off x="2138362" y="3269879"/>
            <a:ext cx="14011275" cy="23596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65"/>
              </a:lnSpc>
            </a:pPr>
            <a:r>
              <a:rPr lang="en-US" sz="8332" b="1" dirty="0" err="1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Relatório</a:t>
            </a:r>
            <a:r>
              <a:rPr lang="en-US" sz="8332" b="1" dirty="0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de</a:t>
            </a:r>
          </a:p>
          <a:p>
            <a:pPr algn="ctr">
              <a:lnSpc>
                <a:spcPts val="9165"/>
              </a:lnSpc>
            </a:pPr>
            <a:r>
              <a:rPr lang="en-US" sz="8332" b="1" dirty="0" err="1">
                <a:solidFill>
                  <a:srgbClr val="3B3B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Diagnóstico</a:t>
            </a:r>
            <a:r>
              <a:rPr lang="en-US" sz="8332" b="1" dirty="0">
                <a:solidFill>
                  <a:srgbClr val="3B3B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8332" b="1" dirty="0" err="1">
                <a:solidFill>
                  <a:srgbClr val="3B3B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Financeiro</a:t>
            </a:r>
            <a:endParaRPr lang="en-US" sz="8332" b="1" dirty="0">
              <a:solidFill>
                <a:srgbClr val="3B3B3A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6402661" y="5756300"/>
            <a:ext cx="6196359" cy="4110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653" b="1" dirty="0">
                <a:solidFill>
                  <a:srgbClr val="3B3B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APRESENTAÇÃO E ALINHAMENTO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305800" y="8523461"/>
            <a:ext cx="3289032" cy="326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4"/>
              </a:lnSpc>
            </a:pPr>
            <a:r>
              <a:rPr lang="en-US" sz="2114" b="1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+55 (45) 99143-3790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305800" y="9360956"/>
            <a:ext cx="3821834" cy="326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4"/>
              </a:lnSpc>
            </a:pPr>
            <a:r>
              <a:rPr lang="en-US" sz="2114" b="1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www.texcapital.com.br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305800" y="8286227"/>
            <a:ext cx="1691337" cy="208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22"/>
              </a:lnSpc>
            </a:pPr>
            <a:r>
              <a:rPr lang="en-US" sz="1366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Telefone: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305800" y="9125980"/>
            <a:ext cx="1691337" cy="208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22"/>
              </a:lnSpc>
            </a:pPr>
            <a:r>
              <a:rPr lang="en-US" sz="1366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Website: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671831"/>
            <a:ext cx="9944100" cy="2215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4800" b="1" dirty="0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TEX CAPITAL, a </a:t>
            </a:r>
            <a:r>
              <a:rPr lang="en-US" sz="4800" b="1" dirty="0" err="1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solução</a:t>
            </a:r>
            <a:r>
              <a:rPr lang="en-US" sz="4800" b="1" dirty="0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ideal </a:t>
            </a:r>
            <a:r>
              <a:rPr lang="en-US" sz="4800" b="1" dirty="0" err="1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em</a:t>
            </a:r>
            <a:r>
              <a:rPr lang="en-US" sz="4800" b="1" dirty="0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4800" b="1" dirty="0" err="1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Asessoria</a:t>
            </a:r>
            <a:r>
              <a:rPr lang="en-US" sz="4800" b="1" dirty="0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e Consultoria </a:t>
            </a:r>
            <a:r>
              <a:rPr lang="en-US" sz="4800" b="1" dirty="0" err="1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Financeira</a:t>
            </a:r>
            <a:endParaRPr lang="en-US" sz="4800" b="1" dirty="0">
              <a:solidFill>
                <a:srgbClr val="369936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13762" y="5608706"/>
            <a:ext cx="12778437" cy="38526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A TEX CAPITAL é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uma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empresa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especializada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em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oferecer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soluções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completes de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assessoria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consultoria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e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gestão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de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fluxo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de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caixa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, com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foco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no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setor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rural.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Combinamos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tecnologia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de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ponta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, expertise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sólida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e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suporte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contínuo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para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atender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às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necessidades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específicas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do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agronegócio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Atuamos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em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todo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Brasil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disponibilizando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uma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equipe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altamente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qualificada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e as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melhores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ferramentas de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gestão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e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controle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para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sua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fazenda.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Nosso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compromisso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é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entregar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399" b="1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excelência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2399" b="1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eficiência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e</a:t>
            </a:r>
            <a:r>
              <a:rPr lang="en-US" sz="2399" b="1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399" b="1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resultados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garantindo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a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solução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ideal para as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demandas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de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nossos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clientes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399" dirty="0" err="1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parceiros</a:t>
            </a:r>
            <a:r>
              <a:rPr lang="en-US" sz="2399" dirty="0">
                <a:solidFill>
                  <a:srgbClr val="369936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id="14" name="Freeform 14"/>
          <p:cNvSpPr/>
          <p:nvPr/>
        </p:nvSpPr>
        <p:spPr>
          <a:xfrm>
            <a:off x="8943445" y="340646"/>
            <a:ext cx="1123219" cy="272381"/>
          </a:xfrm>
          <a:custGeom>
            <a:avLst/>
            <a:gdLst/>
            <a:ahLst/>
            <a:cxnLst/>
            <a:rect l="l" t="t" r="r" b="b"/>
            <a:pathLst>
              <a:path w="1123219" h="272381">
                <a:moveTo>
                  <a:pt x="0" y="0"/>
                </a:moveTo>
                <a:lnTo>
                  <a:pt x="1123219" y="0"/>
                </a:lnTo>
                <a:lnTo>
                  <a:pt x="1123219" y="272381"/>
                </a:lnTo>
                <a:lnTo>
                  <a:pt x="0" y="2723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5" name="Freeform 15"/>
          <p:cNvSpPr/>
          <p:nvPr/>
        </p:nvSpPr>
        <p:spPr>
          <a:xfrm>
            <a:off x="16459200" y="9639300"/>
            <a:ext cx="1395907" cy="174488"/>
          </a:xfrm>
          <a:custGeom>
            <a:avLst/>
            <a:gdLst/>
            <a:ahLst/>
            <a:cxnLst/>
            <a:rect l="l" t="t" r="r" b="b"/>
            <a:pathLst>
              <a:path w="1395907" h="174488">
                <a:moveTo>
                  <a:pt x="0" y="0"/>
                </a:moveTo>
                <a:lnTo>
                  <a:pt x="1395908" y="0"/>
                </a:lnTo>
                <a:lnTo>
                  <a:pt x="1395908" y="174488"/>
                </a:lnTo>
                <a:lnTo>
                  <a:pt x="0" y="1744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6" name="Freeform 16"/>
          <p:cNvSpPr/>
          <p:nvPr/>
        </p:nvSpPr>
        <p:spPr>
          <a:xfrm>
            <a:off x="1028700" y="613027"/>
            <a:ext cx="949122" cy="1331973"/>
          </a:xfrm>
          <a:custGeom>
            <a:avLst/>
            <a:gdLst/>
            <a:ahLst/>
            <a:cxnLst/>
            <a:rect l="l" t="t" r="r" b="b"/>
            <a:pathLst>
              <a:path w="949122" h="1331973">
                <a:moveTo>
                  <a:pt x="0" y="0"/>
                </a:moveTo>
                <a:lnTo>
                  <a:pt x="949122" y="0"/>
                </a:lnTo>
                <a:lnTo>
                  <a:pt x="949122" y="1331973"/>
                </a:lnTo>
                <a:lnTo>
                  <a:pt x="0" y="13319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7" name="Freeform 4">
            <a:extLst>
              <a:ext uri="{FF2B5EF4-FFF2-40B4-BE49-F238E27FC236}">
                <a16:creationId xmlns:a16="http://schemas.microsoft.com/office/drawing/2014/main" id="{702A5D22-3DFC-A0E4-ED15-AD3298EDAA91}"/>
              </a:ext>
            </a:extLst>
          </p:cNvPr>
          <p:cNvSpPr/>
          <p:nvPr/>
        </p:nvSpPr>
        <p:spPr>
          <a:xfrm>
            <a:off x="13288316" y="-304313"/>
            <a:ext cx="7172425" cy="6339920"/>
          </a:xfrm>
          <a:custGeom>
            <a:avLst/>
            <a:gdLst/>
            <a:ahLst/>
            <a:cxnLst/>
            <a:rect l="l" t="t" r="r" b="b"/>
            <a:pathLst>
              <a:path w="4195356" h="3708400">
                <a:moveTo>
                  <a:pt x="2939859" y="0"/>
                </a:moveTo>
                <a:lnTo>
                  <a:pt x="1255497" y="0"/>
                </a:lnTo>
                <a:cubicBezTo>
                  <a:pt x="1114144" y="0"/>
                  <a:pt x="983527" y="75408"/>
                  <a:pt x="912846" y="197821"/>
                </a:cubicBezTo>
                <a:lnTo>
                  <a:pt x="70680" y="1656379"/>
                </a:lnTo>
                <a:cubicBezTo>
                  <a:pt x="0" y="1778789"/>
                  <a:pt x="0" y="1929611"/>
                  <a:pt x="70680" y="2052021"/>
                </a:cubicBezTo>
                <a:lnTo>
                  <a:pt x="912846" y="3510578"/>
                </a:lnTo>
                <a:cubicBezTo>
                  <a:pt x="983527" y="3632991"/>
                  <a:pt x="1114144" y="3708400"/>
                  <a:pt x="1255497" y="3708400"/>
                </a:cubicBezTo>
                <a:lnTo>
                  <a:pt x="2939859" y="3708400"/>
                </a:lnTo>
                <a:cubicBezTo>
                  <a:pt x="3081212" y="3708400"/>
                  <a:pt x="3211829" y="3632991"/>
                  <a:pt x="3282510" y="3510578"/>
                </a:cubicBezTo>
                <a:lnTo>
                  <a:pt x="4124676" y="2052021"/>
                </a:lnTo>
                <a:cubicBezTo>
                  <a:pt x="4195356" y="1929611"/>
                  <a:pt x="4195356" y="1778789"/>
                  <a:pt x="4124676" y="1656379"/>
                </a:cubicBezTo>
                <a:lnTo>
                  <a:pt x="3282510" y="197821"/>
                </a:lnTo>
                <a:cubicBezTo>
                  <a:pt x="3211829" y="75408"/>
                  <a:pt x="3081212" y="0"/>
                  <a:pt x="2939859" y="0"/>
                </a:cubicBezTo>
                <a:close/>
              </a:path>
            </a:pathLst>
          </a:custGeom>
          <a:blipFill>
            <a:blip r:embed="rId7"/>
            <a:stretch>
              <a:fillRect l="-4766" r="-29032"/>
            </a:stretch>
          </a:blipFill>
          <a:ln w="238125" cap="rnd">
            <a:solidFill>
              <a:srgbClr val="369936"/>
            </a:solidFill>
            <a:prstDash val="solid"/>
            <a:round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2"/>
          <p:cNvSpPr/>
          <p:nvPr/>
        </p:nvSpPr>
        <p:spPr>
          <a:xfrm rot="-5833167">
            <a:off x="11349455" y="1793292"/>
            <a:ext cx="10691222" cy="4610589"/>
          </a:xfrm>
          <a:custGeom>
            <a:avLst/>
            <a:gdLst/>
            <a:ahLst/>
            <a:cxnLst/>
            <a:rect l="l" t="t" r="r" b="b"/>
            <a:pathLst>
              <a:path w="10691222" h="4610589">
                <a:moveTo>
                  <a:pt x="0" y="0"/>
                </a:moveTo>
                <a:lnTo>
                  <a:pt x="10691221" y="0"/>
                </a:lnTo>
                <a:lnTo>
                  <a:pt x="10691221" y="4610589"/>
                </a:lnTo>
                <a:lnTo>
                  <a:pt x="0" y="46105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23" name="Freeform 23"/>
          <p:cNvSpPr/>
          <p:nvPr/>
        </p:nvSpPr>
        <p:spPr>
          <a:xfrm>
            <a:off x="16914213" y="619639"/>
            <a:ext cx="859394" cy="492537"/>
          </a:xfrm>
          <a:custGeom>
            <a:avLst/>
            <a:gdLst/>
            <a:ahLst/>
            <a:cxnLst/>
            <a:rect l="l" t="t" r="r" b="b"/>
            <a:pathLst>
              <a:path w="859394" h="492537">
                <a:moveTo>
                  <a:pt x="0" y="0"/>
                </a:moveTo>
                <a:lnTo>
                  <a:pt x="859394" y="0"/>
                </a:lnTo>
                <a:lnTo>
                  <a:pt x="859394" y="492537"/>
                </a:lnTo>
                <a:lnTo>
                  <a:pt x="0" y="4925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120431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24" name="Freeform 24"/>
          <p:cNvSpPr/>
          <p:nvPr/>
        </p:nvSpPr>
        <p:spPr>
          <a:xfrm>
            <a:off x="2558374" y="584489"/>
            <a:ext cx="949122" cy="1331973"/>
          </a:xfrm>
          <a:custGeom>
            <a:avLst/>
            <a:gdLst/>
            <a:ahLst/>
            <a:cxnLst/>
            <a:rect l="l" t="t" r="r" b="b"/>
            <a:pathLst>
              <a:path w="949122" h="1331973">
                <a:moveTo>
                  <a:pt x="0" y="0"/>
                </a:moveTo>
                <a:lnTo>
                  <a:pt x="949122" y="0"/>
                </a:lnTo>
                <a:lnTo>
                  <a:pt x="949122" y="1331973"/>
                </a:lnTo>
                <a:lnTo>
                  <a:pt x="0" y="13319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25" name="TextBox 2">
            <a:extLst>
              <a:ext uri="{FF2B5EF4-FFF2-40B4-BE49-F238E27FC236}">
                <a16:creationId xmlns:a16="http://schemas.microsoft.com/office/drawing/2014/main" id="{FDAB7DF8-6A5D-108A-8198-7E3CF3B13667}"/>
              </a:ext>
            </a:extLst>
          </p:cNvPr>
          <p:cNvSpPr txBox="1"/>
          <p:nvPr/>
        </p:nvSpPr>
        <p:spPr>
          <a:xfrm>
            <a:off x="4171950" y="595475"/>
            <a:ext cx="9944100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4800" b="1" dirty="0" err="1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Diagnóstico</a:t>
            </a:r>
            <a:r>
              <a:rPr lang="en-US" sz="4800" b="1" dirty="0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do </a:t>
            </a:r>
            <a:r>
              <a:rPr lang="en-US" sz="4800" b="1" dirty="0" err="1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Cenário</a:t>
            </a:r>
            <a:r>
              <a:rPr lang="en-US" sz="4800" b="1" dirty="0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4800" b="1" dirty="0" err="1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Atual</a:t>
            </a:r>
            <a:endParaRPr lang="en-US" sz="4800" b="1" dirty="0">
              <a:solidFill>
                <a:srgbClr val="369936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26" name="TextBox 2">
            <a:extLst>
              <a:ext uri="{FF2B5EF4-FFF2-40B4-BE49-F238E27FC236}">
                <a16:creationId xmlns:a16="http://schemas.microsoft.com/office/drawing/2014/main" id="{B37FE6E6-F1F2-8785-FA74-0E8BAC6DA8AE}"/>
              </a:ext>
            </a:extLst>
          </p:cNvPr>
          <p:cNvSpPr txBox="1"/>
          <p:nvPr/>
        </p:nvSpPr>
        <p:spPr>
          <a:xfrm>
            <a:off x="3792164" y="1334139"/>
            <a:ext cx="9944100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ANÁLISE DOS GRANDES NÚMEROS</a:t>
            </a:r>
          </a:p>
        </p:txBody>
      </p:sp>
      <p:grpSp>
        <p:nvGrpSpPr>
          <p:cNvPr id="31" name="Group 9">
            <a:extLst>
              <a:ext uri="{FF2B5EF4-FFF2-40B4-BE49-F238E27FC236}">
                <a16:creationId xmlns:a16="http://schemas.microsoft.com/office/drawing/2014/main" id="{0285664B-EDCC-2709-40AD-CEB16F10F32D}"/>
              </a:ext>
            </a:extLst>
          </p:cNvPr>
          <p:cNvGrpSpPr/>
          <p:nvPr/>
        </p:nvGrpSpPr>
        <p:grpSpPr>
          <a:xfrm>
            <a:off x="955705" y="3030202"/>
            <a:ext cx="402757" cy="402757"/>
            <a:chOff x="0" y="0"/>
            <a:chExt cx="812800" cy="812800"/>
          </a:xfrm>
        </p:grpSpPr>
        <p:sp>
          <p:nvSpPr>
            <p:cNvPr id="32" name="Freeform 10">
              <a:extLst>
                <a:ext uri="{FF2B5EF4-FFF2-40B4-BE49-F238E27FC236}">
                  <a16:creationId xmlns:a16="http://schemas.microsoft.com/office/drawing/2014/main" id="{8B77AD00-751A-6F83-BABC-A096AAD5108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6300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33" name="TextBox 11">
              <a:extLst>
                <a:ext uri="{FF2B5EF4-FFF2-40B4-BE49-F238E27FC236}">
                  <a16:creationId xmlns:a16="http://schemas.microsoft.com/office/drawing/2014/main" id="{9CF713F7-AB3E-78C3-3662-24F4E17CD1C5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4" name="Freeform 12">
            <a:extLst>
              <a:ext uri="{FF2B5EF4-FFF2-40B4-BE49-F238E27FC236}">
                <a16:creationId xmlns:a16="http://schemas.microsoft.com/office/drawing/2014/main" id="{BE285FBD-85CA-FF87-7181-F09FCEA1F866}"/>
              </a:ext>
            </a:extLst>
          </p:cNvPr>
          <p:cNvSpPr/>
          <p:nvPr/>
        </p:nvSpPr>
        <p:spPr>
          <a:xfrm rot="-10800000">
            <a:off x="1540330" y="3128715"/>
            <a:ext cx="106603" cy="205732"/>
          </a:xfrm>
          <a:custGeom>
            <a:avLst/>
            <a:gdLst/>
            <a:ahLst/>
            <a:cxnLst/>
            <a:rect l="l" t="t" r="r" b="b"/>
            <a:pathLst>
              <a:path w="106603" h="205732">
                <a:moveTo>
                  <a:pt x="0" y="0"/>
                </a:moveTo>
                <a:lnTo>
                  <a:pt x="106603" y="0"/>
                </a:lnTo>
                <a:lnTo>
                  <a:pt x="106603" y="205732"/>
                </a:lnTo>
                <a:lnTo>
                  <a:pt x="0" y="20573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r="-301015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5" name="TextBox 13">
            <a:extLst>
              <a:ext uri="{FF2B5EF4-FFF2-40B4-BE49-F238E27FC236}">
                <a16:creationId xmlns:a16="http://schemas.microsoft.com/office/drawing/2014/main" id="{C01F0490-3BA8-088C-35E1-F9295895D75F}"/>
              </a:ext>
            </a:extLst>
          </p:cNvPr>
          <p:cNvSpPr txBox="1"/>
          <p:nvPr/>
        </p:nvSpPr>
        <p:spPr>
          <a:xfrm>
            <a:off x="1828800" y="3064893"/>
            <a:ext cx="14020800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49"/>
              </a:lnSpc>
            </a:pPr>
            <a:r>
              <a:rPr lang="en-US" sz="2499" b="1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SITUAÇÃO ATUAL: </a:t>
            </a:r>
            <a:r>
              <a:rPr lang="en-US" sz="2499" dirty="0" err="1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entender</a:t>
            </a:r>
            <a:r>
              <a:rPr lang="en-US" sz="2499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 a </a:t>
            </a:r>
            <a:r>
              <a:rPr lang="en-US" sz="2499" dirty="0" err="1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situação</a:t>
            </a:r>
            <a:r>
              <a:rPr lang="en-US" sz="2499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atual</a:t>
            </a:r>
            <a:r>
              <a:rPr lang="en-US" sz="2499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, </a:t>
            </a:r>
            <a:r>
              <a:rPr lang="en-US" sz="2499" dirty="0" err="1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considerando</a:t>
            </a:r>
            <a:r>
              <a:rPr lang="en-US" sz="2499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 as </a:t>
            </a:r>
            <a:r>
              <a:rPr lang="en-US" sz="2499" dirty="0" err="1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informações</a:t>
            </a:r>
            <a:r>
              <a:rPr lang="en-US" sz="2499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 dos </a:t>
            </a:r>
            <a:r>
              <a:rPr lang="en-US" sz="2499" dirty="0" err="1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grandes</a:t>
            </a:r>
            <a:r>
              <a:rPr lang="en-US" sz="2499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números</a:t>
            </a:r>
            <a:r>
              <a:rPr lang="en-US" sz="2499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;</a:t>
            </a:r>
          </a:p>
        </p:txBody>
      </p:sp>
      <p:grpSp>
        <p:nvGrpSpPr>
          <p:cNvPr id="36" name="Group 9">
            <a:extLst>
              <a:ext uri="{FF2B5EF4-FFF2-40B4-BE49-F238E27FC236}">
                <a16:creationId xmlns:a16="http://schemas.microsoft.com/office/drawing/2014/main" id="{DC66DFDE-600F-9A63-091D-91C3B14D9051}"/>
              </a:ext>
            </a:extLst>
          </p:cNvPr>
          <p:cNvGrpSpPr/>
          <p:nvPr/>
        </p:nvGrpSpPr>
        <p:grpSpPr>
          <a:xfrm>
            <a:off x="955705" y="4072198"/>
            <a:ext cx="402757" cy="402757"/>
            <a:chOff x="0" y="0"/>
            <a:chExt cx="812800" cy="812800"/>
          </a:xfrm>
        </p:grpSpPr>
        <p:sp>
          <p:nvSpPr>
            <p:cNvPr id="37" name="Freeform 10">
              <a:extLst>
                <a:ext uri="{FF2B5EF4-FFF2-40B4-BE49-F238E27FC236}">
                  <a16:creationId xmlns:a16="http://schemas.microsoft.com/office/drawing/2014/main" id="{435FD4F3-813E-64C2-A070-FA23DF0503B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6300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38" name="TextBox 11">
              <a:extLst>
                <a:ext uri="{FF2B5EF4-FFF2-40B4-BE49-F238E27FC236}">
                  <a16:creationId xmlns:a16="http://schemas.microsoft.com/office/drawing/2014/main" id="{D1D84DA3-E2CE-9E26-FEDF-E839523DC803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9" name="Freeform 12">
            <a:extLst>
              <a:ext uri="{FF2B5EF4-FFF2-40B4-BE49-F238E27FC236}">
                <a16:creationId xmlns:a16="http://schemas.microsoft.com/office/drawing/2014/main" id="{B55F8DCC-F77E-26C7-15CB-0EF8046036A6}"/>
              </a:ext>
            </a:extLst>
          </p:cNvPr>
          <p:cNvSpPr/>
          <p:nvPr/>
        </p:nvSpPr>
        <p:spPr>
          <a:xfrm rot="-10800000">
            <a:off x="1540330" y="4170711"/>
            <a:ext cx="106603" cy="205732"/>
          </a:xfrm>
          <a:custGeom>
            <a:avLst/>
            <a:gdLst/>
            <a:ahLst/>
            <a:cxnLst/>
            <a:rect l="l" t="t" r="r" b="b"/>
            <a:pathLst>
              <a:path w="106603" h="205732">
                <a:moveTo>
                  <a:pt x="0" y="0"/>
                </a:moveTo>
                <a:lnTo>
                  <a:pt x="106603" y="0"/>
                </a:lnTo>
                <a:lnTo>
                  <a:pt x="106603" y="205732"/>
                </a:lnTo>
                <a:lnTo>
                  <a:pt x="0" y="20573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r="-301015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0" name="TextBox 13">
            <a:extLst>
              <a:ext uri="{FF2B5EF4-FFF2-40B4-BE49-F238E27FC236}">
                <a16:creationId xmlns:a16="http://schemas.microsoft.com/office/drawing/2014/main" id="{B9E3A541-800C-30C0-A318-D21673A64D55}"/>
              </a:ext>
            </a:extLst>
          </p:cNvPr>
          <p:cNvSpPr txBox="1"/>
          <p:nvPr/>
        </p:nvSpPr>
        <p:spPr>
          <a:xfrm>
            <a:off x="1828800" y="4106889"/>
            <a:ext cx="14020800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49"/>
              </a:lnSpc>
            </a:pPr>
            <a:r>
              <a:rPr lang="en-US" sz="2499" b="1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DISPONIBILIDADES: </a:t>
            </a:r>
            <a:r>
              <a:rPr lang="en-US" sz="2499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base </a:t>
            </a:r>
            <a:r>
              <a:rPr lang="en-US" sz="2499" dirty="0" err="1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na</a:t>
            </a:r>
            <a:r>
              <a:rPr lang="en-US" sz="2499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receita</a:t>
            </a:r>
            <a:r>
              <a:rPr lang="en-US" sz="2499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 annual e </a:t>
            </a:r>
            <a:r>
              <a:rPr lang="en-US" sz="2499" dirty="0" err="1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disponibilidades</a:t>
            </a:r>
            <a:r>
              <a:rPr lang="en-US" sz="2499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declaradas</a:t>
            </a:r>
            <a:r>
              <a:rPr lang="en-US" sz="2499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, é </a:t>
            </a:r>
            <a:r>
              <a:rPr lang="en-US" sz="2499" dirty="0" err="1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importante</a:t>
            </a:r>
            <a:r>
              <a:rPr lang="en-US" sz="2499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conferir</a:t>
            </a:r>
            <a:r>
              <a:rPr lang="en-US" sz="2499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em</a:t>
            </a:r>
            <a:r>
              <a:rPr lang="en-US" sz="2499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 conjunto;</a:t>
            </a:r>
          </a:p>
        </p:txBody>
      </p:sp>
      <p:grpSp>
        <p:nvGrpSpPr>
          <p:cNvPr id="41" name="Group 9">
            <a:extLst>
              <a:ext uri="{FF2B5EF4-FFF2-40B4-BE49-F238E27FC236}">
                <a16:creationId xmlns:a16="http://schemas.microsoft.com/office/drawing/2014/main" id="{E168D81B-CF54-D644-1AD7-FF1E5A8D480C}"/>
              </a:ext>
            </a:extLst>
          </p:cNvPr>
          <p:cNvGrpSpPr/>
          <p:nvPr/>
        </p:nvGrpSpPr>
        <p:grpSpPr>
          <a:xfrm>
            <a:off x="955705" y="5120028"/>
            <a:ext cx="402757" cy="402757"/>
            <a:chOff x="0" y="0"/>
            <a:chExt cx="812800" cy="812800"/>
          </a:xfrm>
        </p:grpSpPr>
        <p:sp>
          <p:nvSpPr>
            <p:cNvPr id="42" name="Freeform 10">
              <a:extLst>
                <a:ext uri="{FF2B5EF4-FFF2-40B4-BE49-F238E27FC236}">
                  <a16:creationId xmlns:a16="http://schemas.microsoft.com/office/drawing/2014/main" id="{2159085D-C6A6-CA1B-882F-67187AC77CE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6300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3" name="TextBox 11">
              <a:extLst>
                <a:ext uri="{FF2B5EF4-FFF2-40B4-BE49-F238E27FC236}">
                  <a16:creationId xmlns:a16="http://schemas.microsoft.com/office/drawing/2014/main" id="{2184D19E-5000-0150-E118-D54C983257CF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4" name="Freeform 12">
            <a:extLst>
              <a:ext uri="{FF2B5EF4-FFF2-40B4-BE49-F238E27FC236}">
                <a16:creationId xmlns:a16="http://schemas.microsoft.com/office/drawing/2014/main" id="{0B76C1A0-7B92-876E-3E97-7576A3EEEB48}"/>
              </a:ext>
            </a:extLst>
          </p:cNvPr>
          <p:cNvSpPr/>
          <p:nvPr/>
        </p:nvSpPr>
        <p:spPr>
          <a:xfrm rot="-10800000">
            <a:off x="1540330" y="5218541"/>
            <a:ext cx="106603" cy="205732"/>
          </a:xfrm>
          <a:custGeom>
            <a:avLst/>
            <a:gdLst/>
            <a:ahLst/>
            <a:cxnLst/>
            <a:rect l="l" t="t" r="r" b="b"/>
            <a:pathLst>
              <a:path w="106603" h="205732">
                <a:moveTo>
                  <a:pt x="0" y="0"/>
                </a:moveTo>
                <a:lnTo>
                  <a:pt x="106603" y="0"/>
                </a:lnTo>
                <a:lnTo>
                  <a:pt x="106603" y="205732"/>
                </a:lnTo>
                <a:lnTo>
                  <a:pt x="0" y="20573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r="-301015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5" name="TextBox 13">
            <a:extLst>
              <a:ext uri="{FF2B5EF4-FFF2-40B4-BE49-F238E27FC236}">
                <a16:creationId xmlns:a16="http://schemas.microsoft.com/office/drawing/2014/main" id="{CCE9781A-6CA6-C07C-542C-EB4ACC7AB18D}"/>
              </a:ext>
            </a:extLst>
          </p:cNvPr>
          <p:cNvSpPr txBox="1"/>
          <p:nvPr/>
        </p:nvSpPr>
        <p:spPr>
          <a:xfrm>
            <a:off x="1828800" y="5154719"/>
            <a:ext cx="14020800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49"/>
              </a:lnSpc>
            </a:pPr>
            <a:r>
              <a:rPr lang="en-US" sz="2499" b="1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SITUAÇÃO ATUAL:</a:t>
            </a:r>
            <a:r>
              <a:rPr lang="en-US" sz="2499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consideramos</a:t>
            </a:r>
            <a:r>
              <a:rPr lang="en-US" sz="2499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 as </a:t>
            </a:r>
            <a:r>
              <a:rPr lang="en-US" sz="2499" dirty="0" err="1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informações</a:t>
            </a:r>
            <a:r>
              <a:rPr lang="en-US" sz="2499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fornecidas</a:t>
            </a:r>
            <a:r>
              <a:rPr lang="en-US" sz="2499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pelo</a:t>
            </a:r>
            <a:r>
              <a:rPr lang="en-US" sz="2499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cliente</a:t>
            </a:r>
            <a:r>
              <a:rPr lang="en-US" sz="2499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;</a:t>
            </a:r>
          </a:p>
        </p:txBody>
      </p:sp>
      <p:grpSp>
        <p:nvGrpSpPr>
          <p:cNvPr id="51" name="Group 9">
            <a:extLst>
              <a:ext uri="{FF2B5EF4-FFF2-40B4-BE49-F238E27FC236}">
                <a16:creationId xmlns:a16="http://schemas.microsoft.com/office/drawing/2014/main" id="{5BDD3C44-BD72-1D3E-F6B4-7329D4AA5B2B}"/>
              </a:ext>
            </a:extLst>
          </p:cNvPr>
          <p:cNvGrpSpPr/>
          <p:nvPr/>
        </p:nvGrpSpPr>
        <p:grpSpPr>
          <a:xfrm>
            <a:off x="955705" y="5843233"/>
            <a:ext cx="402757" cy="402757"/>
            <a:chOff x="0" y="0"/>
            <a:chExt cx="812800" cy="812800"/>
          </a:xfrm>
        </p:grpSpPr>
        <p:sp>
          <p:nvSpPr>
            <p:cNvPr id="52" name="Freeform 10">
              <a:extLst>
                <a:ext uri="{FF2B5EF4-FFF2-40B4-BE49-F238E27FC236}">
                  <a16:creationId xmlns:a16="http://schemas.microsoft.com/office/drawing/2014/main" id="{ADF2CC48-D0A1-CBF5-D6AF-DFDF4AE3F5A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6300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53" name="TextBox 11">
              <a:extLst>
                <a:ext uri="{FF2B5EF4-FFF2-40B4-BE49-F238E27FC236}">
                  <a16:creationId xmlns:a16="http://schemas.microsoft.com/office/drawing/2014/main" id="{B960146B-A25B-C3FA-9BFA-D5EEB66CC7E3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4" name="Freeform 12">
            <a:extLst>
              <a:ext uri="{FF2B5EF4-FFF2-40B4-BE49-F238E27FC236}">
                <a16:creationId xmlns:a16="http://schemas.microsoft.com/office/drawing/2014/main" id="{C50567B6-EE4F-C0EB-6064-C1B1CB33518A}"/>
              </a:ext>
            </a:extLst>
          </p:cNvPr>
          <p:cNvSpPr/>
          <p:nvPr/>
        </p:nvSpPr>
        <p:spPr>
          <a:xfrm rot="-10800000">
            <a:off x="1540330" y="5941746"/>
            <a:ext cx="106603" cy="205732"/>
          </a:xfrm>
          <a:custGeom>
            <a:avLst/>
            <a:gdLst/>
            <a:ahLst/>
            <a:cxnLst/>
            <a:rect l="l" t="t" r="r" b="b"/>
            <a:pathLst>
              <a:path w="106603" h="205732">
                <a:moveTo>
                  <a:pt x="0" y="0"/>
                </a:moveTo>
                <a:lnTo>
                  <a:pt x="106603" y="0"/>
                </a:lnTo>
                <a:lnTo>
                  <a:pt x="106603" y="205732"/>
                </a:lnTo>
                <a:lnTo>
                  <a:pt x="0" y="20573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r="-301015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5" name="TextBox 13">
            <a:extLst>
              <a:ext uri="{FF2B5EF4-FFF2-40B4-BE49-F238E27FC236}">
                <a16:creationId xmlns:a16="http://schemas.microsoft.com/office/drawing/2014/main" id="{C57D70A7-61ED-A7D5-7C56-8CA92E3C1F3E}"/>
              </a:ext>
            </a:extLst>
          </p:cNvPr>
          <p:cNvSpPr txBox="1"/>
          <p:nvPr/>
        </p:nvSpPr>
        <p:spPr>
          <a:xfrm>
            <a:off x="1828800" y="5877924"/>
            <a:ext cx="14020800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49"/>
              </a:lnSpc>
            </a:pPr>
            <a:r>
              <a:rPr lang="en-US" sz="2499" b="1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PASSIVOS ATUAIS:</a:t>
            </a:r>
            <a:r>
              <a:rPr lang="en-US" sz="2499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análise</a:t>
            </a:r>
            <a:r>
              <a:rPr lang="en-US" sz="2499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 dos </a:t>
            </a:r>
            <a:r>
              <a:rPr lang="en-US" sz="2499" dirty="0" err="1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compromissos</a:t>
            </a:r>
            <a:r>
              <a:rPr lang="en-US" sz="2499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já</a:t>
            </a:r>
            <a:r>
              <a:rPr lang="en-US" sz="2499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assumidos</a:t>
            </a:r>
            <a:r>
              <a:rPr lang="en-US" sz="2499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 e </a:t>
            </a:r>
            <a:r>
              <a:rPr lang="en-US" sz="2499" dirty="0" err="1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como</a:t>
            </a:r>
            <a:r>
              <a:rPr lang="en-US" sz="2499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 se </a:t>
            </a:r>
            <a:r>
              <a:rPr lang="en-US" sz="2499" dirty="0" err="1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comportam</a:t>
            </a:r>
            <a:r>
              <a:rPr lang="en-US" sz="2499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 no </a:t>
            </a:r>
            <a:r>
              <a:rPr lang="en-US" sz="2499" dirty="0" err="1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fluxo</a:t>
            </a:r>
            <a:r>
              <a:rPr lang="en-US" sz="2499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 de </a:t>
            </a:r>
            <a:r>
              <a:rPr lang="en-US" sz="2499" dirty="0" err="1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caixa</a:t>
            </a:r>
            <a:r>
              <a:rPr lang="en-US" sz="2499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atual</a:t>
            </a:r>
            <a:r>
              <a:rPr lang="en-US" sz="2499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;</a:t>
            </a:r>
          </a:p>
        </p:txBody>
      </p:sp>
      <p:grpSp>
        <p:nvGrpSpPr>
          <p:cNvPr id="56" name="Group 9">
            <a:extLst>
              <a:ext uri="{FF2B5EF4-FFF2-40B4-BE49-F238E27FC236}">
                <a16:creationId xmlns:a16="http://schemas.microsoft.com/office/drawing/2014/main" id="{EEB853D2-149C-CA21-9C3A-10C9D17785C1}"/>
              </a:ext>
            </a:extLst>
          </p:cNvPr>
          <p:cNvGrpSpPr/>
          <p:nvPr/>
        </p:nvGrpSpPr>
        <p:grpSpPr>
          <a:xfrm>
            <a:off x="955705" y="6857570"/>
            <a:ext cx="402757" cy="402757"/>
            <a:chOff x="0" y="0"/>
            <a:chExt cx="812800" cy="812800"/>
          </a:xfrm>
        </p:grpSpPr>
        <p:sp>
          <p:nvSpPr>
            <p:cNvPr id="57" name="Freeform 10">
              <a:extLst>
                <a:ext uri="{FF2B5EF4-FFF2-40B4-BE49-F238E27FC236}">
                  <a16:creationId xmlns:a16="http://schemas.microsoft.com/office/drawing/2014/main" id="{40F24CDE-7C91-AF0A-EF8B-55B971F226A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6300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58" name="TextBox 11">
              <a:extLst>
                <a:ext uri="{FF2B5EF4-FFF2-40B4-BE49-F238E27FC236}">
                  <a16:creationId xmlns:a16="http://schemas.microsoft.com/office/drawing/2014/main" id="{6B468C74-23B8-13FE-254B-D16AAD03FB68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9" name="Freeform 12">
            <a:extLst>
              <a:ext uri="{FF2B5EF4-FFF2-40B4-BE49-F238E27FC236}">
                <a16:creationId xmlns:a16="http://schemas.microsoft.com/office/drawing/2014/main" id="{1D4E90D6-C878-896D-5D57-C84B415AD8F7}"/>
              </a:ext>
            </a:extLst>
          </p:cNvPr>
          <p:cNvSpPr/>
          <p:nvPr/>
        </p:nvSpPr>
        <p:spPr>
          <a:xfrm rot="-10800000">
            <a:off x="1540330" y="6956083"/>
            <a:ext cx="106603" cy="205732"/>
          </a:xfrm>
          <a:custGeom>
            <a:avLst/>
            <a:gdLst/>
            <a:ahLst/>
            <a:cxnLst/>
            <a:rect l="l" t="t" r="r" b="b"/>
            <a:pathLst>
              <a:path w="106603" h="205732">
                <a:moveTo>
                  <a:pt x="0" y="0"/>
                </a:moveTo>
                <a:lnTo>
                  <a:pt x="106603" y="0"/>
                </a:lnTo>
                <a:lnTo>
                  <a:pt x="106603" y="205732"/>
                </a:lnTo>
                <a:lnTo>
                  <a:pt x="0" y="20573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r="-301015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0" name="TextBox 13">
            <a:extLst>
              <a:ext uri="{FF2B5EF4-FFF2-40B4-BE49-F238E27FC236}">
                <a16:creationId xmlns:a16="http://schemas.microsoft.com/office/drawing/2014/main" id="{3B4065F9-2FDA-83AC-6AF2-DB62066AA770}"/>
              </a:ext>
            </a:extLst>
          </p:cNvPr>
          <p:cNvSpPr txBox="1"/>
          <p:nvPr/>
        </p:nvSpPr>
        <p:spPr>
          <a:xfrm>
            <a:off x="1828800" y="6892261"/>
            <a:ext cx="14020800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49"/>
              </a:lnSpc>
            </a:pPr>
            <a:r>
              <a:rPr lang="en-US" sz="2499" b="1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REDUÇÃO DE CUSTOS: </a:t>
            </a:r>
            <a:r>
              <a:rPr lang="en-US" sz="2499" dirty="0" err="1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avaliação</a:t>
            </a:r>
            <a:r>
              <a:rPr lang="en-US" sz="2499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 de </a:t>
            </a:r>
            <a:r>
              <a:rPr lang="en-US" sz="2499" dirty="0" err="1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pontos</a:t>
            </a:r>
            <a:r>
              <a:rPr lang="en-US" sz="2499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 para </a:t>
            </a:r>
            <a:r>
              <a:rPr lang="en-US" sz="2499" dirty="0" err="1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redução</a:t>
            </a:r>
            <a:r>
              <a:rPr lang="en-US" sz="2499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 de custos, </a:t>
            </a:r>
            <a:r>
              <a:rPr lang="en-US" sz="2499" dirty="0" err="1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insumos</a:t>
            </a:r>
            <a:r>
              <a:rPr lang="en-US" sz="2499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, </a:t>
            </a:r>
            <a:r>
              <a:rPr lang="en-US" sz="2499" dirty="0" err="1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operação</a:t>
            </a:r>
            <a:r>
              <a:rPr lang="en-US" sz="2499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 e, </a:t>
            </a:r>
            <a:r>
              <a:rPr lang="en-US" sz="2499" dirty="0" err="1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principalmente</a:t>
            </a:r>
            <a:r>
              <a:rPr lang="en-US" sz="2499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, </a:t>
            </a:r>
            <a:r>
              <a:rPr lang="en-US" sz="2499" dirty="0" err="1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financeiro</a:t>
            </a:r>
            <a:r>
              <a:rPr lang="en-US" sz="2499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;</a:t>
            </a:r>
          </a:p>
        </p:txBody>
      </p:sp>
      <p:grpSp>
        <p:nvGrpSpPr>
          <p:cNvPr id="61" name="Group 9">
            <a:extLst>
              <a:ext uri="{FF2B5EF4-FFF2-40B4-BE49-F238E27FC236}">
                <a16:creationId xmlns:a16="http://schemas.microsoft.com/office/drawing/2014/main" id="{5CEB6447-B4EE-D754-E578-93867784472B}"/>
              </a:ext>
            </a:extLst>
          </p:cNvPr>
          <p:cNvGrpSpPr/>
          <p:nvPr/>
        </p:nvGrpSpPr>
        <p:grpSpPr>
          <a:xfrm>
            <a:off x="955705" y="7865576"/>
            <a:ext cx="402757" cy="402757"/>
            <a:chOff x="0" y="0"/>
            <a:chExt cx="812800" cy="812800"/>
          </a:xfrm>
        </p:grpSpPr>
        <p:sp>
          <p:nvSpPr>
            <p:cNvPr id="62" name="Freeform 10">
              <a:extLst>
                <a:ext uri="{FF2B5EF4-FFF2-40B4-BE49-F238E27FC236}">
                  <a16:creationId xmlns:a16="http://schemas.microsoft.com/office/drawing/2014/main" id="{1FBEE67E-ADA3-CAD2-B9F0-4B5CF2DC0EF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6300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63" name="TextBox 11">
              <a:extLst>
                <a:ext uri="{FF2B5EF4-FFF2-40B4-BE49-F238E27FC236}">
                  <a16:creationId xmlns:a16="http://schemas.microsoft.com/office/drawing/2014/main" id="{A2AAEAF0-7A7B-FDE1-19DE-03FFB3B3C415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4" name="Freeform 12">
            <a:extLst>
              <a:ext uri="{FF2B5EF4-FFF2-40B4-BE49-F238E27FC236}">
                <a16:creationId xmlns:a16="http://schemas.microsoft.com/office/drawing/2014/main" id="{B0F10443-DA40-8718-D1CE-2602A279AB95}"/>
              </a:ext>
            </a:extLst>
          </p:cNvPr>
          <p:cNvSpPr/>
          <p:nvPr/>
        </p:nvSpPr>
        <p:spPr>
          <a:xfrm rot="-10800000">
            <a:off x="1540330" y="7964089"/>
            <a:ext cx="106603" cy="205732"/>
          </a:xfrm>
          <a:custGeom>
            <a:avLst/>
            <a:gdLst/>
            <a:ahLst/>
            <a:cxnLst/>
            <a:rect l="l" t="t" r="r" b="b"/>
            <a:pathLst>
              <a:path w="106603" h="205732">
                <a:moveTo>
                  <a:pt x="0" y="0"/>
                </a:moveTo>
                <a:lnTo>
                  <a:pt x="106603" y="0"/>
                </a:lnTo>
                <a:lnTo>
                  <a:pt x="106603" y="205732"/>
                </a:lnTo>
                <a:lnTo>
                  <a:pt x="0" y="20573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r="-301015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5" name="TextBox 13">
            <a:extLst>
              <a:ext uri="{FF2B5EF4-FFF2-40B4-BE49-F238E27FC236}">
                <a16:creationId xmlns:a16="http://schemas.microsoft.com/office/drawing/2014/main" id="{30E5718D-8C9A-CA57-A193-8C4C9357B8EA}"/>
              </a:ext>
            </a:extLst>
          </p:cNvPr>
          <p:cNvSpPr txBox="1"/>
          <p:nvPr/>
        </p:nvSpPr>
        <p:spPr>
          <a:xfrm>
            <a:off x="1828800" y="7900267"/>
            <a:ext cx="14020800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49"/>
              </a:lnSpc>
            </a:pPr>
            <a:r>
              <a:rPr lang="en-US" sz="2499" b="1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SUGESTÕES DE AJUSTE DE LIQUIDEZ: </a:t>
            </a:r>
            <a:r>
              <a:rPr lang="en-US" sz="2499" dirty="0" err="1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promover</a:t>
            </a:r>
            <a:r>
              <a:rPr lang="en-US" sz="2499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liquidez</a:t>
            </a:r>
            <a:r>
              <a:rPr lang="en-US" sz="2499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 com </a:t>
            </a:r>
            <a:r>
              <a:rPr lang="en-US" sz="2499" dirty="0" err="1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alavancagem</a:t>
            </a:r>
            <a:r>
              <a:rPr lang="en-US" sz="2499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 patrimonial, </a:t>
            </a:r>
            <a:r>
              <a:rPr lang="en-US" sz="2499" dirty="0" err="1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melhor</a:t>
            </a:r>
            <a:r>
              <a:rPr lang="en-US" sz="2499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alocando</a:t>
            </a:r>
            <a:r>
              <a:rPr lang="en-US" sz="2499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 o </a:t>
            </a:r>
            <a:r>
              <a:rPr lang="en-US" sz="2499" dirty="0" err="1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uso</a:t>
            </a:r>
            <a:r>
              <a:rPr lang="en-US" sz="2499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 de </a:t>
            </a:r>
            <a:r>
              <a:rPr lang="en-US" sz="2499" dirty="0" err="1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garantias</a:t>
            </a:r>
            <a:r>
              <a:rPr lang="en-US" sz="2499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 e </a:t>
            </a:r>
            <a:r>
              <a:rPr lang="en-US" sz="2499" dirty="0" err="1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reestruturar</a:t>
            </a:r>
            <a:r>
              <a:rPr lang="en-US" sz="2499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os</a:t>
            </a:r>
            <a:r>
              <a:rPr lang="en-US" sz="2499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prazos</a:t>
            </a:r>
            <a:r>
              <a:rPr lang="en-US" sz="2499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 de </a:t>
            </a:r>
            <a:r>
              <a:rPr lang="en-US" sz="2499" dirty="0" err="1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operações</a:t>
            </a:r>
            <a:r>
              <a:rPr lang="en-US" sz="2499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 de </a:t>
            </a:r>
            <a:r>
              <a:rPr lang="en-US" sz="2499" dirty="0" err="1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crédito</a:t>
            </a:r>
            <a:r>
              <a:rPr lang="en-US" sz="2499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6B848-1019-9919-E2D0-894DC2540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2">
            <a:extLst>
              <a:ext uri="{FF2B5EF4-FFF2-40B4-BE49-F238E27FC236}">
                <a16:creationId xmlns:a16="http://schemas.microsoft.com/office/drawing/2014/main" id="{22074C3F-7B77-EDFB-5A6A-9CF79367088E}"/>
              </a:ext>
            </a:extLst>
          </p:cNvPr>
          <p:cNvSpPr/>
          <p:nvPr/>
        </p:nvSpPr>
        <p:spPr>
          <a:xfrm rot="-5833167">
            <a:off x="11349455" y="1793292"/>
            <a:ext cx="10691222" cy="4610589"/>
          </a:xfrm>
          <a:custGeom>
            <a:avLst/>
            <a:gdLst/>
            <a:ahLst/>
            <a:cxnLst/>
            <a:rect l="l" t="t" r="r" b="b"/>
            <a:pathLst>
              <a:path w="10691222" h="4610589">
                <a:moveTo>
                  <a:pt x="0" y="0"/>
                </a:moveTo>
                <a:lnTo>
                  <a:pt x="10691221" y="0"/>
                </a:lnTo>
                <a:lnTo>
                  <a:pt x="10691221" y="4610589"/>
                </a:lnTo>
                <a:lnTo>
                  <a:pt x="0" y="46105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23" name="Freeform 23">
            <a:extLst>
              <a:ext uri="{FF2B5EF4-FFF2-40B4-BE49-F238E27FC236}">
                <a16:creationId xmlns:a16="http://schemas.microsoft.com/office/drawing/2014/main" id="{7B676EBC-2724-7797-5D3C-6B4AB3436271}"/>
              </a:ext>
            </a:extLst>
          </p:cNvPr>
          <p:cNvSpPr/>
          <p:nvPr/>
        </p:nvSpPr>
        <p:spPr>
          <a:xfrm>
            <a:off x="16914213" y="619639"/>
            <a:ext cx="859394" cy="492537"/>
          </a:xfrm>
          <a:custGeom>
            <a:avLst/>
            <a:gdLst/>
            <a:ahLst/>
            <a:cxnLst/>
            <a:rect l="l" t="t" r="r" b="b"/>
            <a:pathLst>
              <a:path w="859394" h="492537">
                <a:moveTo>
                  <a:pt x="0" y="0"/>
                </a:moveTo>
                <a:lnTo>
                  <a:pt x="859394" y="0"/>
                </a:lnTo>
                <a:lnTo>
                  <a:pt x="859394" y="492537"/>
                </a:lnTo>
                <a:lnTo>
                  <a:pt x="0" y="4925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120431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904781BD-D0D4-5F6A-50DE-28000F890104}"/>
              </a:ext>
            </a:extLst>
          </p:cNvPr>
          <p:cNvSpPr/>
          <p:nvPr/>
        </p:nvSpPr>
        <p:spPr>
          <a:xfrm>
            <a:off x="2558374" y="584489"/>
            <a:ext cx="949122" cy="1331973"/>
          </a:xfrm>
          <a:custGeom>
            <a:avLst/>
            <a:gdLst/>
            <a:ahLst/>
            <a:cxnLst/>
            <a:rect l="l" t="t" r="r" b="b"/>
            <a:pathLst>
              <a:path w="949122" h="1331973">
                <a:moveTo>
                  <a:pt x="0" y="0"/>
                </a:moveTo>
                <a:lnTo>
                  <a:pt x="949122" y="0"/>
                </a:lnTo>
                <a:lnTo>
                  <a:pt x="949122" y="1331973"/>
                </a:lnTo>
                <a:lnTo>
                  <a:pt x="0" y="13319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25" name="TextBox 2">
            <a:extLst>
              <a:ext uri="{FF2B5EF4-FFF2-40B4-BE49-F238E27FC236}">
                <a16:creationId xmlns:a16="http://schemas.microsoft.com/office/drawing/2014/main" id="{13653876-D147-9DFF-3E88-596A24C32227}"/>
              </a:ext>
            </a:extLst>
          </p:cNvPr>
          <p:cNvSpPr txBox="1"/>
          <p:nvPr/>
        </p:nvSpPr>
        <p:spPr>
          <a:xfrm>
            <a:off x="4171950" y="595475"/>
            <a:ext cx="9944100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4800" b="1" dirty="0" err="1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Diagnóstico</a:t>
            </a:r>
            <a:r>
              <a:rPr lang="en-US" sz="4800" b="1" dirty="0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do </a:t>
            </a:r>
            <a:r>
              <a:rPr lang="en-US" sz="4800" b="1" dirty="0" err="1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Cenário</a:t>
            </a:r>
            <a:r>
              <a:rPr lang="en-US" sz="4800" b="1" dirty="0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4800" b="1" dirty="0" err="1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Atual</a:t>
            </a:r>
            <a:endParaRPr lang="en-US" sz="4800" b="1" dirty="0">
              <a:solidFill>
                <a:srgbClr val="369936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26" name="TextBox 2">
            <a:extLst>
              <a:ext uri="{FF2B5EF4-FFF2-40B4-BE49-F238E27FC236}">
                <a16:creationId xmlns:a16="http://schemas.microsoft.com/office/drawing/2014/main" id="{A70C226F-FE0B-8456-2D01-DFFE68DBBA02}"/>
              </a:ext>
            </a:extLst>
          </p:cNvPr>
          <p:cNvSpPr txBox="1"/>
          <p:nvPr/>
        </p:nvSpPr>
        <p:spPr>
          <a:xfrm>
            <a:off x="3792164" y="1334139"/>
            <a:ext cx="9944100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ANÁLISE DOS GRANDES NÚMEROS</a:t>
            </a:r>
          </a:p>
        </p:txBody>
      </p:sp>
      <p:grpSp>
        <p:nvGrpSpPr>
          <p:cNvPr id="31" name="Group 9">
            <a:extLst>
              <a:ext uri="{FF2B5EF4-FFF2-40B4-BE49-F238E27FC236}">
                <a16:creationId xmlns:a16="http://schemas.microsoft.com/office/drawing/2014/main" id="{EC362304-EB2B-638E-3232-9E1310CCD26C}"/>
              </a:ext>
            </a:extLst>
          </p:cNvPr>
          <p:cNvGrpSpPr/>
          <p:nvPr/>
        </p:nvGrpSpPr>
        <p:grpSpPr>
          <a:xfrm>
            <a:off x="955705" y="3030202"/>
            <a:ext cx="402757" cy="402757"/>
            <a:chOff x="0" y="0"/>
            <a:chExt cx="812800" cy="812800"/>
          </a:xfrm>
        </p:grpSpPr>
        <p:sp>
          <p:nvSpPr>
            <p:cNvPr id="32" name="Freeform 10">
              <a:extLst>
                <a:ext uri="{FF2B5EF4-FFF2-40B4-BE49-F238E27FC236}">
                  <a16:creationId xmlns:a16="http://schemas.microsoft.com/office/drawing/2014/main" id="{5BB618D3-2EFB-1454-96F9-42E822C342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6300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33" name="TextBox 11">
              <a:extLst>
                <a:ext uri="{FF2B5EF4-FFF2-40B4-BE49-F238E27FC236}">
                  <a16:creationId xmlns:a16="http://schemas.microsoft.com/office/drawing/2014/main" id="{ABFA8ED8-3BCC-5256-E868-4F161B6CCEE8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4" name="Freeform 12">
            <a:extLst>
              <a:ext uri="{FF2B5EF4-FFF2-40B4-BE49-F238E27FC236}">
                <a16:creationId xmlns:a16="http://schemas.microsoft.com/office/drawing/2014/main" id="{75E3036A-387D-437F-A60C-D1DFF5564E1F}"/>
              </a:ext>
            </a:extLst>
          </p:cNvPr>
          <p:cNvSpPr/>
          <p:nvPr/>
        </p:nvSpPr>
        <p:spPr>
          <a:xfrm rot="-10800000">
            <a:off x="1540330" y="3128715"/>
            <a:ext cx="106603" cy="205732"/>
          </a:xfrm>
          <a:custGeom>
            <a:avLst/>
            <a:gdLst/>
            <a:ahLst/>
            <a:cxnLst/>
            <a:rect l="l" t="t" r="r" b="b"/>
            <a:pathLst>
              <a:path w="106603" h="205732">
                <a:moveTo>
                  <a:pt x="0" y="0"/>
                </a:moveTo>
                <a:lnTo>
                  <a:pt x="106603" y="0"/>
                </a:lnTo>
                <a:lnTo>
                  <a:pt x="106603" y="205732"/>
                </a:lnTo>
                <a:lnTo>
                  <a:pt x="0" y="20573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r="-301015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5" name="TextBox 13">
            <a:extLst>
              <a:ext uri="{FF2B5EF4-FFF2-40B4-BE49-F238E27FC236}">
                <a16:creationId xmlns:a16="http://schemas.microsoft.com/office/drawing/2014/main" id="{C83CCDA3-ED63-D9AB-D92A-991B7748DBCE}"/>
              </a:ext>
            </a:extLst>
          </p:cNvPr>
          <p:cNvSpPr txBox="1"/>
          <p:nvPr/>
        </p:nvSpPr>
        <p:spPr>
          <a:xfrm>
            <a:off x="1828800" y="3064893"/>
            <a:ext cx="14020800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49"/>
              </a:lnSpc>
            </a:pPr>
            <a:r>
              <a:rPr lang="en-US" sz="2499" dirty="0" err="1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Análise</a:t>
            </a:r>
            <a:r>
              <a:rPr lang="en-US" sz="2499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 de </a:t>
            </a:r>
            <a:r>
              <a:rPr lang="en-US" sz="2499" dirty="0" err="1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receitas</a:t>
            </a:r>
            <a:r>
              <a:rPr lang="en-US" sz="2499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 e custos com </a:t>
            </a:r>
            <a:r>
              <a:rPr lang="en-US" sz="2499" dirty="0" err="1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parâmetros</a:t>
            </a:r>
            <a:r>
              <a:rPr lang="en-US" sz="2499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 de mercado e </a:t>
            </a:r>
            <a:r>
              <a:rPr lang="en-US" sz="2499" dirty="0" err="1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checagem</a:t>
            </a:r>
            <a:r>
              <a:rPr lang="en-US" sz="2499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 documental;</a:t>
            </a:r>
          </a:p>
        </p:txBody>
      </p:sp>
      <p:grpSp>
        <p:nvGrpSpPr>
          <p:cNvPr id="2" name="Group 9">
            <a:extLst>
              <a:ext uri="{FF2B5EF4-FFF2-40B4-BE49-F238E27FC236}">
                <a16:creationId xmlns:a16="http://schemas.microsoft.com/office/drawing/2014/main" id="{D8939728-D773-0C6B-975A-9EAE27884F97}"/>
              </a:ext>
            </a:extLst>
          </p:cNvPr>
          <p:cNvGrpSpPr/>
          <p:nvPr/>
        </p:nvGrpSpPr>
        <p:grpSpPr>
          <a:xfrm>
            <a:off x="955705" y="3872776"/>
            <a:ext cx="402757" cy="402757"/>
            <a:chOff x="0" y="0"/>
            <a:chExt cx="812800" cy="812800"/>
          </a:xfrm>
        </p:grpSpPr>
        <p:sp>
          <p:nvSpPr>
            <p:cNvPr id="3" name="Freeform 10">
              <a:extLst>
                <a:ext uri="{FF2B5EF4-FFF2-40B4-BE49-F238E27FC236}">
                  <a16:creationId xmlns:a16="http://schemas.microsoft.com/office/drawing/2014/main" id="{DF25F347-9076-9B7E-1A98-1E39D1B262F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6300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11">
              <a:extLst>
                <a:ext uri="{FF2B5EF4-FFF2-40B4-BE49-F238E27FC236}">
                  <a16:creationId xmlns:a16="http://schemas.microsoft.com/office/drawing/2014/main" id="{E94FCE64-986F-78A6-2DF8-B99083EDDD50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12">
            <a:extLst>
              <a:ext uri="{FF2B5EF4-FFF2-40B4-BE49-F238E27FC236}">
                <a16:creationId xmlns:a16="http://schemas.microsoft.com/office/drawing/2014/main" id="{5CFBB058-1ED3-F6C5-5E15-FFE4BD8139E5}"/>
              </a:ext>
            </a:extLst>
          </p:cNvPr>
          <p:cNvSpPr/>
          <p:nvPr/>
        </p:nvSpPr>
        <p:spPr>
          <a:xfrm rot="-10800000">
            <a:off x="1540330" y="3971289"/>
            <a:ext cx="106603" cy="205732"/>
          </a:xfrm>
          <a:custGeom>
            <a:avLst/>
            <a:gdLst/>
            <a:ahLst/>
            <a:cxnLst/>
            <a:rect l="l" t="t" r="r" b="b"/>
            <a:pathLst>
              <a:path w="106603" h="205732">
                <a:moveTo>
                  <a:pt x="0" y="0"/>
                </a:moveTo>
                <a:lnTo>
                  <a:pt x="106603" y="0"/>
                </a:lnTo>
                <a:lnTo>
                  <a:pt x="106603" y="205732"/>
                </a:lnTo>
                <a:lnTo>
                  <a:pt x="0" y="20573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r="-301015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TextBox 13">
            <a:extLst>
              <a:ext uri="{FF2B5EF4-FFF2-40B4-BE49-F238E27FC236}">
                <a16:creationId xmlns:a16="http://schemas.microsoft.com/office/drawing/2014/main" id="{251C99DA-EEC3-ACBC-12AC-A23B28C99499}"/>
              </a:ext>
            </a:extLst>
          </p:cNvPr>
          <p:cNvSpPr txBox="1"/>
          <p:nvPr/>
        </p:nvSpPr>
        <p:spPr>
          <a:xfrm>
            <a:off x="1828800" y="3907467"/>
            <a:ext cx="14020800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49"/>
              </a:lnSpc>
            </a:pPr>
            <a:r>
              <a:rPr lang="en-US" sz="2499" dirty="0" err="1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Análise</a:t>
            </a:r>
            <a:r>
              <a:rPr lang="en-US" sz="2499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detalhada</a:t>
            </a:r>
            <a:r>
              <a:rPr lang="en-US" sz="2499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 do </a:t>
            </a:r>
            <a:r>
              <a:rPr lang="en-US" sz="2499" dirty="0" err="1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endividamento</a:t>
            </a:r>
            <a:r>
              <a:rPr lang="en-US" sz="2499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, com </a:t>
            </a:r>
            <a:r>
              <a:rPr lang="en-US" sz="2499" dirty="0" err="1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projeções</a:t>
            </a:r>
            <a:r>
              <a:rPr lang="en-US" sz="2499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 de </a:t>
            </a:r>
            <a:r>
              <a:rPr lang="en-US" sz="2499" dirty="0" err="1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saldo</a:t>
            </a:r>
            <a:r>
              <a:rPr lang="en-US" sz="2499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atual</a:t>
            </a:r>
            <a:r>
              <a:rPr lang="en-US" sz="2499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 e </a:t>
            </a:r>
            <a:r>
              <a:rPr lang="en-US" sz="2499" dirty="0" err="1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futuro</a:t>
            </a:r>
            <a:r>
              <a:rPr lang="en-US" sz="2499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nos</a:t>
            </a:r>
            <a:r>
              <a:rPr lang="en-US" sz="2499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vencimentos</a:t>
            </a:r>
            <a:r>
              <a:rPr lang="en-US" sz="2499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;</a:t>
            </a:r>
          </a:p>
        </p:txBody>
      </p:sp>
      <p:grpSp>
        <p:nvGrpSpPr>
          <p:cNvPr id="7" name="Group 9">
            <a:extLst>
              <a:ext uri="{FF2B5EF4-FFF2-40B4-BE49-F238E27FC236}">
                <a16:creationId xmlns:a16="http://schemas.microsoft.com/office/drawing/2014/main" id="{9F3C9ECD-F38B-4605-9E44-CC90CE3E1CEF}"/>
              </a:ext>
            </a:extLst>
          </p:cNvPr>
          <p:cNvGrpSpPr/>
          <p:nvPr/>
        </p:nvGrpSpPr>
        <p:grpSpPr>
          <a:xfrm>
            <a:off x="955705" y="4908553"/>
            <a:ext cx="402757" cy="402757"/>
            <a:chOff x="0" y="0"/>
            <a:chExt cx="812800" cy="812800"/>
          </a:xfrm>
        </p:grpSpPr>
        <p:sp>
          <p:nvSpPr>
            <p:cNvPr id="8" name="Freeform 10">
              <a:extLst>
                <a:ext uri="{FF2B5EF4-FFF2-40B4-BE49-F238E27FC236}">
                  <a16:creationId xmlns:a16="http://schemas.microsoft.com/office/drawing/2014/main" id="{F1424AC7-CDFA-137C-D20F-F6B0095EE8D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6300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TextBox 11">
              <a:extLst>
                <a:ext uri="{FF2B5EF4-FFF2-40B4-BE49-F238E27FC236}">
                  <a16:creationId xmlns:a16="http://schemas.microsoft.com/office/drawing/2014/main" id="{C7F61931-3AD9-5AA8-E28B-4BC4C6009ED5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2">
            <a:extLst>
              <a:ext uri="{FF2B5EF4-FFF2-40B4-BE49-F238E27FC236}">
                <a16:creationId xmlns:a16="http://schemas.microsoft.com/office/drawing/2014/main" id="{F93893EB-8D12-FD9A-F9B0-FB7DBFD2BC1C}"/>
              </a:ext>
            </a:extLst>
          </p:cNvPr>
          <p:cNvSpPr/>
          <p:nvPr/>
        </p:nvSpPr>
        <p:spPr>
          <a:xfrm rot="-10800000">
            <a:off x="1540330" y="5007066"/>
            <a:ext cx="106603" cy="205732"/>
          </a:xfrm>
          <a:custGeom>
            <a:avLst/>
            <a:gdLst/>
            <a:ahLst/>
            <a:cxnLst/>
            <a:rect l="l" t="t" r="r" b="b"/>
            <a:pathLst>
              <a:path w="106603" h="205732">
                <a:moveTo>
                  <a:pt x="0" y="0"/>
                </a:moveTo>
                <a:lnTo>
                  <a:pt x="106603" y="0"/>
                </a:lnTo>
                <a:lnTo>
                  <a:pt x="106603" y="205732"/>
                </a:lnTo>
                <a:lnTo>
                  <a:pt x="0" y="20573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r="-301015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1" name="TextBox 13">
            <a:extLst>
              <a:ext uri="{FF2B5EF4-FFF2-40B4-BE49-F238E27FC236}">
                <a16:creationId xmlns:a16="http://schemas.microsoft.com/office/drawing/2014/main" id="{4CB8247D-3720-CCB4-02D5-D81F744E7147}"/>
              </a:ext>
            </a:extLst>
          </p:cNvPr>
          <p:cNvSpPr txBox="1"/>
          <p:nvPr/>
        </p:nvSpPr>
        <p:spPr>
          <a:xfrm>
            <a:off x="1828800" y="4943244"/>
            <a:ext cx="14020800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49"/>
              </a:lnSpc>
            </a:pPr>
            <a:r>
              <a:rPr lang="en-US" sz="2499" dirty="0" err="1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Simulações</a:t>
            </a:r>
            <a:r>
              <a:rPr lang="en-US" sz="2499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 de </a:t>
            </a:r>
            <a:r>
              <a:rPr lang="en-US" sz="2499" dirty="0" err="1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comportamento</a:t>
            </a:r>
            <a:r>
              <a:rPr lang="en-US" sz="2499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 de </a:t>
            </a:r>
            <a:r>
              <a:rPr lang="en-US" sz="2499" dirty="0" err="1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fluxo</a:t>
            </a:r>
            <a:r>
              <a:rPr lang="en-US" sz="2499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 de </a:t>
            </a:r>
            <a:r>
              <a:rPr lang="en-US" sz="2499" dirty="0" err="1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caixa</a:t>
            </a:r>
            <a:r>
              <a:rPr lang="en-US" sz="2499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 de </a:t>
            </a:r>
            <a:r>
              <a:rPr lang="en-US" sz="2499" dirty="0" err="1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acordo</a:t>
            </a:r>
            <a:r>
              <a:rPr lang="en-US" sz="2499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 com </a:t>
            </a:r>
            <a:r>
              <a:rPr lang="en-US" sz="2499" dirty="0" err="1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números</a:t>
            </a:r>
            <a:r>
              <a:rPr lang="en-US" sz="2499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 e </a:t>
            </a:r>
            <a:r>
              <a:rPr lang="en-US" sz="2499" dirty="0" err="1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documentos</a:t>
            </a:r>
            <a:r>
              <a:rPr lang="en-US" sz="2499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apresentados</a:t>
            </a:r>
            <a:r>
              <a:rPr lang="en-US" sz="2499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;</a:t>
            </a:r>
          </a:p>
        </p:txBody>
      </p:sp>
      <p:grpSp>
        <p:nvGrpSpPr>
          <p:cNvPr id="13" name="Group 9">
            <a:extLst>
              <a:ext uri="{FF2B5EF4-FFF2-40B4-BE49-F238E27FC236}">
                <a16:creationId xmlns:a16="http://schemas.microsoft.com/office/drawing/2014/main" id="{63ACC1B7-C899-88DC-B4C1-29626B4018E6}"/>
              </a:ext>
            </a:extLst>
          </p:cNvPr>
          <p:cNvGrpSpPr/>
          <p:nvPr/>
        </p:nvGrpSpPr>
        <p:grpSpPr>
          <a:xfrm>
            <a:off x="955705" y="5953914"/>
            <a:ext cx="402757" cy="402757"/>
            <a:chOff x="0" y="0"/>
            <a:chExt cx="812800" cy="812800"/>
          </a:xfrm>
        </p:grpSpPr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591DBCF9-03E7-D3CE-4A35-3AF4C0F7C26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6300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TextBox 11">
              <a:extLst>
                <a:ext uri="{FF2B5EF4-FFF2-40B4-BE49-F238E27FC236}">
                  <a16:creationId xmlns:a16="http://schemas.microsoft.com/office/drawing/2014/main" id="{548246A7-2315-9319-1E48-A0A36948CC22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Freeform 12">
            <a:extLst>
              <a:ext uri="{FF2B5EF4-FFF2-40B4-BE49-F238E27FC236}">
                <a16:creationId xmlns:a16="http://schemas.microsoft.com/office/drawing/2014/main" id="{4CA66A86-1341-14D7-E4DA-225F6FFBE4D0}"/>
              </a:ext>
            </a:extLst>
          </p:cNvPr>
          <p:cNvSpPr/>
          <p:nvPr/>
        </p:nvSpPr>
        <p:spPr>
          <a:xfrm rot="-10800000">
            <a:off x="1540330" y="6052427"/>
            <a:ext cx="106603" cy="205732"/>
          </a:xfrm>
          <a:custGeom>
            <a:avLst/>
            <a:gdLst/>
            <a:ahLst/>
            <a:cxnLst/>
            <a:rect l="l" t="t" r="r" b="b"/>
            <a:pathLst>
              <a:path w="106603" h="205732">
                <a:moveTo>
                  <a:pt x="0" y="0"/>
                </a:moveTo>
                <a:lnTo>
                  <a:pt x="106603" y="0"/>
                </a:lnTo>
                <a:lnTo>
                  <a:pt x="106603" y="205732"/>
                </a:lnTo>
                <a:lnTo>
                  <a:pt x="0" y="20573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r="-301015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7" name="TextBox 13">
            <a:extLst>
              <a:ext uri="{FF2B5EF4-FFF2-40B4-BE49-F238E27FC236}">
                <a16:creationId xmlns:a16="http://schemas.microsoft.com/office/drawing/2014/main" id="{CD671C74-4984-374E-1DD5-4852F78C087C}"/>
              </a:ext>
            </a:extLst>
          </p:cNvPr>
          <p:cNvSpPr txBox="1"/>
          <p:nvPr/>
        </p:nvSpPr>
        <p:spPr>
          <a:xfrm>
            <a:off x="1828800" y="5988605"/>
            <a:ext cx="14020800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49"/>
              </a:lnSpc>
            </a:pPr>
            <a:r>
              <a:rPr lang="en-US" sz="2499" dirty="0" err="1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Estudo</a:t>
            </a:r>
            <a:r>
              <a:rPr lang="en-US" sz="2499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detalhado</a:t>
            </a:r>
            <a:r>
              <a:rPr lang="en-US" sz="2499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 da </a:t>
            </a:r>
            <a:r>
              <a:rPr lang="en-US" sz="2499" dirty="0" err="1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composição</a:t>
            </a:r>
            <a:r>
              <a:rPr lang="en-US" sz="2499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 das </a:t>
            </a:r>
            <a:r>
              <a:rPr lang="en-US" sz="2499" dirty="0" err="1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garantias</a:t>
            </a:r>
            <a:r>
              <a:rPr lang="en-US" sz="2499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 e </a:t>
            </a:r>
            <a:r>
              <a:rPr lang="en-US" sz="2499" dirty="0" err="1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sua</a:t>
            </a:r>
            <a:r>
              <a:rPr lang="en-US" sz="2499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alocação</a:t>
            </a:r>
            <a:r>
              <a:rPr lang="en-US" sz="2499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;</a:t>
            </a:r>
          </a:p>
        </p:txBody>
      </p:sp>
      <p:grpSp>
        <p:nvGrpSpPr>
          <p:cNvPr id="18" name="Group 9">
            <a:extLst>
              <a:ext uri="{FF2B5EF4-FFF2-40B4-BE49-F238E27FC236}">
                <a16:creationId xmlns:a16="http://schemas.microsoft.com/office/drawing/2014/main" id="{72421167-A432-CE2F-2A81-A577E816FA97}"/>
              </a:ext>
            </a:extLst>
          </p:cNvPr>
          <p:cNvGrpSpPr/>
          <p:nvPr/>
        </p:nvGrpSpPr>
        <p:grpSpPr>
          <a:xfrm>
            <a:off x="955705" y="6793543"/>
            <a:ext cx="402757" cy="402757"/>
            <a:chOff x="0" y="0"/>
            <a:chExt cx="812800" cy="812800"/>
          </a:xfrm>
        </p:grpSpPr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B0C0A5C6-FF1C-7E9C-2506-9ABABC42BA9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6300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0" name="TextBox 11">
              <a:extLst>
                <a:ext uri="{FF2B5EF4-FFF2-40B4-BE49-F238E27FC236}">
                  <a16:creationId xmlns:a16="http://schemas.microsoft.com/office/drawing/2014/main" id="{802A53B8-A498-6404-0E4F-E4A12A7F09DC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Freeform 12">
            <a:extLst>
              <a:ext uri="{FF2B5EF4-FFF2-40B4-BE49-F238E27FC236}">
                <a16:creationId xmlns:a16="http://schemas.microsoft.com/office/drawing/2014/main" id="{9F4264D1-AF69-48E5-4E2C-8E7CEA266069}"/>
              </a:ext>
            </a:extLst>
          </p:cNvPr>
          <p:cNvSpPr/>
          <p:nvPr/>
        </p:nvSpPr>
        <p:spPr>
          <a:xfrm rot="-10800000">
            <a:off x="1540330" y="6892056"/>
            <a:ext cx="106603" cy="205732"/>
          </a:xfrm>
          <a:custGeom>
            <a:avLst/>
            <a:gdLst/>
            <a:ahLst/>
            <a:cxnLst/>
            <a:rect l="l" t="t" r="r" b="b"/>
            <a:pathLst>
              <a:path w="106603" h="205732">
                <a:moveTo>
                  <a:pt x="0" y="0"/>
                </a:moveTo>
                <a:lnTo>
                  <a:pt x="106603" y="0"/>
                </a:lnTo>
                <a:lnTo>
                  <a:pt x="106603" y="205732"/>
                </a:lnTo>
                <a:lnTo>
                  <a:pt x="0" y="20573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r="-301015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22" name="TextBox 13">
            <a:extLst>
              <a:ext uri="{FF2B5EF4-FFF2-40B4-BE49-F238E27FC236}">
                <a16:creationId xmlns:a16="http://schemas.microsoft.com/office/drawing/2014/main" id="{43DC5E6C-315B-B544-5D6F-0BFC28529F31}"/>
              </a:ext>
            </a:extLst>
          </p:cNvPr>
          <p:cNvSpPr txBox="1"/>
          <p:nvPr/>
        </p:nvSpPr>
        <p:spPr>
          <a:xfrm>
            <a:off x="1828800" y="6828234"/>
            <a:ext cx="14020800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49"/>
              </a:lnSpc>
            </a:pPr>
            <a:r>
              <a:rPr lang="en-US" sz="2499" dirty="0" err="1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Análise</a:t>
            </a:r>
            <a:r>
              <a:rPr lang="en-US" sz="2499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 de </a:t>
            </a:r>
            <a:r>
              <a:rPr lang="en-US" sz="2499" dirty="0" err="1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disponibilidades</a:t>
            </a:r>
            <a:r>
              <a:rPr lang="en-US" sz="2499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 e </a:t>
            </a:r>
            <a:r>
              <a:rPr lang="en-US" sz="2499" dirty="0" err="1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portabilidades</a:t>
            </a:r>
            <a:r>
              <a:rPr lang="en-US" sz="2499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 de </a:t>
            </a:r>
            <a:r>
              <a:rPr lang="en-US" sz="2499" dirty="0" err="1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crédito</a:t>
            </a:r>
            <a:r>
              <a:rPr lang="en-US" sz="2499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;</a:t>
            </a:r>
          </a:p>
        </p:txBody>
      </p:sp>
      <p:grpSp>
        <p:nvGrpSpPr>
          <p:cNvPr id="27" name="Group 9">
            <a:extLst>
              <a:ext uri="{FF2B5EF4-FFF2-40B4-BE49-F238E27FC236}">
                <a16:creationId xmlns:a16="http://schemas.microsoft.com/office/drawing/2014/main" id="{910A300D-9624-22F3-0A78-23726B60B7A8}"/>
              </a:ext>
            </a:extLst>
          </p:cNvPr>
          <p:cNvGrpSpPr/>
          <p:nvPr/>
        </p:nvGrpSpPr>
        <p:grpSpPr>
          <a:xfrm>
            <a:off x="955705" y="7615969"/>
            <a:ext cx="402757" cy="402757"/>
            <a:chOff x="0" y="0"/>
            <a:chExt cx="812800" cy="812800"/>
          </a:xfrm>
        </p:grpSpPr>
        <p:sp>
          <p:nvSpPr>
            <p:cNvPr id="28" name="Freeform 10">
              <a:extLst>
                <a:ext uri="{FF2B5EF4-FFF2-40B4-BE49-F238E27FC236}">
                  <a16:creationId xmlns:a16="http://schemas.microsoft.com/office/drawing/2014/main" id="{24989911-5722-CBD0-2BD1-3292C88E1C4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6300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9" name="TextBox 11">
              <a:extLst>
                <a:ext uri="{FF2B5EF4-FFF2-40B4-BE49-F238E27FC236}">
                  <a16:creationId xmlns:a16="http://schemas.microsoft.com/office/drawing/2014/main" id="{8CA52188-BE53-0F16-E7BE-32CFE9081536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0" name="Freeform 12">
            <a:extLst>
              <a:ext uri="{FF2B5EF4-FFF2-40B4-BE49-F238E27FC236}">
                <a16:creationId xmlns:a16="http://schemas.microsoft.com/office/drawing/2014/main" id="{B8246050-D02B-2742-DA0A-C577BDC37F00}"/>
              </a:ext>
            </a:extLst>
          </p:cNvPr>
          <p:cNvSpPr/>
          <p:nvPr/>
        </p:nvSpPr>
        <p:spPr>
          <a:xfrm rot="-10800000">
            <a:off x="1540330" y="7714482"/>
            <a:ext cx="106603" cy="205732"/>
          </a:xfrm>
          <a:custGeom>
            <a:avLst/>
            <a:gdLst/>
            <a:ahLst/>
            <a:cxnLst/>
            <a:rect l="l" t="t" r="r" b="b"/>
            <a:pathLst>
              <a:path w="106603" h="205732">
                <a:moveTo>
                  <a:pt x="0" y="0"/>
                </a:moveTo>
                <a:lnTo>
                  <a:pt x="106603" y="0"/>
                </a:lnTo>
                <a:lnTo>
                  <a:pt x="106603" y="205732"/>
                </a:lnTo>
                <a:lnTo>
                  <a:pt x="0" y="20573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r="-301015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6" name="TextBox 13">
            <a:extLst>
              <a:ext uri="{FF2B5EF4-FFF2-40B4-BE49-F238E27FC236}">
                <a16:creationId xmlns:a16="http://schemas.microsoft.com/office/drawing/2014/main" id="{AFACF5EB-6BD2-776E-D4F2-B438446C3C56}"/>
              </a:ext>
            </a:extLst>
          </p:cNvPr>
          <p:cNvSpPr txBox="1"/>
          <p:nvPr/>
        </p:nvSpPr>
        <p:spPr>
          <a:xfrm>
            <a:off x="1828800" y="7650660"/>
            <a:ext cx="14020800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49"/>
              </a:lnSpc>
            </a:pPr>
            <a:r>
              <a:rPr lang="en-US" sz="2499" dirty="0" err="1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Análise</a:t>
            </a:r>
            <a:r>
              <a:rPr lang="en-US" sz="2499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 do </a:t>
            </a:r>
            <a:r>
              <a:rPr lang="en-US" sz="2499" dirty="0" err="1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saldo</a:t>
            </a:r>
            <a:r>
              <a:rPr lang="en-US" sz="2499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 final para a </a:t>
            </a:r>
            <a:r>
              <a:rPr lang="en-US" sz="2499" dirty="0" err="1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composição</a:t>
            </a:r>
            <a:r>
              <a:rPr lang="en-US" sz="2499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 de </a:t>
            </a:r>
            <a:r>
              <a:rPr lang="en-US" sz="2499" dirty="0" err="1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demanda</a:t>
            </a:r>
            <a:r>
              <a:rPr lang="en-US" sz="2499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;</a:t>
            </a:r>
          </a:p>
        </p:txBody>
      </p:sp>
      <p:grpSp>
        <p:nvGrpSpPr>
          <p:cNvPr id="47" name="Group 9">
            <a:extLst>
              <a:ext uri="{FF2B5EF4-FFF2-40B4-BE49-F238E27FC236}">
                <a16:creationId xmlns:a16="http://schemas.microsoft.com/office/drawing/2014/main" id="{0E64CF06-3F1A-C026-3EB0-61B5E09257FF}"/>
              </a:ext>
            </a:extLst>
          </p:cNvPr>
          <p:cNvGrpSpPr/>
          <p:nvPr/>
        </p:nvGrpSpPr>
        <p:grpSpPr>
          <a:xfrm>
            <a:off x="955705" y="8435022"/>
            <a:ext cx="402757" cy="402757"/>
            <a:chOff x="0" y="0"/>
            <a:chExt cx="812800" cy="812800"/>
          </a:xfrm>
        </p:grpSpPr>
        <p:sp>
          <p:nvSpPr>
            <p:cNvPr id="48" name="Freeform 10">
              <a:extLst>
                <a:ext uri="{FF2B5EF4-FFF2-40B4-BE49-F238E27FC236}">
                  <a16:creationId xmlns:a16="http://schemas.microsoft.com/office/drawing/2014/main" id="{06C45155-3221-8A08-A9FA-8D8E2B38CF5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6300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9" name="TextBox 11">
              <a:extLst>
                <a:ext uri="{FF2B5EF4-FFF2-40B4-BE49-F238E27FC236}">
                  <a16:creationId xmlns:a16="http://schemas.microsoft.com/office/drawing/2014/main" id="{B10F2B20-5698-15EB-3C12-BE34425CD625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0" name="Freeform 12">
            <a:extLst>
              <a:ext uri="{FF2B5EF4-FFF2-40B4-BE49-F238E27FC236}">
                <a16:creationId xmlns:a16="http://schemas.microsoft.com/office/drawing/2014/main" id="{3739AA9E-E6D3-662C-6273-C19B28FFF78F}"/>
              </a:ext>
            </a:extLst>
          </p:cNvPr>
          <p:cNvSpPr/>
          <p:nvPr/>
        </p:nvSpPr>
        <p:spPr>
          <a:xfrm rot="-10800000">
            <a:off x="1540330" y="8533535"/>
            <a:ext cx="106603" cy="205732"/>
          </a:xfrm>
          <a:custGeom>
            <a:avLst/>
            <a:gdLst/>
            <a:ahLst/>
            <a:cxnLst/>
            <a:rect l="l" t="t" r="r" b="b"/>
            <a:pathLst>
              <a:path w="106603" h="205732">
                <a:moveTo>
                  <a:pt x="0" y="0"/>
                </a:moveTo>
                <a:lnTo>
                  <a:pt x="106603" y="0"/>
                </a:lnTo>
                <a:lnTo>
                  <a:pt x="106603" y="205732"/>
                </a:lnTo>
                <a:lnTo>
                  <a:pt x="0" y="20573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r="-301015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6" name="TextBox 13">
            <a:extLst>
              <a:ext uri="{FF2B5EF4-FFF2-40B4-BE49-F238E27FC236}">
                <a16:creationId xmlns:a16="http://schemas.microsoft.com/office/drawing/2014/main" id="{D4E6B53D-4DE8-BBDD-1EDE-B1875B98B733}"/>
              </a:ext>
            </a:extLst>
          </p:cNvPr>
          <p:cNvSpPr txBox="1"/>
          <p:nvPr/>
        </p:nvSpPr>
        <p:spPr>
          <a:xfrm>
            <a:off x="1828800" y="8469713"/>
            <a:ext cx="14020800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49"/>
              </a:lnSpc>
            </a:pPr>
            <a:r>
              <a:rPr lang="en-US" sz="2499" dirty="0" err="1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Projeto</a:t>
            </a:r>
            <a:r>
              <a:rPr lang="en-US" sz="2499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financeiro</a:t>
            </a:r>
            <a:r>
              <a:rPr lang="en-US" sz="2499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 de </a:t>
            </a:r>
            <a:r>
              <a:rPr lang="en-US" sz="2499" dirty="0" err="1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acordo</a:t>
            </a:r>
            <a:r>
              <a:rPr lang="en-US" sz="2499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 com </a:t>
            </a:r>
            <a:r>
              <a:rPr lang="en-US" sz="2499" dirty="0" err="1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modelagem</a:t>
            </a:r>
            <a:r>
              <a:rPr lang="en-US" sz="2499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financeira</a:t>
            </a:r>
            <a:r>
              <a:rPr lang="en-US" sz="2499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adotada</a:t>
            </a:r>
            <a:r>
              <a:rPr lang="en-US" sz="2499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pelo</a:t>
            </a:r>
            <a:r>
              <a:rPr lang="en-US" sz="2499" dirty="0">
                <a:solidFill>
                  <a:srgbClr val="000000"/>
                </a:solidFill>
                <a:latin typeface="Montserrat" panose="00000500000000000000" pitchFamily="2" charset="0"/>
                <a:ea typeface="Montserrat Medium"/>
                <a:cs typeface="Montserrat Medium"/>
                <a:sym typeface="Montserrat Medium"/>
              </a:rPr>
              <a:t> mercado.</a:t>
            </a:r>
          </a:p>
        </p:txBody>
      </p:sp>
    </p:spTree>
    <p:extLst>
      <p:ext uri="{BB962C8B-B14F-4D97-AF65-F5344CB8AC3E}">
        <p14:creationId xmlns:p14="http://schemas.microsoft.com/office/powerpoint/2010/main" val="3334750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8E371-03D8-04F4-F753-5A6EB5DBE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2">
            <a:extLst>
              <a:ext uri="{FF2B5EF4-FFF2-40B4-BE49-F238E27FC236}">
                <a16:creationId xmlns:a16="http://schemas.microsoft.com/office/drawing/2014/main" id="{7171C637-0285-3614-ACFF-90CCE5B91652}"/>
              </a:ext>
            </a:extLst>
          </p:cNvPr>
          <p:cNvSpPr/>
          <p:nvPr/>
        </p:nvSpPr>
        <p:spPr>
          <a:xfrm rot="-5833167">
            <a:off x="11349455" y="1793292"/>
            <a:ext cx="10691222" cy="4610589"/>
          </a:xfrm>
          <a:custGeom>
            <a:avLst/>
            <a:gdLst/>
            <a:ahLst/>
            <a:cxnLst/>
            <a:rect l="l" t="t" r="r" b="b"/>
            <a:pathLst>
              <a:path w="10691222" h="4610589">
                <a:moveTo>
                  <a:pt x="0" y="0"/>
                </a:moveTo>
                <a:lnTo>
                  <a:pt x="10691221" y="0"/>
                </a:lnTo>
                <a:lnTo>
                  <a:pt x="10691221" y="4610589"/>
                </a:lnTo>
                <a:lnTo>
                  <a:pt x="0" y="46105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23" name="Freeform 23">
            <a:extLst>
              <a:ext uri="{FF2B5EF4-FFF2-40B4-BE49-F238E27FC236}">
                <a16:creationId xmlns:a16="http://schemas.microsoft.com/office/drawing/2014/main" id="{FA39703D-07A9-6286-AF6F-44001F1CCB6B}"/>
              </a:ext>
            </a:extLst>
          </p:cNvPr>
          <p:cNvSpPr/>
          <p:nvPr/>
        </p:nvSpPr>
        <p:spPr>
          <a:xfrm>
            <a:off x="16914213" y="619639"/>
            <a:ext cx="859394" cy="492537"/>
          </a:xfrm>
          <a:custGeom>
            <a:avLst/>
            <a:gdLst/>
            <a:ahLst/>
            <a:cxnLst/>
            <a:rect l="l" t="t" r="r" b="b"/>
            <a:pathLst>
              <a:path w="859394" h="492537">
                <a:moveTo>
                  <a:pt x="0" y="0"/>
                </a:moveTo>
                <a:lnTo>
                  <a:pt x="859394" y="0"/>
                </a:lnTo>
                <a:lnTo>
                  <a:pt x="859394" y="492537"/>
                </a:lnTo>
                <a:lnTo>
                  <a:pt x="0" y="4925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120431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96304128-9E41-1893-0257-9C1F7E3FB7D3}"/>
              </a:ext>
            </a:extLst>
          </p:cNvPr>
          <p:cNvSpPr/>
          <p:nvPr/>
        </p:nvSpPr>
        <p:spPr>
          <a:xfrm>
            <a:off x="762000" y="723900"/>
            <a:ext cx="949122" cy="1331973"/>
          </a:xfrm>
          <a:custGeom>
            <a:avLst/>
            <a:gdLst/>
            <a:ahLst/>
            <a:cxnLst/>
            <a:rect l="l" t="t" r="r" b="b"/>
            <a:pathLst>
              <a:path w="949122" h="1331973">
                <a:moveTo>
                  <a:pt x="0" y="0"/>
                </a:moveTo>
                <a:lnTo>
                  <a:pt x="949122" y="0"/>
                </a:lnTo>
                <a:lnTo>
                  <a:pt x="949122" y="1331973"/>
                </a:lnTo>
                <a:lnTo>
                  <a:pt x="0" y="13319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25" name="TextBox 2">
            <a:extLst>
              <a:ext uri="{FF2B5EF4-FFF2-40B4-BE49-F238E27FC236}">
                <a16:creationId xmlns:a16="http://schemas.microsoft.com/office/drawing/2014/main" id="{07BB35F2-041C-B809-387B-E34B9F5C2BB2}"/>
              </a:ext>
            </a:extLst>
          </p:cNvPr>
          <p:cNvSpPr txBox="1"/>
          <p:nvPr/>
        </p:nvSpPr>
        <p:spPr>
          <a:xfrm>
            <a:off x="2203190" y="851277"/>
            <a:ext cx="9944100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7000" b="1" dirty="0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19109301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C442C-4309-E2FF-7F15-4D139D188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2">
            <a:extLst>
              <a:ext uri="{FF2B5EF4-FFF2-40B4-BE49-F238E27FC236}">
                <a16:creationId xmlns:a16="http://schemas.microsoft.com/office/drawing/2014/main" id="{228CC55E-C5EE-E6AE-2A30-B7E16D90702C}"/>
              </a:ext>
            </a:extLst>
          </p:cNvPr>
          <p:cNvSpPr/>
          <p:nvPr/>
        </p:nvSpPr>
        <p:spPr>
          <a:xfrm rot="-5833167">
            <a:off x="11349455" y="1793292"/>
            <a:ext cx="10691222" cy="4610589"/>
          </a:xfrm>
          <a:custGeom>
            <a:avLst/>
            <a:gdLst/>
            <a:ahLst/>
            <a:cxnLst/>
            <a:rect l="l" t="t" r="r" b="b"/>
            <a:pathLst>
              <a:path w="10691222" h="4610589">
                <a:moveTo>
                  <a:pt x="0" y="0"/>
                </a:moveTo>
                <a:lnTo>
                  <a:pt x="10691221" y="0"/>
                </a:lnTo>
                <a:lnTo>
                  <a:pt x="10691221" y="4610589"/>
                </a:lnTo>
                <a:lnTo>
                  <a:pt x="0" y="46105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23" name="Freeform 23">
            <a:extLst>
              <a:ext uri="{FF2B5EF4-FFF2-40B4-BE49-F238E27FC236}">
                <a16:creationId xmlns:a16="http://schemas.microsoft.com/office/drawing/2014/main" id="{5B2AFBDE-E181-00AD-9135-00D374BFCE37}"/>
              </a:ext>
            </a:extLst>
          </p:cNvPr>
          <p:cNvSpPr/>
          <p:nvPr/>
        </p:nvSpPr>
        <p:spPr>
          <a:xfrm>
            <a:off x="16914213" y="619639"/>
            <a:ext cx="859394" cy="492537"/>
          </a:xfrm>
          <a:custGeom>
            <a:avLst/>
            <a:gdLst/>
            <a:ahLst/>
            <a:cxnLst/>
            <a:rect l="l" t="t" r="r" b="b"/>
            <a:pathLst>
              <a:path w="859394" h="492537">
                <a:moveTo>
                  <a:pt x="0" y="0"/>
                </a:moveTo>
                <a:lnTo>
                  <a:pt x="859394" y="0"/>
                </a:lnTo>
                <a:lnTo>
                  <a:pt x="859394" y="492537"/>
                </a:lnTo>
                <a:lnTo>
                  <a:pt x="0" y="4925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120431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D902986B-BF18-DA8D-22D3-D01D1A997C65}"/>
              </a:ext>
            </a:extLst>
          </p:cNvPr>
          <p:cNvSpPr/>
          <p:nvPr/>
        </p:nvSpPr>
        <p:spPr>
          <a:xfrm>
            <a:off x="762000" y="687327"/>
            <a:ext cx="949122" cy="1331973"/>
          </a:xfrm>
          <a:custGeom>
            <a:avLst/>
            <a:gdLst/>
            <a:ahLst/>
            <a:cxnLst/>
            <a:rect l="l" t="t" r="r" b="b"/>
            <a:pathLst>
              <a:path w="949122" h="1331973">
                <a:moveTo>
                  <a:pt x="0" y="0"/>
                </a:moveTo>
                <a:lnTo>
                  <a:pt x="949122" y="0"/>
                </a:lnTo>
                <a:lnTo>
                  <a:pt x="949122" y="1331973"/>
                </a:lnTo>
                <a:lnTo>
                  <a:pt x="0" y="13319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25" name="TextBox 2">
            <a:extLst>
              <a:ext uri="{FF2B5EF4-FFF2-40B4-BE49-F238E27FC236}">
                <a16:creationId xmlns:a16="http://schemas.microsoft.com/office/drawing/2014/main" id="{A4310316-4CFB-15D4-88F9-9A21BCF224DB}"/>
              </a:ext>
            </a:extLst>
          </p:cNvPr>
          <p:cNvSpPr txBox="1"/>
          <p:nvPr/>
        </p:nvSpPr>
        <p:spPr>
          <a:xfrm>
            <a:off x="2200693" y="569833"/>
            <a:ext cx="9944100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7000" b="1" dirty="0" err="1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Checagem</a:t>
            </a:r>
            <a:r>
              <a:rPr lang="en-US" sz="7000" b="1" dirty="0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de Safra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FA46CDE5-9190-246F-D78D-70435A02DA6A}"/>
              </a:ext>
            </a:extLst>
          </p:cNvPr>
          <p:cNvSpPr txBox="1"/>
          <p:nvPr/>
        </p:nvSpPr>
        <p:spPr>
          <a:xfrm>
            <a:off x="2200693" y="1647051"/>
            <a:ext cx="9944100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MILHO VERÃO</a:t>
            </a:r>
          </a:p>
        </p:txBody>
      </p:sp>
    </p:spTree>
    <p:extLst>
      <p:ext uri="{BB962C8B-B14F-4D97-AF65-F5344CB8AC3E}">
        <p14:creationId xmlns:p14="http://schemas.microsoft.com/office/powerpoint/2010/main" val="27574485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E1BE2-557C-4C82-CE78-9AE31F96C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2">
            <a:extLst>
              <a:ext uri="{FF2B5EF4-FFF2-40B4-BE49-F238E27FC236}">
                <a16:creationId xmlns:a16="http://schemas.microsoft.com/office/drawing/2014/main" id="{3C751F10-A3B2-E270-F519-8E71163714F9}"/>
              </a:ext>
            </a:extLst>
          </p:cNvPr>
          <p:cNvSpPr/>
          <p:nvPr/>
        </p:nvSpPr>
        <p:spPr>
          <a:xfrm rot="-5833167">
            <a:off x="11349455" y="1793292"/>
            <a:ext cx="10691222" cy="4610589"/>
          </a:xfrm>
          <a:custGeom>
            <a:avLst/>
            <a:gdLst/>
            <a:ahLst/>
            <a:cxnLst/>
            <a:rect l="l" t="t" r="r" b="b"/>
            <a:pathLst>
              <a:path w="10691222" h="4610589">
                <a:moveTo>
                  <a:pt x="0" y="0"/>
                </a:moveTo>
                <a:lnTo>
                  <a:pt x="10691221" y="0"/>
                </a:lnTo>
                <a:lnTo>
                  <a:pt x="10691221" y="4610589"/>
                </a:lnTo>
                <a:lnTo>
                  <a:pt x="0" y="46105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23" name="Freeform 23">
            <a:extLst>
              <a:ext uri="{FF2B5EF4-FFF2-40B4-BE49-F238E27FC236}">
                <a16:creationId xmlns:a16="http://schemas.microsoft.com/office/drawing/2014/main" id="{58987CA8-D583-222B-8A09-FB1ED2D1CE8C}"/>
              </a:ext>
            </a:extLst>
          </p:cNvPr>
          <p:cNvSpPr/>
          <p:nvPr/>
        </p:nvSpPr>
        <p:spPr>
          <a:xfrm>
            <a:off x="16914213" y="619639"/>
            <a:ext cx="859394" cy="492537"/>
          </a:xfrm>
          <a:custGeom>
            <a:avLst/>
            <a:gdLst/>
            <a:ahLst/>
            <a:cxnLst/>
            <a:rect l="l" t="t" r="r" b="b"/>
            <a:pathLst>
              <a:path w="859394" h="492537">
                <a:moveTo>
                  <a:pt x="0" y="0"/>
                </a:moveTo>
                <a:lnTo>
                  <a:pt x="859394" y="0"/>
                </a:lnTo>
                <a:lnTo>
                  <a:pt x="859394" y="492537"/>
                </a:lnTo>
                <a:lnTo>
                  <a:pt x="0" y="4925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120431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33C95F85-6813-5A64-0AB3-DCB16EC3F6D2}"/>
              </a:ext>
            </a:extLst>
          </p:cNvPr>
          <p:cNvSpPr/>
          <p:nvPr/>
        </p:nvSpPr>
        <p:spPr>
          <a:xfrm>
            <a:off x="762000" y="687327"/>
            <a:ext cx="949122" cy="1331973"/>
          </a:xfrm>
          <a:custGeom>
            <a:avLst/>
            <a:gdLst/>
            <a:ahLst/>
            <a:cxnLst/>
            <a:rect l="l" t="t" r="r" b="b"/>
            <a:pathLst>
              <a:path w="949122" h="1331973">
                <a:moveTo>
                  <a:pt x="0" y="0"/>
                </a:moveTo>
                <a:lnTo>
                  <a:pt x="949122" y="0"/>
                </a:lnTo>
                <a:lnTo>
                  <a:pt x="949122" y="1331973"/>
                </a:lnTo>
                <a:lnTo>
                  <a:pt x="0" y="13319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25" name="TextBox 2">
            <a:extLst>
              <a:ext uri="{FF2B5EF4-FFF2-40B4-BE49-F238E27FC236}">
                <a16:creationId xmlns:a16="http://schemas.microsoft.com/office/drawing/2014/main" id="{ADDB4420-1667-6B32-1E60-5E8AE5B3DDE0}"/>
              </a:ext>
            </a:extLst>
          </p:cNvPr>
          <p:cNvSpPr txBox="1"/>
          <p:nvPr/>
        </p:nvSpPr>
        <p:spPr>
          <a:xfrm>
            <a:off x="2200693" y="569833"/>
            <a:ext cx="9944100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7000" b="1" dirty="0" err="1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Checagem</a:t>
            </a:r>
            <a:r>
              <a:rPr lang="en-US" sz="7000" b="1" dirty="0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de Safra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B6573ABF-306E-E65D-80D0-B67D2EAEE7DC}"/>
              </a:ext>
            </a:extLst>
          </p:cNvPr>
          <p:cNvSpPr txBox="1"/>
          <p:nvPr/>
        </p:nvSpPr>
        <p:spPr>
          <a:xfrm>
            <a:off x="2200693" y="1647051"/>
            <a:ext cx="9944100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SOJA SEQUEIRO</a:t>
            </a:r>
          </a:p>
        </p:txBody>
      </p:sp>
    </p:spTree>
    <p:extLst>
      <p:ext uri="{BB962C8B-B14F-4D97-AF65-F5344CB8AC3E}">
        <p14:creationId xmlns:p14="http://schemas.microsoft.com/office/powerpoint/2010/main" val="34951104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395FA-1DFA-CF57-CBE2-92E15D919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2">
            <a:extLst>
              <a:ext uri="{FF2B5EF4-FFF2-40B4-BE49-F238E27FC236}">
                <a16:creationId xmlns:a16="http://schemas.microsoft.com/office/drawing/2014/main" id="{272CAA00-14DC-FEC9-7340-357C7D717E4A}"/>
              </a:ext>
            </a:extLst>
          </p:cNvPr>
          <p:cNvSpPr/>
          <p:nvPr/>
        </p:nvSpPr>
        <p:spPr>
          <a:xfrm rot="-5833167">
            <a:off x="11349455" y="1793292"/>
            <a:ext cx="10691222" cy="4610589"/>
          </a:xfrm>
          <a:custGeom>
            <a:avLst/>
            <a:gdLst/>
            <a:ahLst/>
            <a:cxnLst/>
            <a:rect l="l" t="t" r="r" b="b"/>
            <a:pathLst>
              <a:path w="10691222" h="4610589">
                <a:moveTo>
                  <a:pt x="0" y="0"/>
                </a:moveTo>
                <a:lnTo>
                  <a:pt x="10691221" y="0"/>
                </a:lnTo>
                <a:lnTo>
                  <a:pt x="10691221" y="4610589"/>
                </a:lnTo>
                <a:lnTo>
                  <a:pt x="0" y="46105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23" name="Freeform 23">
            <a:extLst>
              <a:ext uri="{FF2B5EF4-FFF2-40B4-BE49-F238E27FC236}">
                <a16:creationId xmlns:a16="http://schemas.microsoft.com/office/drawing/2014/main" id="{49006410-2EB0-8F51-5F7D-3DBEB2E03A01}"/>
              </a:ext>
            </a:extLst>
          </p:cNvPr>
          <p:cNvSpPr/>
          <p:nvPr/>
        </p:nvSpPr>
        <p:spPr>
          <a:xfrm>
            <a:off x="16914213" y="619639"/>
            <a:ext cx="859394" cy="492537"/>
          </a:xfrm>
          <a:custGeom>
            <a:avLst/>
            <a:gdLst/>
            <a:ahLst/>
            <a:cxnLst/>
            <a:rect l="l" t="t" r="r" b="b"/>
            <a:pathLst>
              <a:path w="859394" h="492537">
                <a:moveTo>
                  <a:pt x="0" y="0"/>
                </a:moveTo>
                <a:lnTo>
                  <a:pt x="859394" y="0"/>
                </a:lnTo>
                <a:lnTo>
                  <a:pt x="859394" y="492537"/>
                </a:lnTo>
                <a:lnTo>
                  <a:pt x="0" y="4925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120431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25A0ACFD-B153-F65F-3ACA-C09DC6BF09B8}"/>
              </a:ext>
            </a:extLst>
          </p:cNvPr>
          <p:cNvSpPr/>
          <p:nvPr/>
        </p:nvSpPr>
        <p:spPr>
          <a:xfrm>
            <a:off x="762000" y="687327"/>
            <a:ext cx="949122" cy="1331973"/>
          </a:xfrm>
          <a:custGeom>
            <a:avLst/>
            <a:gdLst/>
            <a:ahLst/>
            <a:cxnLst/>
            <a:rect l="l" t="t" r="r" b="b"/>
            <a:pathLst>
              <a:path w="949122" h="1331973">
                <a:moveTo>
                  <a:pt x="0" y="0"/>
                </a:moveTo>
                <a:lnTo>
                  <a:pt x="949122" y="0"/>
                </a:lnTo>
                <a:lnTo>
                  <a:pt x="949122" y="1331973"/>
                </a:lnTo>
                <a:lnTo>
                  <a:pt x="0" y="13319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25" name="TextBox 2">
            <a:extLst>
              <a:ext uri="{FF2B5EF4-FFF2-40B4-BE49-F238E27FC236}">
                <a16:creationId xmlns:a16="http://schemas.microsoft.com/office/drawing/2014/main" id="{6F0B7814-9710-E5B0-0B5E-8F338D3298B3}"/>
              </a:ext>
            </a:extLst>
          </p:cNvPr>
          <p:cNvSpPr txBox="1"/>
          <p:nvPr/>
        </p:nvSpPr>
        <p:spPr>
          <a:xfrm>
            <a:off x="2203189" y="814704"/>
            <a:ext cx="13122049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7000" b="1" dirty="0" err="1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Checagem</a:t>
            </a:r>
            <a:r>
              <a:rPr lang="en-US" sz="7000" b="1" dirty="0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de </a:t>
            </a:r>
            <a:r>
              <a:rPr lang="en-US" sz="7000" b="1" dirty="0" err="1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Pecuária</a:t>
            </a:r>
            <a:endParaRPr lang="en-US" sz="7000" b="1" dirty="0">
              <a:solidFill>
                <a:srgbClr val="369936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</p:spTree>
    <p:extLst>
      <p:ext uri="{BB962C8B-B14F-4D97-AF65-F5344CB8AC3E}">
        <p14:creationId xmlns:p14="http://schemas.microsoft.com/office/powerpoint/2010/main" val="33230833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B1D6C-BE57-45E0-2E41-10D7A9721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2">
            <a:extLst>
              <a:ext uri="{FF2B5EF4-FFF2-40B4-BE49-F238E27FC236}">
                <a16:creationId xmlns:a16="http://schemas.microsoft.com/office/drawing/2014/main" id="{32715DD0-606A-568B-EE9C-5668B40732D5}"/>
              </a:ext>
            </a:extLst>
          </p:cNvPr>
          <p:cNvSpPr/>
          <p:nvPr/>
        </p:nvSpPr>
        <p:spPr>
          <a:xfrm rot="-5833167">
            <a:off x="11349455" y="1793292"/>
            <a:ext cx="10691222" cy="4610589"/>
          </a:xfrm>
          <a:custGeom>
            <a:avLst/>
            <a:gdLst/>
            <a:ahLst/>
            <a:cxnLst/>
            <a:rect l="l" t="t" r="r" b="b"/>
            <a:pathLst>
              <a:path w="10691222" h="4610589">
                <a:moveTo>
                  <a:pt x="0" y="0"/>
                </a:moveTo>
                <a:lnTo>
                  <a:pt x="10691221" y="0"/>
                </a:lnTo>
                <a:lnTo>
                  <a:pt x="10691221" y="4610589"/>
                </a:lnTo>
                <a:lnTo>
                  <a:pt x="0" y="46105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23" name="Freeform 23">
            <a:extLst>
              <a:ext uri="{FF2B5EF4-FFF2-40B4-BE49-F238E27FC236}">
                <a16:creationId xmlns:a16="http://schemas.microsoft.com/office/drawing/2014/main" id="{9B31EED5-65CA-84B8-B2E7-F5173148A76E}"/>
              </a:ext>
            </a:extLst>
          </p:cNvPr>
          <p:cNvSpPr/>
          <p:nvPr/>
        </p:nvSpPr>
        <p:spPr>
          <a:xfrm>
            <a:off x="16914213" y="619639"/>
            <a:ext cx="859394" cy="492537"/>
          </a:xfrm>
          <a:custGeom>
            <a:avLst/>
            <a:gdLst/>
            <a:ahLst/>
            <a:cxnLst/>
            <a:rect l="l" t="t" r="r" b="b"/>
            <a:pathLst>
              <a:path w="859394" h="492537">
                <a:moveTo>
                  <a:pt x="0" y="0"/>
                </a:moveTo>
                <a:lnTo>
                  <a:pt x="859394" y="0"/>
                </a:lnTo>
                <a:lnTo>
                  <a:pt x="859394" y="492537"/>
                </a:lnTo>
                <a:lnTo>
                  <a:pt x="0" y="4925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120431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5D659680-F876-A0CD-636A-0DCE75D3B6E1}"/>
              </a:ext>
            </a:extLst>
          </p:cNvPr>
          <p:cNvSpPr/>
          <p:nvPr/>
        </p:nvSpPr>
        <p:spPr>
          <a:xfrm>
            <a:off x="762000" y="687327"/>
            <a:ext cx="949122" cy="1331973"/>
          </a:xfrm>
          <a:custGeom>
            <a:avLst/>
            <a:gdLst/>
            <a:ahLst/>
            <a:cxnLst/>
            <a:rect l="l" t="t" r="r" b="b"/>
            <a:pathLst>
              <a:path w="949122" h="1331973">
                <a:moveTo>
                  <a:pt x="0" y="0"/>
                </a:moveTo>
                <a:lnTo>
                  <a:pt x="949122" y="0"/>
                </a:lnTo>
                <a:lnTo>
                  <a:pt x="949122" y="1331973"/>
                </a:lnTo>
                <a:lnTo>
                  <a:pt x="0" y="13319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25" name="TextBox 2">
            <a:extLst>
              <a:ext uri="{FF2B5EF4-FFF2-40B4-BE49-F238E27FC236}">
                <a16:creationId xmlns:a16="http://schemas.microsoft.com/office/drawing/2014/main" id="{C7426C40-C123-74FA-1EEA-35C3D1D13274}"/>
              </a:ext>
            </a:extLst>
          </p:cNvPr>
          <p:cNvSpPr txBox="1"/>
          <p:nvPr/>
        </p:nvSpPr>
        <p:spPr>
          <a:xfrm>
            <a:off x="2203189" y="814704"/>
            <a:ext cx="13122049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7000" b="1" dirty="0" err="1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Ativos</a:t>
            </a:r>
            <a:r>
              <a:rPr lang="en-US" sz="7000" b="1" dirty="0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7000" b="1" dirty="0" err="1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Financeiros</a:t>
            </a:r>
            <a:endParaRPr lang="en-US" sz="7000" b="1" dirty="0">
              <a:solidFill>
                <a:srgbClr val="369936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</p:spTree>
    <p:extLst>
      <p:ext uri="{BB962C8B-B14F-4D97-AF65-F5344CB8AC3E}">
        <p14:creationId xmlns:p14="http://schemas.microsoft.com/office/powerpoint/2010/main" val="30383707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D989E-FC17-B568-CA3A-86EF40367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2">
            <a:extLst>
              <a:ext uri="{FF2B5EF4-FFF2-40B4-BE49-F238E27FC236}">
                <a16:creationId xmlns:a16="http://schemas.microsoft.com/office/drawing/2014/main" id="{4AFA5B6A-3E4C-48EA-5F6C-3C6E0F9EA0FC}"/>
              </a:ext>
            </a:extLst>
          </p:cNvPr>
          <p:cNvSpPr/>
          <p:nvPr/>
        </p:nvSpPr>
        <p:spPr>
          <a:xfrm rot="-5833167">
            <a:off x="11349455" y="1793292"/>
            <a:ext cx="10691222" cy="4610589"/>
          </a:xfrm>
          <a:custGeom>
            <a:avLst/>
            <a:gdLst/>
            <a:ahLst/>
            <a:cxnLst/>
            <a:rect l="l" t="t" r="r" b="b"/>
            <a:pathLst>
              <a:path w="10691222" h="4610589">
                <a:moveTo>
                  <a:pt x="0" y="0"/>
                </a:moveTo>
                <a:lnTo>
                  <a:pt x="10691221" y="0"/>
                </a:lnTo>
                <a:lnTo>
                  <a:pt x="10691221" y="4610589"/>
                </a:lnTo>
                <a:lnTo>
                  <a:pt x="0" y="46105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23" name="Freeform 23">
            <a:extLst>
              <a:ext uri="{FF2B5EF4-FFF2-40B4-BE49-F238E27FC236}">
                <a16:creationId xmlns:a16="http://schemas.microsoft.com/office/drawing/2014/main" id="{C87ABF7D-3283-219C-01CF-4DABF2EBB779}"/>
              </a:ext>
            </a:extLst>
          </p:cNvPr>
          <p:cNvSpPr/>
          <p:nvPr/>
        </p:nvSpPr>
        <p:spPr>
          <a:xfrm>
            <a:off x="16914213" y="619639"/>
            <a:ext cx="859394" cy="492537"/>
          </a:xfrm>
          <a:custGeom>
            <a:avLst/>
            <a:gdLst/>
            <a:ahLst/>
            <a:cxnLst/>
            <a:rect l="l" t="t" r="r" b="b"/>
            <a:pathLst>
              <a:path w="859394" h="492537">
                <a:moveTo>
                  <a:pt x="0" y="0"/>
                </a:moveTo>
                <a:lnTo>
                  <a:pt x="859394" y="0"/>
                </a:lnTo>
                <a:lnTo>
                  <a:pt x="859394" y="492537"/>
                </a:lnTo>
                <a:lnTo>
                  <a:pt x="0" y="4925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120431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994C8CBD-7376-CE24-3905-95A35D788ADB}"/>
              </a:ext>
            </a:extLst>
          </p:cNvPr>
          <p:cNvSpPr/>
          <p:nvPr/>
        </p:nvSpPr>
        <p:spPr>
          <a:xfrm>
            <a:off x="762000" y="687327"/>
            <a:ext cx="949122" cy="1331973"/>
          </a:xfrm>
          <a:custGeom>
            <a:avLst/>
            <a:gdLst/>
            <a:ahLst/>
            <a:cxnLst/>
            <a:rect l="l" t="t" r="r" b="b"/>
            <a:pathLst>
              <a:path w="949122" h="1331973">
                <a:moveTo>
                  <a:pt x="0" y="0"/>
                </a:moveTo>
                <a:lnTo>
                  <a:pt x="949122" y="0"/>
                </a:lnTo>
                <a:lnTo>
                  <a:pt x="949122" y="1331973"/>
                </a:lnTo>
                <a:lnTo>
                  <a:pt x="0" y="13319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25" name="TextBox 2">
            <a:extLst>
              <a:ext uri="{FF2B5EF4-FFF2-40B4-BE49-F238E27FC236}">
                <a16:creationId xmlns:a16="http://schemas.microsoft.com/office/drawing/2014/main" id="{3647EE22-36CF-01E4-87CA-67C4B8D05ADA}"/>
              </a:ext>
            </a:extLst>
          </p:cNvPr>
          <p:cNvSpPr txBox="1"/>
          <p:nvPr/>
        </p:nvSpPr>
        <p:spPr>
          <a:xfrm>
            <a:off x="2203189" y="814704"/>
            <a:ext cx="13122049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7000" b="1" dirty="0" err="1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Passivos</a:t>
            </a:r>
            <a:endParaRPr lang="en-US" sz="7000" b="1" dirty="0">
              <a:solidFill>
                <a:srgbClr val="369936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</p:spTree>
    <p:extLst>
      <p:ext uri="{BB962C8B-B14F-4D97-AF65-F5344CB8AC3E}">
        <p14:creationId xmlns:p14="http://schemas.microsoft.com/office/powerpoint/2010/main" val="42307173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AED64-441B-9F60-A794-FAEA30A78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2">
            <a:extLst>
              <a:ext uri="{FF2B5EF4-FFF2-40B4-BE49-F238E27FC236}">
                <a16:creationId xmlns:a16="http://schemas.microsoft.com/office/drawing/2014/main" id="{2DAAA10A-EA10-C6D1-F807-CBFDFC4D81C3}"/>
              </a:ext>
            </a:extLst>
          </p:cNvPr>
          <p:cNvSpPr/>
          <p:nvPr/>
        </p:nvSpPr>
        <p:spPr>
          <a:xfrm rot="-5833167">
            <a:off x="11349455" y="1793292"/>
            <a:ext cx="10691222" cy="4610589"/>
          </a:xfrm>
          <a:custGeom>
            <a:avLst/>
            <a:gdLst/>
            <a:ahLst/>
            <a:cxnLst/>
            <a:rect l="l" t="t" r="r" b="b"/>
            <a:pathLst>
              <a:path w="10691222" h="4610589">
                <a:moveTo>
                  <a:pt x="0" y="0"/>
                </a:moveTo>
                <a:lnTo>
                  <a:pt x="10691221" y="0"/>
                </a:lnTo>
                <a:lnTo>
                  <a:pt x="10691221" y="4610589"/>
                </a:lnTo>
                <a:lnTo>
                  <a:pt x="0" y="46105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23" name="Freeform 23">
            <a:extLst>
              <a:ext uri="{FF2B5EF4-FFF2-40B4-BE49-F238E27FC236}">
                <a16:creationId xmlns:a16="http://schemas.microsoft.com/office/drawing/2014/main" id="{4E83EC8A-9DEF-DF8B-50D3-9CB692790DCB}"/>
              </a:ext>
            </a:extLst>
          </p:cNvPr>
          <p:cNvSpPr/>
          <p:nvPr/>
        </p:nvSpPr>
        <p:spPr>
          <a:xfrm>
            <a:off x="16914213" y="619639"/>
            <a:ext cx="859394" cy="492537"/>
          </a:xfrm>
          <a:custGeom>
            <a:avLst/>
            <a:gdLst/>
            <a:ahLst/>
            <a:cxnLst/>
            <a:rect l="l" t="t" r="r" b="b"/>
            <a:pathLst>
              <a:path w="859394" h="492537">
                <a:moveTo>
                  <a:pt x="0" y="0"/>
                </a:moveTo>
                <a:lnTo>
                  <a:pt x="859394" y="0"/>
                </a:lnTo>
                <a:lnTo>
                  <a:pt x="859394" y="492537"/>
                </a:lnTo>
                <a:lnTo>
                  <a:pt x="0" y="4925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120431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CE66D133-EDF0-8B3E-C6C5-2B9CB4A97C88}"/>
              </a:ext>
            </a:extLst>
          </p:cNvPr>
          <p:cNvSpPr/>
          <p:nvPr/>
        </p:nvSpPr>
        <p:spPr>
          <a:xfrm>
            <a:off x="762000" y="687327"/>
            <a:ext cx="949122" cy="1331973"/>
          </a:xfrm>
          <a:custGeom>
            <a:avLst/>
            <a:gdLst/>
            <a:ahLst/>
            <a:cxnLst/>
            <a:rect l="l" t="t" r="r" b="b"/>
            <a:pathLst>
              <a:path w="949122" h="1331973">
                <a:moveTo>
                  <a:pt x="0" y="0"/>
                </a:moveTo>
                <a:lnTo>
                  <a:pt x="949122" y="0"/>
                </a:lnTo>
                <a:lnTo>
                  <a:pt x="949122" y="1331973"/>
                </a:lnTo>
                <a:lnTo>
                  <a:pt x="0" y="13319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25" name="TextBox 2">
            <a:extLst>
              <a:ext uri="{FF2B5EF4-FFF2-40B4-BE49-F238E27FC236}">
                <a16:creationId xmlns:a16="http://schemas.microsoft.com/office/drawing/2014/main" id="{9E4C08C0-BD52-3599-98E8-E7D8609A6EBA}"/>
              </a:ext>
            </a:extLst>
          </p:cNvPr>
          <p:cNvSpPr txBox="1"/>
          <p:nvPr/>
        </p:nvSpPr>
        <p:spPr>
          <a:xfrm>
            <a:off x="2203189" y="814704"/>
            <a:ext cx="13122049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7000" b="1" dirty="0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DRE</a:t>
            </a:r>
          </a:p>
        </p:txBody>
      </p:sp>
    </p:spTree>
    <p:extLst>
      <p:ext uri="{BB962C8B-B14F-4D97-AF65-F5344CB8AC3E}">
        <p14:creationId xmlns:p14="http://schemas.microsoft.com/office/powerpoint/2010/main" val="4140459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69E49-F82D-E380-53CA-B963B072C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2">
            <a:extLst>
              <a:ext uri="{FF2B5EF4-FFF2-40B4-BE49-F238E27FC236}">
                <a16:creationId xmlns:a16="http://schemas.microsoft.com/office/drawing/2014/main" id="{1E6D4151-8E52-6093-07B8-3D1DB9044DA9}"/>
              </a:ext>
            </a:extLst>
          </p:cNvPr>
          <p:cNvSpPr/>
          <p:nvPr/>
        </p:nvSpPr>
        <p:spPr>
          <a:xfrm rot="-5833167">
            <a:off x="11349455" y="1793292"/>
            <a:ext cx="10691222" cy="4610589"/>
          </a:xfrm>
          <a:custGeom>
            <a:avLst/>
            <a:gdLst/>
            <a:ahLst/>
            <a:cxnLst/>
            <a:rect l="l" t="t" r="r" b="b"/>
            <a:pathLst>
              <a:path w="10691222" h="4610589">
                <a:moveTo>
                  <a:pt x="0" y="0"/>
                </a:moveTo>
                <a:lnTo>
                  <a:pt x="10691221" y="0"/>
                </a:lnTo>
                <a:lnTo>
                  <a:pt x="10691221" y="4610589"/>
                </a:lnTo>
                <a:lnTo>
                  <a:pt x="0" y="46105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23" name="Freeform 23">
            <a:extLst>
              <a:ext uri="{FF2B5EF4-FFF2-40B4-BE49-F238E27FC236}">
                <a16:creationId xmlns:a16="http://schemas.microsoft.com/office/drawing/2014/main" id="{E0B1B25C-51BC-C119-7011-B9673D849E91}"/>
              </a:ext>
            </a:extLst>
          </p:cNvPr>
          <p:cNvSpPr/>
          <p:nvPr/>
        </p:nvSpPr>
        <p:spPr>
          <a:xfrm>
            <a:off x="16914213" y="619639"/>
            <a:ext cx="859394" cy="492537"/>
          </a:xfrm>
          <a:custGeom>
            <a:avLst/>
            <a:gdLst/>
            <a:ahLst/>
            <a:cxnLst/>
            <a:rect l="l" t="t" r="r" b="b"/>
            <a:pathLst>
              <a:path w="859394" h="492537">
                <a:moveTo>
                  <a:pt x="0" y="0"/>
                </a:moveTo>
                <a:lnTo>
                  <a:pt x="859394" y="0"/>
                </a:lnTo>
                <a:lnTo>
                  <a:pt x="859394" y="492537"/>
                </a:lnTo>
                <a:lnTo>
                  <a:pt x="0" y="4925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120431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1A276ECD-C5C9-3FC6-5CA5-7C60E12135CC}"/>
              </a:ext>
            </a:extLst>
          </p:cNvPr>
          <p:cNvSpPr/>
          <p:nvPr/>
        </p:nvSpPr>
        <p:spPr>
          <a:xfrm>
            <a:off x="762000" y="687327"/>
            <a:ext cx="949122" cy="1331973"/>
          </a:xfrm>
          <a:custGeom>
            <a:avLst/>
            <a:gdLst/>
            <a:ahLst/>
            <a:cxnLst/>
            <a:rect l="l" t="t" r="r" b="b"/>
            <a:pathLst>
              <a:path w="949122" h="1331973">
                <a:moveTo>
                  <a:pt x="0" y="0"/>
                </a:moveTo>
                <a:lnTo>
                  <a:pt x="949122" y="0"/>
                </a:lnTo>
                <a:lnTo>
                  <a:pt x="949122" y="1331973"/>
                </a:lnTo>
                <a:lnTo>
                  <a:pt x="0" y="13319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25" name="TextBox 2">
            <a:extLst>
              <a:ext uri="{FF2B5EF4-FFF2-40B4-BE49-F238E27FC236}">
                <a16:creationId xmlns:a16="http://schemas.microsoft.com/office/drawing/2014/main" id="{FF113CA7-4DD1-BB7A-EB8F-98DE7B25579C}"/>
              </a:ext>
            </a:extLst>
          </p:cNvPr>
          <p:cNvSpPr txBox="1"/>
          <p:nvPr/>
        </p:nvSpPr>
        <p:spPr>
          <a:xfrm>
            <a:off x="2203189" y="814704"/>
            <a:ext cx="13122049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7000" b="1" dirty="0" err="1">
                <a:solidFill>
                  <a:srgbClr val="36993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Sugestões</a:t>
            </a:r>
            <a:endParaRPr lang="en-US" sz="7000" b="1" dirty="0">
              <a:solidFill>
                <a:srgbClr val="369936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</p:spTree>
    <p:extLst>
      <p:ext uri="{BB962C8B-B14F-4D97-AF65-F5344CB8AC3E}">
        <p14:creationId xmlns:p14="http://schemas.microsoft.com/office/powerpoint/2010/main" val="16675262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99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6937223" cy="10287000"/>
            <a:chOff x="0" y="0"/>
            <a:chExt cx="9249630" cy="13716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l="27416" r="25883"/>
            <a:stretch>
              <a:fillRect/>
            </a:stretch>
          </p:blipFill>
          <p:spPr>
            <a:xfrm>
              <a:off x="0" y="0"/>
              <a:ext cx="9249630" cy="13716000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 rot="1534178">
            <a:off x="6350691" y="7965034"/>
            <a:ext cx="1122298" cy="3638805"/>
            <a:chOff x="0" y="0"/>
            <a:chExt cx="295585" cy="9583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5585" cy="958368"/>
            </a:xfrm>
            <a:custGeom>
              <a:avLst/>
              <a:gdLst/>
              <a:ahLst/>
              <a:cxnLst/>
              <a:rect l="l" t="t" r="r" b="b"/>
              <a:pathLst>
                <a:path w="295585" h="958368">
                  <a:moveTo>
                    <a:pt x="147792" y="0"/>
                  </a:moveTo>
                  <a:lnTo>
                    <a:pt x="147792" y="0"/>
                  </a:lnTo>
                  <a:cubicBezTo>
                    <a:pt x="229416" y="0"/>
                    <a:pt x="295585" y="66169"/>
                    <a:pt x="295585" y="147792"/>
                  </a:cubicBezTo>
                  <a:lnTo>
                    <a:pt x="295585" y="810576"/>
                  </a:lnTo>
                  <a:cubicBezTo>
                    <a:pt x="295585" y="849773"/>
                    <a:pt x="280014" y="887364"/>
                    <a:pt x="252297" y="915081"/>
                  </a:cubicBezTo>
                  <a:cubicBezTo>
                    <a:pt x="224581" y="942797"/>
                    <a:pt x="186989" y="958368"/>
                    <a:pt x="147792" y="958368"/>
                  </a:cubicBezTo>
                  <a:lnTo>
                    <a:pt x="147792" y="958368"/>
                  </a:lnTo>
                  <a:cubicBezTo>
                    <a:pt x="108595" y="958368"/>
                    <a:pt x="71004" y="942797"/>
                    <a:pt x="43287" y="915081"/>
                  </a:cubicBezTo>
                  <a:cubicBezTo>
                    <a:pt x="15571" y="887364"/>
                    <a:pt x="0" y="849773"/>
                    <a:pt x="0" y="810576"/>
                  </a:cubicBezTo>
                  <a:lnTo>
                    <a:pt x="0" y="147792"/>
                  </a:lnTo>
                  <a:cubicBezTo>
                    <a:pt x="0" y="108595"/>
                    <a:pt x="15571" y="71004"/>
                    <a:pt x="43287" y="43287"/>
                  </a:cubicBezTo>
                  <a:cubicBezTo>
                    <a:pt x="71004" y="15571"/>
                    <a:pt x="108595" y="0"/>
                    <a:pt x="147792" y="0"/>
                  </a:cubicBezTo>
                  <a:close/>
                </a:path>
              </a:pathLst>
            </a:custGeom>
            <a:solidFill>
              <a:srgbClr val="369936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85725"/>
              <a:ext cx="295585" cy="10440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4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 rot="-940489">
            <a:off x="6803421" y="2073065"/>
            <a:ext cx="1122298" cy="3638805"/>
            <a:chOff x="0" y="0"/>
            <a:chExt cx="295585" cy="95836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95585" cy="958368"/>
            </a:xfrm>
            <a:custGeom>
              <a:avLst/>
              <a:gdLst/>
              <a:ahLst/>
              <a:cxnLst/>
              <a:rect l="l" t="t" r="r" b="b"/>
              <a:pathLst>
                <a:path w="295585" h="958368">
                  <a:moveTo>
                    <a:pt x="147792" y="0"/>
                  </a:moveTo>
                  <a:lnTo>
                    <a:pt x="147792" y="0"/>
                  </a:lnTo>
                  <a:cubicBezTo>
                    <a:pt x="229416" y="0"/>
                    <a:pt x="295585" y="66169"/>
                    <a:pt x="295585" y="147792"/>
                  </a:cubicBezTo>
                  <a:lnTo>
                    <a:pt x="295585" y="810576"/>
                  </a:lnTo>
                  <a:cubicBezTo>
                    <a:pt x="295585" y="849773"/>
                    <a:pt x="280014" y="887364"/>
                    <a:pt x="252297" y="915081"/>
                  </a:cubicBezTo>
                  <a:cubicBezTo>
                    <a:pt x="224581" y="942797"/>
                    <a:pt x="186989" y="958368"/>
                    <a:pt x="147792" y="958368"/>
                  </a:cubicBezTo>
                  <a:lnTo>
                    <a:pt x="147792" y="958368"/>
                  </a:lnTo>
                  <a:cubicBezTo>
                    <a:pt x="108595" y="958368"/>
                    <a:pt x="71004" y="942797"/>
                    <a:pt x="43287" y="915081"/>
                  </a:cubicBezTo>
                  <a:cubicBezTo>
                    <a:pt x="15571" y="887364"/>
                    <a:pt x="0" y="849773"/>
                    <a:pt x="0" y="810576"/>
                  </a:cubicBezTo>
                  <a:lnTo>
                    <a:pt x="0" y="147792"/>
                  </a:lnTo>
                  <a:cubicBezTo>
                    <a:pt x="0" y="108595"/>
                    <a:pt x="15571" y="71004"/>
                    <a:pt x="43287" y="43287"/>
                  </a:cubicBezTo>
                  <a:cubicBezTo>
                    <a:pt x="71004" y="15571"/>
                    <a:pt x="108595" y="0"/>
                    <a:pt x="147792" y="0"/>
                  </a:cubicBezTo>
                  <a:close/>
                </a:path>
              </a:pathLst>
            </a:custGeom>
            <a:solidFill>
              <a:srgbClr val="369936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85725"/>
              <a:ext cx="295585" cy="10440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4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102869">
            <a:off x="6324218" y="-499638"/>
            <a:ext cx="876384" cy="2826660"/>
            <a:chOff x="0" y="0"/>
            <a:chExt cx="230817" cy="74447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30817" cy="744470"/>
            </a:xfrm>
            <a:custGeom>
              <a:avLst/>
              <a:gdLst/>
              <a:ahLst/>
              <a:cxnLst/>
              <a:rect l="l" t="t" r="r" b="b"/>
              <a:pathLst>
                <a:path w="230817" h="744470">
                  <a:moveTo>
                    <a:pt x="115409" y="0"/>
                  </a:moveTo>
                  <a:lnTo>
                    <a:pt x="115409" y="0"/>
                  </a:lnTo>
                  <a:cubicBezTo>
                    <a:pt x="146017" y="0"/>
                    <a:pt x="175372" y="12159"/>
                    <a:pt x="197015" y="33802"/>
                  </a:cubicBezTo>
                  <a:cubicBezTo>
                    <a:pt x="218658" y="55446"/>
                    <a:pt x="230817" y="84800"/>
                    <a:pt x="230817" y="115409"/>
                  </a:cubicBezTo>
                  <a:lnTo>
                    <a:pt x="230817" y="629061"/>
                  </a:lnTo>
                  <a:cubicBezTo>
                    <a:pt x="230817" y="692800"/>
                    <a:pt x="179147" y="744470"/>
                    <a:pt x="115409" y="744470"/>
                  </a:cubicBezTo>
                  <a:lnTo>
                    <a:pt x="115409" y="744470"/>
                  </a:lnTo>
                  <a:cubicBezTo>
                    <a:pt x="51670" y="744470"/>
                    <a:pt x="0" y="692800"/>
                    <a:pt x="0" y="629061"/>
                  </a:cubicBezTo>
                  <a:lnTo>
                    <a:pt x="0" y="115409"/>
                  </a:lnTo>
                  <a:cubicBezTo>
                    <a:pt x="0" y="51670"/>
                    <a:pt x="51670" y="0"/>
                    <a:pt x="115409" y="0"/>
                  </a:cubicBezTo>
                  <a:close/>
                </a:path>
              </a:pathLst>
            </a:custGeom>
            <a:solidFill>
              <a:srgbClr val="369936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85725"/>
              <a:ext cx="230817" cy="8301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4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 rot="5817497">
            <a:off x="356075" y="3645744"/>
            <a:ext cx="13419017" cy="4981810"/>
          </a:xfrm>
          <a:custGeom>
            <a:avLst/>
            <a:gdLst/>
            <a:ahLst/>
            <a:cxnLst/>
            <a:rect l="l" t="t" r="r" b="b"/>
            <a:pathLst>
              <a:path w="13419017" h="4981810">
                <a:moveTo>
                  <a:pt x="0" y="0"/>
                </a:moveTo>
                <a:lnTo>
                  <a:pt x="13419017" y="0"/>
                </a:lnTo>
                <a:lnTo>
                  <a:pt x="13419017" y="4981810"/>
                </a:lnTo>
                <a:lnTo>
                  <a:pt x="0" y="49818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4" name="Freeform 14"/>
          <p:cNvSpPr/>
          <p:nvPr/>
        </p:nvSpPr>
        <p:spPr>
          <a:xfrm rot="-5400000">
            <a:off x="16785002" y="1238666"/>
            <a:ext cx="344509" cy="375487"/>
          </a:xfrm>
          <a:custGeom>
            <a:avLst/>
            <a:gdLst/>
            <a:ahLst/>
            <a:cxnLst/>
            <a:rect l="l" t="t" r="r" b="b"/>
            <a:pathLst>
              <a:path w="344509" h="375487">
                <a:moveTo>
                  <a:pt x="0" y="0"/>
                </a:moveTo>
                <a:lnTo>
                  <a:pt x="344509" y="0"/>
                </a:lnTo>
                <a:lnTo>
                  <a:pt x="344509" y="375487"/>
                </a:lnTo>
                <a:lnTo>
                  <a:pt x="0" y="3754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5" name="Freeform 15"/>
          <p:cNvSpPr/>
          <p:nvPr/>
        </p:nvSpPr>
        <p:spPr>
          <a:xfrm rot="-5400000">
            <a:off x="16318646" y="1238666"/>
            <a:ext cx="344509" cy="375487"/>
          </a:xfrm>
          <a:custGeom>
            <a:avLst/>
            <a:gdLst/>
            <a:ahLst/>
            <a:cxnLst/>
            <a:rect l="l" t="t" r="r" b="b"/>
            <a:pathLst>
              <a:path w="344509" h="375487">
                <a:moveTo>
                  <a:pt x="0" y="0"/>
                </a:moveTo>
                <a:lnTo>
                  <a:pt x="344509" y="0"/>
                </a:lnTo>
                <a:lnTo>
                  <a:pt x="344509" y="375487"/>
                </a:lnTo>
                <a:lnTo>
                  <a:pt x="0" y="3754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6" name="Freeform 16"/>
          <p:cNvSpPr/>
          <p:nvPr/>
        </p:nvSpPr>
        <p:spPr>
          <a:xfrm rot="-5400000">
            <a:off x="15852290" y="1238666"/>
            <a:ext cx="344509" cy="375487"/>
          </a:xfrm>
          <a:custGeom>
            <a:avLst/>
            <a:gdLst/>
            <a:ahLst/>
            <a:cxnLst/>
            <a:rect l="l" t="t" r="r" b="b"/>
            <a:pathLst>
              <a:path w="344509" h="375487">
                <a:moveTo>
                  <a:pt x="0" y="0"/>
                </a:moveTo>
                <a:lnTo>
                  <a:pt x="344509" y="0"/>
                </a:lnTo>
                <a:lnTo>
                  <a:pt x="344509" y="375487"/>
                </a:lnTo>
                <a:lnTo>
                  <a:pt x="0" y="3754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7" name="Freeform 17"/>
          <p:cNvSpPr/>
          <p:nvPr/>
        </p:nvSpPr>
        <p:spPr>
          <a:xfrm rot="-5400000">
            <a:off x="16344759" y="8446567"/>
            <a:ext cx="1402658" cy="197824"/>
          </a:xfrm>
          <a:custGeom>
            <a:avLst/>
            <a:gdLst/>
            <a:ahLst/>
            <a:cxnLst/>
            <a:rect l="l" t="t" r="r" b="b"/>
            <a:pathLst>
              <a:path w="1402658" h="197824">
                <a:moveTo>
                  <a:pt x="0" y="0"/>
                </a:moveTo>
                <a:lnTo>
                  <a:pt x="1402658" y="0"/>
                </a:lnTo>
                <a:lnTo>
                  <a:pt x="1402658" y="197825"/>
                </a:lnTo>
                <a:lnTo>
                  <a:pt x="0" y="19782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t="-189365" r="-56964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8" name="Freeform 18"/>
          <p:cNvSpPr/>
          <p:nvPr/>
        </p:nvSpPr>
        <p:spPr>
          <a:xfrm>
            <a:off x="11898861" y="3461904"/>
            <a:ext cx="2372679" cy="2372679"/>
          </a:xfrm>
          <a:custGeom>
            <a:avLst/>
            <a:gdLst/>
            <a:ahLst/>
            <a:cxnLst/>
            <a:rect l="l" t="t" r="r" b="b"/>
            <a:pathLst>
              <a:path w="2372679" h="2372679">
                <a:moveTo>
                  <a:pt x="0" y="0"/>
                </a:moveTo>
                <a:lnTo>
                  <a:pt x="2372680" y="0"/>
                </a:lnTo>
                <a:lnTo>
                  <a:pt x="2372680" y="2372679"/>
                </a:lnTo>
                <a:lnTo>
                  <a:pt x="0" y="237267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19" name="Group 19"/>
          <p:cNvGrpSpPr/>
          <p:nvPr/>
        </p:nvGrpSpPr>
        <p:grpSpPr>
          <a:xfrm>
            <a:off x="10683267" y="6674289"/>
            <a:ext cx="591092" cy="591092"/>
            <a:chOff x="0" y="0"/>
            <a:chExt cx="152847" cy="15284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52847" cy="152847"/>
            </a:xfrm>
            <a:custGeom>
              <a:avLst/>
              <a:gdLst/>
              <a:ahLst/>
              <a:cxnLst/>
              <a:rect l="l" t="t" r="r" b="b"/>
              <a:pathLst>
                <a:path w="152847" h="152847">
                  <a:moveTo>
                    <a:pt x="76423" y="0"/>
                  </a:moveTo>
                  <a:lnTo>
                    <a:pt x="76423" y="0"/>
                  </a:lnTo>
                  <a:cubicBezTo>
                    <a:pt x="118631" y="0"/>
                    <a:pt x="152847" y="34216"/>
                    <a:pt x="152847" y="76423"/>
                  </a:cubicBezTo>
                  <a:lnTo>
                    <a:pt x="152847" y="76423"/>
                  </a:lnTo>
                  <a:cubicBezTo>
                    <a:pt x="152847" y="96692"/>
                    <a:pt x="144795" y="116131"/>
                    <a:pt x="130463" y="130463"/>
                  </a:cubicBezTo>
                  <a:cubicBezTo>
                    <a:pt x="116131" y="144795"/>
                    <a:pt x="96692" y="152847"/>
                    <a:pt x="76423" y="152847"/>
                  </a:cubicBezTo>
                  <a:lnTo>
                    <a:pt x="76423" y="152847"/>
                  </a:lnTo>
                  <a:cubicBezTo>
                    <a:pt x="56155" y="152847"/>
                    <a:pt x="36716" y="144795"/>
                    <a:pt x="22384" y="130463"/>
                  </a:cubicBezTo>
                  <a:cubicBezTo>
                    <a:pt x="8052" y="116131"/>
                    <a:pt x="0" y="96692"/>
                    <a:pt x="0" y="76423"/>
                  </a:cubicBezTo>
                  <a:lnTo>
                    <a:pt x="0" y="76423"/>
                  </a:lnTo>
                  <a:cubicBezTo>
                    <a:pt x="0" y="56155"/>
                    <a:pt x="8052" y="36716"/>
                    <a:pt x="22384" y="22384"/>
                  </a:cubicBezTo>
                  <a:cubicBezTo>
                    <a:pt x="36716" y="8052"/>
                    <a:pt x="56155" y="0"/>
                    <a:pt x="76423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0"/>
              <a:ext cx="152847" cy="152847"/>
            </a:xfrm>
            <a:prstGeom prst="rect">
              <a:avLst/>
            </a:prstGeom>
          </p:spPr>
          <p:txBody>
            <a:bodyPr lIns="1239" tIns="1239" rIns="1239" bIns="1239" rtlCol="0" anchor="ctr"/>
            <a:lstStyle/>
            <a:p>
              <a:pPr algn="ctr">
                <a:lnSpc>
                  <a:spcPts val="54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683267" y="7511784"/>
            <a:ext cx="591092" cy="591092"/>
            <a:chOff x="0" y="0"/>
            <a:chExt cx="152847" cy="152847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52847" cy="152847"/>
            </a:xfrm>
            <a:custGeom>
              <a:avLst/>
              <a:gdLst/>
              <a:ahLst/>
              <a:cxnLst/>
              <a:rect l="l" t="t" r="r" b="b"/>
              <a:pathLst>
                <a:path w="152847" h="152847">
                  <a:moveTo>
                    <a:pt x="76423" y="0"/>
                  </a:moveTo>
                  <a:lnTo>
                    <a:pt x="76423" y="0"/>
                  </a:lnTo>
                  <a:cubicBezTo>
                    <a:pt x="118631" y="0"/>
                    <a:pt x="152847" y="34216"/>
                    <a:pt x="152847" y="76423"/>
                  </a:cubicBezTo>
                  <a:lnTo>
                    <a:pt x="152847" y="76423"/>
                  </a:lnTo>
                  <a:cubicBezTo>
                    <a:pt x="152847" y="96692"/>
                    <a:pt x="144795" y="116131"/>
                    <a:pt x="130463" y="130463"/>
                  </a:cubicBezTo>
                  <a:cubicBezTo>
                    <a:pt x="116131" y="144795"/>
                    <a:pt x="96692" y="152847"/>
                    <a:pt x="76423" y="152847"/>
                  </a:cubicBezTo>
                  <a:lnTo>
                    <a:pt x="76423" y="152847"/>
                  </a:lnTo>
                  <a:cubicBezTo>
                    <a:pt x="56155" y="152847"/>
                    <a:pt x="36716" y="144795"/>
                    <a:pt x="22384" y="130463"/>
                  </a:cubicBezTo>
                  <a:cubicBezTo>
                    <a:pt x="8052" y="116131"/>
                    <a:pt x="0" y="96692"/>
                    <a:pt x="0" y="76423"/>
                  </a:cubicBezTo>
                  <a:lnTo>
                    <a:pt x="0" y="76423"/>
                  </a:lnTo>
                  <a:cubicBezTo>
                    <a:pt x="0" y="56155"/>
                    <a:pt x="8052" y="36716"/>
                    <a:pt x="22384" y="22384"/>
                  </a:cubicBezTo>
                  <a:cubicBezTo>
                    <a:pt x="36716" y="8052"/>
                    <a:pt x="56155" y="0"/>
                    <a:pt x="76423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0"/>
              <a:ext cx="152847" cy="152847"/>
            </a:xfrm>
            <a:prstGeom prst="rect">
              <a:avLst/>
            </a:prstGeom>
          </p:spPr>
          <p:txBody>
            <a:bodyPr lIns="1239" tIns="1239" rIns="1239" bIns="1239" rtlCol="0" anchor="ctr"/>
            <a:lstStyle/>
            <a:p>
              <a:pPr algn="ctr">
                <a:lnSpc>
                  <a:spcPts val="54"/>
                </a:lnSpc>
              </a:pPr>
              <a:endParaRPr/>
            </a:p>
          </p:txBody>
        </p:sp>
      </p:grpSp>
      <p:sp>
        <p:nvSpPr>
          <p:cNvPr id="25" name="Freeform 25"/>
          <p:cNvSpPr/>
          <p:nvPr/>
        </p:nvSpPr>
        <p:spPr>
          <a:xfrm>
            <a:off x="10791791" y="7611817"/>
            <a:ext cx="374043" cy="374043"/>
          </a:xfrm>
          <a:custGeom>
            <a:avLst/>
            <a:gdLst/>
            <a:ahLst/>
            <a:cxnLst/>
            <a:rect l="l" t="t" r="r" b="b"/>
            <a:pathLst>
              <a:path w="374043" h="374043">
                <a:moveTo>
                  <a:pt x="0" y="0"/>
                </a:moveTo>
                <a:lnTo>
                  <a:pt x="374043" y="0"/>
                </a:lnTo>
                <a:lnTo>
                  <a:pt x="374043" y="374043"/>
                </a:lnTo>
                <a:lnTo>
                  <a:pt x="0" y="37404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26" name="Freeform 26"/>
          <p:cNvSpPr/>
          <p:nvPr/>
        </p:nvSpPr>
        <p:spPr>
          <a:xfrm>
            <a:off x="10829160" y="6767260"/>
            <a:ext cx="299305" cy="405151"/>
          </a:xfrm>
          <a:custGeom>
            <a:avLst/>
            <a:gdLst/>
            <a:ahLst/>
            <a:cxnLst/>
            <a:rect l="l" t="t" r="r" b="b"/>
            <a:pathLst>
              <a:path w="299305" h="405151">
                <a:moveTo>
                  <a:pt x="0" y="0"/>
                </a:moveTo>
                <a:lnTo>
                  <a:pt x="299305" y="0"/>
                </a:lnTo>
                <a:lnTo>
                  <a:pt x="299305" y="405150"/>
                </a:lnTo>
                <a:lnTo>
                  <a:pt x="0" y="40515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27" name="TextBox 27"/>
          <p:cNvSpPr txBox="1"/>
          <p:nvPr/>
        </p:nvSpPr>
        <p:spPr>
          <a:xfrm>
            <a:off x="11440685" y="6938592"/>
            <a:ext cx="3289032" cy="326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4"/>
              </a:lnSpc>
            </a:pPr>
            <a:r>
              <a:rPr lang="en-US" sz="2114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+55 (45) 99143-3790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440685" y="7776086"/>
            <a:ext cx="3821834" cy="326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4"/>
              </a:lnSpc>
            </a:pPr>
            <a:r>
              <a:rPr lang="en-US" sz="2114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www.texcapital.com.br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440685" y="6701358"/>
            <a:ext cx="1691337" cy="208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22"/>
              </a:lnSpc>
            </a:pPr>
            <a:r>
              <a:rPr lang="en-US" sz="136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Telefone: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440685" y="7541111"/>
            <a:ext cx="1691337" cy="208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22"/>
              </a:lnSpc>
            </a:pPr>
            <a:r>
              <a:rPr lang="en-US" sz="136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Website: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0683267" y="8350525"/>
            <a:ext cx="591092" cy="591092"/>
            <a:chOff x="0" y="0"/>
            <a:chExt cx="152847" cy="152847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52847" cy="152847"/>
            </a:xfrm>
            <a:custGeom>
              <a:avLst/>
              <a:gdLst/>
              <a:ahLst/>
              <a:cxnLst/>
              <a:rect l="l" t="t" r="r" b="b"/>
              <a:pathLst>
                <a:path w="152847" h="152847">
                  <a:moveTo>
                    <a:pt x="76423" y="0"/>
                  </a:moveTo>
                  <a:lnTo>
                    <a:pt x="76423" y="0"/>
                  </a:lnTo>
                  <a:cubicBezTo>
                    <a:pt x="118631" y="0"/>
                    <a:pt x="152847" y="34216"/>
                    <a:pt x="152847" y="76423"/>
                  </a:cubicBezTo>
                  <a:lnTo>
                    <a:pt x="152847" y="76423"/>
                  </a:lnTo>
                  <a:cubicBezTo>
                    <a:pt x="152847" y="96692"/>
                    <a:pt x="144795" y="116131"/>
                    <a:pt x="130463" y="130463"/>
                  </a:cubicBezTo>
                  <a:cubicBezTo>
                    <a:pt x="116131" y="144795"/>
                    <a:pt x="96692" y="152847"/>
                    <a:pt x="76423" y="152847"/>
                  </a:cubicBezTo>
                  <a:lnTo>
                    <a:pt x="76423" y="152847"/>
                  </a:lnTo>
                  <a:cubicBezTo>
                    <a:pt x="56155" y="152847"/>
                    <a:pt x="36716" y="144795"/>
                    <a:pt x="22384" y="130463"/>
                  </a:cubicBezTo>
                  <a:cubicBezTo>
                    <a:pt x="8052" y="116131"/>
                    <a:pt x="0" y="96692"/>
                    <a:pt x="0" y="76423"/>
                  </a:cubicBezTo>
                  <a:lnTo>
                    <a:pt x="0" y="76423"/>
                  </a:lnTo>
                  <a:cubicBezTo>
                    <a:pt x="0" y="56155"/>
                    <a:pt x="8052" y="36716"/>
                    <a:pt x="22384" y="22384"/>
                  </a:cubicBezTo>
                  <a:cubicBezTo>
                    <a:pt x="36716" y="8052"/>
                    <a:pt x="56155" y="0"/>
                    <a:pt x="76423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0"/>
              <a:ext cx="152847" cy="152847"/>
            </a:xfrm>
            <a:prstGeom prst="rect">
              <a:avLst/>
            </a:prstGeom>
          </p:spPr>
          <p:txBody>
            <a:bodyPr lIns="1239" tIns="1239" rIns="1239" bIns="1239" rtlCol="0" anchor="ctr"/>
            <a:lstStyle/>
            <a:p>
              <a:pPr algn="ctr">
                <a:lnSpc>
                  <a:spcPts val="54"/>
                </a:lnSpc>
              </a:pPr>
              <a:endParaRPr/>
            </a:p>
          </p:txBody>
        </p:sp>
      </p:grpSp>
      <p:sp>
        <p:nvSpPr>
          <p:cNvPr id="34" name="Freeform 34"/>
          <p:cNvSpPr/>
          <p:nvPr/>
        </p:nvSpPr>
        <p:spPr>
          <a:xfrm>
            <a:off x="10791791" y="8450559"/>
            <a:ext cx="374043" cy="374043"/>
          </a:xfrm>
          <a:custGeom>
            <a:avLst/>
            <a:gdLst/>
            <a:ahLst/>
            <a:cxnLst/>
            <a:rect l="l" t="t" r="r" b="b"/>
            <a:pathLst>
              <a:path w="374043" h="374043">
                <a:moveTo>
                  <a:pt x="0" y="0"/>
                </a:moveTo>
                <a:lnTo>
                  <a:pt x="374043" y="0"/>
                </a:lnTo>
                <a:lnTo>
                  <a:pt x="374043" y="374042"/>
                </a:lnTo>
                <a:lnTo>
                  <a:pt x="0" y="37404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5" name="TextBox 35"/>
          <p:cNvSpPr txBox="1"/>
          <p:nvPr/>
        </p:nvSpPr>
        <p:spPr>
          <a:xfrm>
            <a:off x="11440685" y="8614828"/>
            <a:ext cx="5328828" cy="326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4"/>
              </a:lnSpc>
            </a:pPr>
            <a:r>
              <a:rPr lang="en-US" sz="2114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contato@texcapital.com.br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440685" y="8379852"/>
            <a:ext cx="1691337" cy="208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22"/>
              </a:lnSpc>
            </a:pPr>
            <a:r>
              <a:rPr lang="en-US" sz="136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Email: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375</Words>
  <Application>Microsoft Office PowerPoint</Application>
  <PresentationFormat>Personalizar</PresentationFormat>
  <Paragraphs>42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8" baseType="lpstr">
      <vt:lpstr>Montserrat</vt:lpstr>
      <vt:lpstr>Arial</vt:lpstr>
      <vt:lpstr>Calibri</vt:lpstr>
      <vt:lpstr>Montserrat 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R.CM.001_Apresentação Comercial_v1.0</dc:title>
  <cp:lastModifiedBy>Usuário 0004 IPRO</cp:lastModifiedBy>
  <cp:revision>2</cp:revision>
  <dcterms:created xsi:type="dcterms:W3CDTF">2006-08-16T00:00:00Z</dcterms:created>
  <dcterms:modified xsi:type="dcterms:W3CDTF">2025-04-14T19:58:59Z</dcterms:modified>
  <dc:identifier>DAGiGTcvrLU</dc:identifier>
</cp:coreProperties>
</file>